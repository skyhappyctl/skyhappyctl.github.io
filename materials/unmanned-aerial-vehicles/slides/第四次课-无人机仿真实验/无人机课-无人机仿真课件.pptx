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sldIdLst>
    <p:sldId id="256" r:id="rId2"/>
    <p:sldId id="14998809" r:id="rId3"/>
    <p:sldId id="14998827" r:id="rId4"/>
    <p:sldId id="14998828" r:id="rId5"/>
    <p:sldId id="14998829" r:id="rId6"/>
    <p:sldId id="14998830" r:id="rId7"/>
    <p:sldId id="14998831" r:id="rId8"/>
    <p:sldId id="14998832" r:id="rId9"/>
    <p:sldId id="14998833" r:id="rId10"/>
  </p:sldIdLst>
  <p:sldSz cx="9144000" cy="6858000" type="screen4x3"/>
  <p:notesSz cx="6858000" cy="9144000"/>
  <p:custDataLst>
    <p:tags r:id="rId12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662ACC0A-AF4D-4CF1-9AD0-23DEDA70DFE3}">
          <p14:sldIdLst>
            <p14:sldId id="256"/>
            <p14:sldId id="14998809"/>
            <p14:sldId id="14998827"/>
            <p14:sldId id="14998828"/>
            <p14:sldId id="14998829"/>
            <p14:sldId id="14998830"/>
            <p14:sldId id="14998831"/>
            <p14:sldId id="14998832"/>
            <p14:sldId id="149988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869" userDrawn="1">
          <p15:clr>
            <a:srgbClr val="A4A3A4"/>
          </p15:clr>
        </p15:guide>
        <p15:guide id="2" pos="5627" userDrawn="1">
          <p15:clr>
            <a:srgbClr val="A4A3A4"/>
          </p15:clr>
        </p15:guide>
        <p15:guide id="3" orient="horz" pos="1411" userDrawn="1">
          <p15:clr>
            <a:srgbClr val="A4A3A4"/>
          </p15:clr>
        </p15:guide>
        <p15:guide id="4" orient="horz" pos="1875" userDrawn="1">
          <p15:clr>
            <a:srgbClr val="A4A3A4"/>
          </p15:clr>
        </p15:guide>
        <p15:guide id="5" orient="horz" pos="2650" userDrawn="1">
          <p15:clr>
            <a:srgbClr val="A4A3A4"/>
          </p15:clr>
        </p15:guide>
        <p15:guide id="6" orient="horz" pos="301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4646C5"/>
    <a:srgbClr val="61337A"/>
    <a:srgbClr val="209E20"/>
    <a:srgbClr val="FFC2B6"/>
    <a:srgbClr val="BFD4CF"/>
    <a:srgbClr val="743481"/>
    <a:srgbClr val="E24A33"/>
    <a:srgbClr val="8EBA41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97" autoAdjust="0"/>
    <p:restoredTop sz="77017" autoAdjust="0"/>
  </p:normalViewPr>
  <p:slideViewPr>
    <p:cSldViewPr snapToGrid="0" snapToObjects="1" showGuides="1">
      <p:cViewPr varScale="1">
        <p:scale>
          <a:sx n="71" d="100"/>
          <a:sy n="71" d="100"/>
        </p:scale>
        <p:origin x="1713" y="39"/>
      </p:cViewPr>
      <p:guideLst>
        <p:guide orient="horz" pos="869"/>
        <p:guide pos="5627"/>
        <p:guide orient="horz" pos="1411"/>
        <p:guide orient="horz" pos="1875"/>
        <p:guide orient="horz" pos="2650"/>
        <p:guide orient="horz" pos="30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F9F95E-505B-694C-A0CE-CF8B8A77A3E8}" type="datetimeFigureOut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640824-F2F9-3845-92E2-9B01D1B0CBF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40824-F2F9-3845-92E2-9B01D1B0CBF5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40824-F2F9-3845-92E2-9B01D1B0CBF5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40824-F2F9-3845-92E2-9B01D1B0CBF5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40824-F2F9-3845-92E2-9B01D1B0CBF5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40824-F2F9-3845-92E2-9B01D1B0CBF5}" type="slidenum">
              <a:rPr kumimoji="1" lang="zh-CN" altLang="en-US" smtClean="0"/>
              <a:t>5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40824-F2F9-3845-92E2-9B01D1B0CBF5}" type="slidenum">
              <a:rPr kumimoji="1" lang="zh-CN" altLang="en-US" smtClean="0"/>
              <a:t>6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40824-F2F9-3845-92E2-9B01D1B0CBF5}" type="slidenum">
              <a:rPr kumimoji="1" lang="zh-CN" altLang="en-US" smtClean="0"/>
              <a:t>7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40824-F2F9-3845-92E2-9B01D1B0CBF5}" type="slidenum">
              <a:rPr kumimoji="1" lang="zh-CN" altLang="en-US" smtClean="0"/>
              <a:t>8</a:t>
            </a:fld>
            <a:endParaRPr kumimoji="1"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640824-F2F9-3845-92E2-9B01D1B0CBF5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212706"/>
            <a:ext cx="7772400" cy="836839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dirty="0">
                <a:solidFill>
                  <a:schemeClr val="tx1"/>
                </a:solidFill>
                <a:latin typeface="黑体" panose="02010609060101010101" pitchFamily="49" charset="-122"/>
                <a:cs typeface="+mj-cs"/>
              </a:defRPr>
            </a:lvl1pPr>
          </a:lstStyle>
          <a:p>
            <a:pPr marL="0" lvl="0" algn="ctr"/>
            <a:r>
              <a:rPr lang="en-US" dirty="0" err="1"/>
              <a:t>题目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7"/>
            <a:ext cx="6858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演讲者姓名</a:t>
            </a:r>
            <a:r>
              <a:rPr lang="en-US" altLang="zh-CN" dirty="0"/>
              <a:t>\n</a:t>
            </a:r>
            <a:r>
              <a:rPr lang="zh-CN" altLang="en-US" dirty="0"/>
              <a:t> 日期</a:t>
            </a:r>
            <a:r>
              <a:rPr lang="en-US" altLang="zh-CN" dirty="0"/>
              <a:t>\n</a:t>
            </a:r>
            <a:r>
              <a:rPr lang="zh-CN" altLang="en-US" dirty="0"/>
              <a:t> 邮箱（邮箱改为</a:t>
            </a:r>
            <a:r>
              <a:rPr lang="en-US" altLang="zh-CN" dirty="0"/>
              <a:t>20</a:t>
            </a:r>
            <a:r>
              <a:rPr lang="zh-CN" altLang="en-US" dirty="0"/>
              <a:t>号字）</a:t>
            </a:r>
            <a:endParaRPr lang="en-US" dirty="0"/>
          </a:p>
        </p:txBody>
      </p:sp>
      <p:sp>
        <p:nvSpPr>
          <p:cNvPr id="8" name="矩形 7"/>
          <p:cNvSpPr/>
          <p:nvPr userDrawn="1"/>
        </p:nvSpPr>
        <p:spPr>
          <a:xfrm>
            <a:off x="203200" y="638009"/>
            <a:ext cx="8727440" cy="26623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sp>
        <p:nvSpPr>
          <p:cNvPr id="9" name="矩形 8"/>
          <p:cNvSpPr/>
          <p:nvPr userDrawn="1"/>
        </p:nvSpPr>
        <p:spPr>
          <a:xfrm>
            <a:off x="7086600" y="0"/>
            <a:ext cx="2057400" cy="9042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252" y="43444"/>
            <a:ext cx="3977489" cy="638007"/>
          </a:xfrm>
          <a:prstGeom prst="rect">
            <a:avLst/>
          </a:prstGeom>
        </p:spPr>
      </p:pic>
      <p:pic>
        <p:nvPicPr>
          <p:cNvPr id="11" name="Picture 7" descr="line6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52" y="3255963"/>
            <a:ext cx="9144000" cy="214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" name="Picture 8" descr="二校门"/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CF7"/>
              </a:clrFrom>
              <a:clrTo>
                <a:srgbClr val="FFFCF7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750" y="4470348"/>
            <a:ext cx="2349500" cy="2344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7" name="图片 1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03231" y="6044788"/>
            <a:ext cx="1824138" cy="55395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7040" y="0"/>
            <a:ext cx="8228310" cy="772998"/>
          </a:xfrm>
        </p:spPr>
        <p:txBody>
          <a:bodyPr lIns="90000" anchor="ctr">
            <a:normAutofit/>
          </a:bodyPr>
          <a:lstStyle>
            <a:lvl1pPr algn="ctr">
              <a:defRPr lang="en-US" sz="3200" dirty="0"/>
            </a:lvl1pPr>
          </a:lstStyle>
          <a:p>
            <a:pPr marL="0" lvl="0" algn="ctr" defTabSz="713105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buFont typeface="Wingdings" panose="05000000000000000000" pitchFamily="2" charset="2"/>
              <a:buChar char="Ø"/>
              <a:defRPr lang="zh-CN" altLang="en-US" smtClean="0"/>
            </a:lvl1pPr>
            <a:lvl2pPr>
              <a:defRPr lang="zh-CN" altLang="en-US" smtClean="0"/>
            </a:lvl2pPr>
            <a:lvl3pPr>
              <a:defRPr lang="zh-CN" altLang="en-US" smtClean="0"/>
            </a:lvl3pPr>
            <a:lvl4pPr>
              <a:defRPr lang="zh-CN" altLang="en-US" smtClean="0"/>
            </a:lvl4pPr>
            <a:lvl5pPr>
              <a:defRPr lang="en-US" dirty="0"/>
            </a:lvl5pPr>
          </a:lstStyle>
          <a:p>
            <a:pPr marL="178435" lvl="0" indent="-178435" defTabSz="713105">
              <a:spcBef>
                <a:spcPts val="78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单击此处编辑母版文本样式</a:t>
            </a:r>
          </a:p>
          <a:p>
            <a:pPr marL="534670" lvl="1" indent="-178435" defTabSz="713105">
              <a:spcBef>
                <a:spcPts val="390"/>
              </a:spcBef>
            </a:pPr>
            <a:r>
              <a:rPr lang="zh-CN" altLang="en-US" dirty="0"/>
              <a:t>二级</a:t>
            </a:r>
          </a:p>
          <a:p>
            <a:pPr marL="891540" lvl="2" indent="-178435" defTabSz="713105">
              <a:spcBef>
                <a:spcPts val="390"/>
              </a:spcBef>
            </a:pPr>
            <a:r>
              <a:rPr lang="zh-CN" altLang="en-US" dirty="0"/>
              <a:t>三级</a:t>
            </a:r>
          </a:p>
          <a:p>
            <a:pPr marL="1248410" lvl="3" indent="-178435" defTabSz="713105">
              <a:spcBef>
                <a:spcPts val="390"/>
              </a:spcBef>
            </a:pPr>
            <a:r>
              <a:rPr lang="zh-CN" altLang="en-US" dirty="0"/>
              <a:t>四级</a:t>
            </a:r>
          </a:p>
          <a:p>
            <a:pPr marL="1604645" lvl="4" indent="-178435" defTabSz="713105">
              <a:spcBef>
                <a:spcPts val="390"/>
              </a:spcBef>
            </a:pPr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Rectangle 12"/>
          <p:cNvSpPr/>
          <p:nvPr userDrawn="1"/>
        </p:nvSpPr>
        <p:spPr>
          <a:xfrm>
            <a:off x="0" y="6612560"/>
            <a:ext cx="9144000" cy="245449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191" tIns="32095" rIns="64191" bIns="32095" numCol="1" spcCol="0" rtlCol="0" fromWordArt="0" anchor="ctr" anchorCtr="0" forceAA="0" compatLnSpc="1">
            <a:noAutofit/>
          </a:bodyPr>
          <a:lstStyle/>
          <a:p>
            <a:pPr algn="ctr"/>
            <a:endParaRPr lang="en-US" sz="132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55923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28291C4-BA29-D241-9161-63352826CE59}" type="datetime1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55272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kumimoji="1" lang="en-US" altLang="zh-CN"/>
              <a:t>NICS-efc</a:t>
            </a:r>
            <a:r>
              <a:rPr kumimoji="1" lang="zh-CN" altLang="en-US"/>
              <a:t> </a:t>
            </a:r>
            <a:r>
              <a:rPr kumimoji="1" lang="en-US" altLang="zh-CN"/>
              <a:t>Lab</a:t>
            </a:r>
            <a:endParaRPr kumimoji="1" lang="zh-CN" altLang="en-US" dirty="0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55923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kumimoji="1" lang="en-US" altLang="zh-CN"/>
              <a:t>Page</a:t>
            </a:r>
            <a:r>
              <a:rPr kumimoji="1" lang="zh-CN" altLang="en-US"/>
              <a:t> </a:t>
            </a:r>
            <a:fld id="{FD7712BB-E452-0044-8976-96395B1FFD36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致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1709740"/>
            <a:ext cx="7886700" cy="2181541"/>
          </a:xfrm>
        </p:spPr>
        <p:txBody>
          <a:bodyPr anchor="ctr">
            <a:normAutofit/>
          </a:bodyPr>
          <a:lstStyle>
            <a:lvl1pPr marL="0" marR="0" algn="ctr" defTabSz="713105">
              <a:lnSpc>
                <a:spcPct val="110000"/>
              </a:lnSpc>
              <a:spcBef>
                <a:spcPts val="350"/>
              </a:spcBef>
              <a:spcAft>
                <a:spcPts val="350"/>
              </a:spcAft>
              <a:buNone/>
              <a:defRPr lang="en-US" i="0" baseline="0" dirty="0">
                <a:effectLst/>
                <a:latin typeface="HelveticaNeueLT Std Lt" panose="020B0403020202020204" pitchFamily="34" charset="0"/>
                <a:ea typeface="HelveticaNeueLT Std Lt" panose="020B0403020202020204" pitchFamily="34" charset="0"/>
              </a:defRPr>
            </a:lvl1pPr>
          </a:lstStyle>
          <a:p>
            <a:pPr marL="0" marR="0" lvl="0" algn="ctr" defTabSz="713105">
              <a:lnSpc>
                <a:spcPct val="110000"/>
              </a:lnSpc>
              <a:spcBef>
                <a:spcPts val="350"/>
              </a:spcBef>
              <a:spcAft>
                <a:spcPts val="350"/>
              </a:spcAft>
              <a:buNone/>
            </a:pPr>
            <a:r>
              <a:rPr lang="zh-CN" altLang="en-US" dirty="0"/>
              <a:t>参考内容：</a:t>
            </a:r>
            <a:r>
              <a:rPr lang="en-US" altLang="zh-CN" dirty="0"/>
              <a:t>Thanks</a:t>
            </a:r>
            <a:r>
              <a:rPr lang="zh-CN" altLang="en-US" dirty="0"/>
              <a:t> </a:t>
            </a:r>
            <a:r>
              <a:rPr lang="en-US" altLang="zh-CN" dirty="0"/>
              <a:t>and</a:t>
            </a:r>
            <a:r>
              <a:rPr lang="zh-CN" altLang="en-US" dirty="0"/>
              <a:t> </a:t>
            </a:r>
            <a:r>
              <a:rPr lang="en-US" altLang="zh-CN" dirty="0"/>
              <a:t>Q&amp;A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908111"/>
            <a:ext cx="7886700" cy="755331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dirty="0"/>
              <a:t>演讲者姓名</a:t>
            </a:r>
            <a:r>
              <a:rPr lang="en-US" altLang="zh-CN" dirty="0"/>
              <a:t>\n</a:t>
            </a:r>
            <a:r>
              <a:rPr lang="zh-CN" altLang="en-US" dirty="0"/>
              <a:t> 日期</a:t>
            </a:r>
            <a:r>
              <a:rPr lang="en-US" altLang="zh-CN" dirty="0"/>
              <a:t>\n</a:t>
            </a:r>
            <a:r>
              <a:rPr lang="zh-CN" altLang="en-US" dirty="0"/>
              <a:t> 邮箱（邮箱改为</a:t>
            </a:r>
            <a:r>
              <a:rPr lang="en-US" altLang="zh-CN" dirty="0"/>
              <a:t>20</a:t>
            </a:r>
            <a:r>
              <a:rPr lang="zh-CN" altLang="en-US" dirty="0"/>
              <a:t>号字）</a:t>
            </a:r>
            <a:endParaRPr lang="en-US" altLang="zh-CN" dirty="0"/>
          </a:p>
        </p:txBody>
      </p:sp>
      <p:sp>
        <p:nvSpPr>
          <p:cNvPr id="9" name="Rectangle 12"/>
          <p:cNvSpPr/>
          <p:nvPr userDrawn="1"/>
        </p:nvSpPr>
        <p:spPr>
          <a:xfrm>
            <a:off x="0" y="6612560"/>
            <a:ext cx="9144000" cy="245449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191" tIns="32095" rIns="64191" bIns="32095" numCol="1" spcCol="0" rtlCol="0" fromWordArt="0" anchor="ctr" anchorCtr="0" forceAA="0" compatLnSpc="1">
            <a:noAutofit/>
          </a:bodyPr>
          <a:lstStyle/>
          <a:p>
            <a:pPr algn="ctr"/>
            <a:endParaRPr lang="en-US" sz="132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55923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F08E47B8-751D-5240-B7B2-D50B6AAADEB7}" type="datetime1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55272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kumimoji="1" lang="en-US" altLang="zh-CN"/>
              <a:t>NICS-efc</a:t>
            </a:r>
            <a:r>
              <a:rPr kumimoji="1" lang="zh-CN" altLang="en-US"/>
              <a:t> </a:t>
            </a:r>
            <a:r>
              <a:rPr kumimoji="1" lang="en-US" altLang="zh-CN"/>
              <a:t>Lab</a:t>
            </a:r>
            <a:endParaRPr kumimoji="1" lang="zh-CN" altLang="en-US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55923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kumimoji="1" lang="en-US" altLang="zh-CN"/>
              <a:t>Page</a:t>
            </a:r>
            <a:r>
              <a:rPr kumimoji="1" lang="zh-CN" altLang="en-US"/>
              <a:t> </a:t>
            </a:r>
            <a:fld id="{FD7712BB-E452-0044-8976-96395B1FFD36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3" name="矩形 12"/>
          <p:cNvSpPr/>
          <p:nvPr userDrawn="1"/>
        </p:nvSpPr>
        <p:spPr>
          <a:xfrm>
            <a:off x="7579360" y="9362"/>
            <a:ext cx="1493520" cy="6820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89324" y="124761"/>
            <a:ext cx="1651952" cy="50030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252" y="43444"/>
            <a:ext cx="3977489" cy="638007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2"/>
          <p:cNvSpPr/>
          <p:nvPr userDrawn="1"/>
        </p:nvSpPr>
        <p:spPr>
          <a:xfrm>
            <a:off x="0" y="6612560"/>
            <a:ext cx="9144000" cy="245449"/>
          </a:xfrm>
          <a:prstGeom prst="rect">
            <a:avLst/>
          </a:prstGeom>
          <a:solidFill>
            <a:schemeClr val="bg1">
              <a:lumMod val="75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191" tIns="32095" rIns="64191" bIns="32095" numCol="1" spcCol="0" rtlCol="0" fromWordArt="0" anchor="ctr" anchorCtr="0" forceAA="0" compatLnSpc="1">
            <a:noAutofit/>
          </a:bodyPr>
          <a:lstStyle/>
          <a:p>
            <a:pPr algn="ctr"/>
            <a:endParaRPr lang="en-US" sz="132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6755E94-8A58-8045-9507-752163575BAA}" type="datetime1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kumimoji="1" lang="en-US" altLang="zh-CN"/>
              <a:t>NICS-efc</a:t>
            </a:r>
            <a:r>
              <a:rPr kumimoji="1" lang="zh-CN" altLang="en-US"/>
              <a:t> </a:t>
            </a:r>
            <a:r>
              <a:rPr kumimoji="1" lang="en-US" altLang="zh-CN"/>
              <a:t>Lab</a:t>
            </a:r>
            <a:endParaRPr kumimoji="1"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kumimoji="1" lang="en-US" altLang="zh-CN"/>
              <a:t>Page</a:t>
            </a:r>
            <a:r>
              <a:rPr kumimoji="1" lang="zh-CN" altLang="en-US"/>
              <a:t> </a:t>
            </a:r>
            <a:fld id="{FD7712BB-E452-0044-8976-96395B1FFD36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10" name="矩形 9"/>
          <p:cNvSpPr/>
          <p:nvPr userDrawn="1"/>
        </p:nvSpPr>
        <p:spPr>
          <a:xfrm>
            <a:off x="1" y="0"/>
            <a:ext cx="9144000" cy="87554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800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7252" y="43444"/>
            <a:ext cx="3977489" cy="638007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203231" y="6044788"/>
            <a:ext cx="1824138" cy="553956"/>
          </a:xfrm>
          <a:prstGeom prst="rect">
            <a:avLst/>
          </a:prstGeom>
        </p:spPr>
      </p:pic>
      <p:grpSp>
        <p:nvGrpSpPr>
          <p:cNvPr id="13" name="组合 12"/>
          <p:cNvGrpSpPr/>
          <p:nvPr userDrawn="1"/>
        </p:nvGrpSpPr>
        <p:grpSpPr>
          <a:xfrm>
            <a:off x="924466" y="1138118"/>
            <a:ext cx="7295067" cy="4639305"/>
            <a:chOff x="1314907" y="1439229"/>
            <a:chExt cx="6482287" cy="4122417"/>
          </a:xfrm>
        </p:grpSpPr>
        <p:sp>
          <p:nvSpPr>
            <p:cNvPr id="14" name="任意多边形 1"/>
            <p:cNvSpPr/>
            <p:nvPr>
              <p:custDataLst>
                <p:tags r:id="rId1"/>
              </p:custDataLst>
            </p:nvPr>
          </p:nvSpPr>
          <p:spPr>
            <a:xfrm>
              <a:off x="1346806" y="1439229"/>
              <a:ext cx="6450388" cy="4122417"/>
            </a:xfrm>
            <a:custGeom>
              <a:avLst/>
              <a:gdLst>
                <a:gd name="connsiteX0" fmla="*/ 5 w 14004"/>
                <a:gd name="connsiteY0" fmla="*/ 1622 h 7822"/>
                <a:gd name="connsiteX1" fmla="*/ 0 w 14004"/>
                <a:gd name="connsiteY1" fmla="*/ 0 h 7822"/>
                <a:gd name="connsiteX2" fmla="*/ 14004 w 14004"/>
                <a:gd name="connsiteY2" fmla="*/ 0 h 7822"/>
                <a:gd name="connsiteX3" fmla="*/ 14004 w 14004"/>
                <a:gd name="connsiteY3" fmla="*/ 7822 h 7822"/>
                <a:gd name="connsiteX4" fmla="*/ 0 w 14004"/>
                <a:gd name="connsiteY4" fmla="*/ 7822 h 7822"/>
                <a:gd name="connsiteX5" fmla="*/ 5 w 14004"/>
                <a:gd name="connsiteY5" fmla="*/ 6212 h 7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004" h="7822">
                  <a:moveTo>
                    <a:pt x="5" y="1622"/>
                  </a:moveTo>
                  <a:lnTo>
                    <a:pt x="0" y="0"/>
                  </a:lnTo>
                  <a:lnTo>
                    <a:pt x="14004" y="0"/>
                  </a:lnTo>
                  <a:lnTo>
                    <a:pt x="14004" y="7822"/>
                  </a:lnTo>
                  <a:lnTo>
                    <a:pt x="0" y="7822"/>
                  </a:lnTo>
                  <a:lnTo>
                    <a:pt x="5" y="6212"/>
                  </a:lnTo>
                </a:path>
              </a:pathLst>
            </a:custGeom>
            <a:noFill/>
            <a:ln w="19050" cap="flat" cmpd="sng" algn="ctr">
              <a:solidFill>
                <a:schemeClr val="accent4">
                  <a:lumMod val="75000"/>
                  <a:alpha val="75000"/>
                </a:schemeClr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350" b="1" i="0" u="none" strike="noStrike" kern="0" cap="none" spc="0" normalizeH="0" baseline="0" noProof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Heiti SC Medium" panose="02000000000000000000" pitchFamily="2" charset="-128"/>
                  <a:cs typeface="+mn-cs"/>
                  <a:sym typeface="Arial" panose="020B0604020202020204" pitchFamily="34" charset="0"/>
                </a:rPr>
                <a:t>≈</a:t>
              </a:r>
            </a:p>
          </p:txBody>
        </p:sp>
        <p:sp>
          <p:nvSpPr>
            <p:cNvPr id="15" name="矩形 14"/>
            <p:cNvSpPr/>
            <p:nvPr>
              <p:custDataLst>
                <p:tags r:id="rId2"/>
              </p:custDataLst>
            </p:nvPr>
          </p:nvSpPr>
          <p:spPr>
            <a:xfrm rot="5400000">
              <a:off x="823766" y="3468538"/>
              <a:ext cx="1046079" cy="63797"/>
            </a:xfrm>
            <a:prstGeom prst="rect">
              <a:avLst/>
            </a:prstGeom>
            <a:solidFill>
              <a:srgbClr val="743481"/>
            </a:solidFill>
            <a:ln w="12700" cap="flat" cmpd="sng" algn="ctr">
              <a:solidFill>
                <a:srgbClr val="743481"/>
              </a:solidFill>
              <a:prstDash val="solid"/>
              <a:miter lim="800000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350" b="1" i="0" u="none" strike="noStrike" kern="0" cap="none" spc="0" normalizeH="0" baseline="0" noProof="1">
                <a:ln>
                  <a:noFill/>
                </a:ln>
                <a:solidFill>
                  <a:sysClr val="windowText" lastClr="000000">
                    <a:lumMod val="85000"/>
                    <a:lumOff val="15000"/>
                  </a:sysClr>
                </a:solidFill>
                <a:effectLst/>
                <a:uLnTx/>
                <a:uFillTx/>
                <a:latin typeface="Arial" panose="020B0604020202020204"/>
                <a:ea typeface="Heiti SC Medium" panose="02000000000000000000" pitchFamily="2" charset="-128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16" name="文本框 15"/>
          <p:cNvSpPr txBox="1"/>
          <p:nvPr userDrawn="1"/>
        </p:nvSpPr>
        <p:spPr>
          <a:xfrm>
            <a:off x="3255614" y="1104984"/>
            <a:ext cx="13163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4400" b="1" dirty="0">
                <a:solidFill>
                  <a:srgbClr val="743481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目录</a:t>
            </a:r>
            <a:endParaRPr kumimoji="1" lang="zh-CN" altLang="en-US" sz="2000" b="1" dirty="0">
              <a:solidFill>
                <a:srgbClr val="743481"/>
              </a:solidFill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4572000" y="1258872"/>
            <a:ext cx="127791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400" dirty="0">
                <a:solidFill>
                  <a:srgbClr val="74348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Contents</a:t>
            </a:r>
            <a:endParaRPr lang="zh-CN" altLang="en-US" sz="2400" dirty="0">
              <a:solidFill>
                <a:srgbClr val="74348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116204"/>
            <a:ext cx="7886700" cy="521653"/>
          </a:xfrm>
          <a:prstGeom prst="rect">
            <a:avLst/>
          </a:prstGeom>
        </p:spPr>
        <p:txBody>
          <a:bodyPr lIns="90000" anchor="ctr">
            <a:noAutofit/>
          </a:bodyPr>
          <a:lstStyle/>
          <a:p>
            <a:pPr marL="0" lvl="0" algn="ctr" defTabSz="713105"/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7040" y="845513"/>
            <a:ext cx="8569920" cy="5331451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178435" lvl="0" indent="-178435" defTabSz="713105">
              <a:spcBef>
                <a:spcPts val="780"/>
              </a:spcBef>
              <a:buFont typeface="Wingdings" panose="05000000000000000000" pitchFamily="2" charset="2"/>
              <a:buChar char="Ø"/>
            </a:pPr>
            <a:r>
              <a:rPr lang="zh-CN" altLang="en-US" dirty="0"/>
              <a:t>单击此处编辑母版文本样式</a:t>
            </a:r>
          </a:p>
          <a:p>
            <a:pPr marL="534670" lvl="1" indent="-178435" defTabSz="713105">
              <a:spcBef>
                <a:spcPts val="390"/>
              </a:spcBef>
            </a:pPr>
            <a:r>
              <a:rPr lang="zh-CN" altLang="en-US" dirty="0"/>
              <a:t>二级</a:t>
            </a:r>
          </a:p>
          <a:p>
            <a:pPr marL="891540" lvl="2" indent="-178435" defTabSz="713105">
              <a:spcBef>
                <a:spcPts val="390"/>
              </a:spcBef>
            </a:pPr>
            <a:r>
              <a:rPr lang="zh-CN" altLang="en-US" dirty="0"/>
              <a:t>三级</a:t>
            </a:r>
          </a:p>
          <a:p>
            <a:pPr marL="1248410" lvl="3" indent="-178435" defTabSz="713105">
              <a:spcBef>
                <a:spcPts val="390"/>
              </a:spcBef>
            </a:pPr>
            <a:r>
              <a:rPr lang="zh-CN" altLang="en-US" dirty="0"/>
              <a:t>四级</a:t>
            </a:r>
          </a:p>
          <a:p>
            <a:pPr marL="1604645" lvl="4" indent="-178435" defTabSz="713105">
              <a:spcBef>
                <a:spcPts val="390"/>
              </a:spcBef>
            </a:pPr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0" y="655923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A6755E94-8A58-8045-9507-752163575BAA}" type="datetime1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55272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kumimoji="1" lang="en-US" altLang="zh-CN"/>
              <a:t>NICS-efc</a:t>
            </a:r>
            <a:r>
              <a:rPr kumimoji="1" lang="zh-CN" altLang="en-US"/>
              <a:t> </a:t>
            </a:r>
            <a:r>
              <a:rPr kumimoji="1" lang="en-US" altLang="zh-CN"/>
              <a:t>Lab</a:t>
            </a:r>
            <a:endParaRPr kumimoji="1"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559234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kumimoji="1" lang="en-US" altLang="zh-CN"/>
              <a:t>Page</a:t>
            </a:r>
            <a:r>
              <a:rPr kumimoji="1" lang="zh-CN" altLang="en-US"/>
              <a:t> </a:t>
            </a:r>
            <a:fld id="{FD7712BB-E452-0044-8976-96395B1FFD36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sp>
        <p:nvSpPr>
          <p:cNvPr id="7" name="Isosceles Triangle 7"/>
          <p:cNvSpPr/>
          <p:nvPr userDrawn="1"/>
        </p:nvSpPr>
        <p:spPr>
          <a:xfrm rot="5400000">
            <a:off x="-17758" y="214532"/>
            <a:ext cx="348343" cy="261258"/>
          </a:xfrm>
          <a:prstGeom prst="triangle">
            <a:avLst/>
          </a:prstGeom>
          <a:solidFill>
            <a:srgbClr val="7434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4191" tIns="32095" rIns="64191" bIns="32095" numCol="1" spcCol="0" rtlCol="0" fromWordArt="0" anchor="ctr" anchorCtr="0" forceAA="0" compatLnSpc="1">
            <a:noAutofit/>
          </a:bodyPr>
          <a:lstStyle/>
          <a:p>
            <a:pPr algn="ctr"/>
            <a:endParaRPr lang="en-US" sz="1320"/>
          </a:p>
        </p:txBody>
      </p:sp>
      <p:cxnSp>
        <p:nvCxnSpPr>
          <p:cNvPr id="8" name="直接连接符 2"/>
          <p:cNvCxnSpPr/>
          <p:nvPr userDrawn="1"/>
        </p:nvCxnSpPr>
        <p:spPr>
          <a:xfrm>
            <a:off x="287040" y="726989"/>
            <a:ext cx="8569920" cy="0"/>
          </a:xfrm>
          <a:prstGeom prst="line">
            <a:avLst/>
          </a:prstGeom>
          <a:ln w="73025" cmpd="thickThin">
            <a:solidFill>
              <a:srgbClr val="743481"/>
            </a:solidFill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 userDrawn="1"/>
        </p:nvPicPr>
        <p:blipFill rotWithShape="1">
          <a:blip r:embed="rId6"/>
          <a:srcRect l="17148" r="65109" b="5075"/>
          <a:stretch>
            <a:fillRect/>
          </a:stretch>
        </p:blipFill>
        <p:spPr>
          <a:xfrm>
            <a:off x="8412480" y="32230"/>
            <a:ext cx="705736" cy="60562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lang="en-US" altLang="en-US" sz="3200" b="1" kern="1200" dirty="0">
          <a:solidFill>
            <a:srgbClr val="743481"/>
          </a:solidFill>
          <a:latin typeface="Cambria Math" panose="02040503050406030204" pitchFamily="18" charset="0"/>
          <a:ea typeface="黑体" panose="02010609060101010101" pitchFamily="49" charset="-122"/>
          <a:cs typeface="Times New Roman" panose="02020603050405020304" pitchFamily="18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lang="zh-CN" altLang="en-US" sz="2800" kern="1200" smtClean="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zh-CN" altLang="en-US" sz="2400" kern="1200" smtClean="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zh-CN" altLang="en-US" sz="2300" kern="1200" smtClean="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zh-CN" altLang="en-US" sz="2000" kern="1200" smtClean="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lang="en-US" altLang="en-US" sz="1800" kern="1200" dirty="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黑体" panose="02010609060101010101" pitchFamily="49" charset="-122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eg"/><Relationship Id="rId3" Type="http://schemas.openxmlformats.org/officeDocument/2006/relationships/image" Target="../media/image6.png"/><Relationship Id="rId7" Type="http://schemas.openxmlformats.org/officeDocument/2006/relationships/image" Target="../media/image10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ctrTitle"/>
          </p:nvPr>
        </p:nvSpPr>
        <p:spPr>
          <a:xfrm>
            <a:off x="561340" y="1582420"/>
            <a:ext cx="8333740" cy="1655445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zh-CN" altLang="en-US" sz="3600" dirty="0"/>
              <a:t>无人机实验课：仿真环境</a:t>
            </a:r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>
          <a:xfrm>
            <a:off x="1961515" y="3776345"/>
            <a:ext cx="5220970" cy="567055"/>
          </a:xfrm>
        </p:spPr>
        <p:txBody>
          <a:bodyPr>
            <a:normAutofit/>
          </a:bodyPr>
          <a:lstStyle/>
          <a:p>
            <a:r>
              <a:rPr lang="en-US" altLang="zh-CN" dirty="0">
                <a:ea typeface="黑体" panose="02010609060101010101" pitchFamily="49" charset="-122"/>
              </a:rPr>
              <a:t>2025</a:t>
            </a:r>
            <a:r>
              <a:rPr dirty="0">
                <a:ea typeface="黑体" panose="02010609060101010101" pitchFamily="49" charset="-122"/>
              </a:rPr>
              <a:t>年</a:t>
            </a:r>
            <a:r>
              <a:rPr lang="en-US" dirty="0">
                <a:ea typeface="黑体" panose="02010609060101010101" pitchFamily="49" charset="-122"/>
              </a:rPr>
              <a:t>10</a:t>
            </a:r>
            <a:r>
              <a:rPr lang="zh-CN" altLang="en-US" dirty="0">
                <a:ea typeface="黑体" panose="02010609060101010101" pitchFamily="49" charset="-122"/>
              </a:rPr>
              <a:t>月</a:t>
            </a:r>
            <a:endParaRPr dirty="0">
              <a:ea typeface="黑体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521200" y="4973731"/>
            <a:ext cx="4343400" cy="1884269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521200" y="4054325"/>
            <a:ext cx="4343400" cy="919406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4521200" y="1884269"/>
            <a:ext cx="2170056" cy="2170056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2351144" y="1884267"/>
            <a:ext cx="2170057" cy="2170057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4521201" y="-285790"/>
            <a:ext cx="2170057" cy="2170057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2351144" y="-285792"/>
            <a:ext cx="2170058" cy="217005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6755E94-8A58-8045-9507-752163575BAA}" type="datetime1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zh-CN"/>
              <a:t>NICS-efc</a:t>
            </a:r>
            <a:r>
              <a:rPr kumimoji="1" lang="zh-CN" altLang="en-US"/>
              <a:t> </a:t>
            </a:r>
            <a:r>
              <a:rPr kumimoji="1" lang="en-US" altLang="zh-CN"/>
              <a:t>Lab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7086600" y="6559234"/>
            <a:ext cx="2057400" cy="365125"/>
          </a:xfrm>
        </p:spPr>
        <p:txBody>
          <a:bodyPr/>
          <a:lstStyle/>
          <a:p>
            <a:r>
              <a:rPr kumimoji="1" lang="en-US" altLang="zh-CN"/>
              <a:t>Page</a:t>
            </a:r>
            <a:r>
              <a:rPr kumimoji="1" lang="zh-CN" altLang="en-US"/>
              <a:t> </a:t>
            </a:r>
            <a:fld id="{FD7712BB-E452-0044-8976-96395B1FFD36}" type="slidenum">
              <a:rPr kumimoji="1" lang="zh-CN" altLang="en-US" smtClean="0"/>
              <a:t>2</a:t>
            </a:fld>
            <a:endParaRPr kumimoji="1" lang="zh-CN" alt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课上演示实验</a:t>
            </a:r>
            <a:endParaRPr 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287041" y="1161855"/>
            <a:ext cx="857560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 </a:t>
            </a:r>
            <a:r>
              <a:rPr lang="zh-CN" altLang="en-US" dirty="0"/>
              <a:t>下载功能包（在</a:t>
            </a:r>
            <a:r>
              <a:rPr lang="en-US" altLang="zh-CN" dirty="0"/>
              <a:t>ROS2GO</a:t>
            </a:r>
            <a:r>
              <a:rPr lang="zh-CN" altLang="en-US" dirty="0"/>
              <a:t>系统中）：</a:t>
            </a:r>
            <a:endParaRPr lang="en-US" altLang="zh-CN" dirty="0"/>
          </a:p>
          <a:p>
            <a:r>
              <a:rPr lang="en-US" altLang="zh-CN" dirty="0"/>
              <a:t>	</a:t>
            </a:r>
            <a:r>
              <a:rPr lang="zh-CN" altLang="en-US" dirty="0"/>
              <a:t>云盘链接：</a:t>
            </a:r>
            <a:r>
              <a:rPr lang="en-US" altLang="zh-CN" dirty="0"/>
              <a:t>https://cloud.tsinghua.edu.cn/d/1509ad1ce9b8425699e8/</a:t>
            </a:r>
          </a:p>
          <a:p>
            <a:r>
              <a:rPr lang="en-US" altLang="zh-CN" dirty="0"/>
              <a:t> </a:t>
            </a:r>
          </a:p>
          <a:p>
            <a:r>
              <a:rPr lang="en-US" altLang="zh-CN" dirty="0"/>
              <a:t>	</a:t>
            </a:r>
            <a:r>
              <a:rPr lang="zh-CN" altLang="en-US" dirty="0"/>
              <a:t>解压放在自己新建的工作空间（建议命名为</a:t>
            </a:r>
            <a:r>
              <a:rPr lang="en-US" altLang="zh-CN" dirty="0" err="1"/>
              <a:t>uav_sim_ws</a:t>
            </a:r>
            <a:r>
              <a:rPr lang="zh-CN" altLang="en-US" dirty="0"/>
              <a:t>）的</a:t>
            </a:r>
            <a:r>
              <a:rPr lang="en-US" altLang="zh-CN" dirty="0" err="1"/>
              <a:t>src</a:t>
            </a:r>
            <a:r>
              <a:rPr lang="zh-CN" altLang="en-US" dirty="0"/>
              <a:t>文件夹下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 </a:t>
            </a:r>
            <a:r>
              <a:rPr lang="zh-CN" altLang="en-US" dirty="0">
                <a:sym typeface="+mn-ea"/>
              </a:rPr>
              <a:t>安装基本依赖</a:t>
            </a:r>
            <a:r>
              <a:rPr lang="en-US" altLang="zh-CN" dirty="0">
                <a:sym typeface="+mn-ea"/>
              </a:rPr>
              <a:t>&amp;</a:t>
            </a:r>
            <a:r>
              <a:rPr lang="zh-CN" altLang="en-US" dirty="0">
                <a:sym typeface="+mn-ea"/>
              </a:rPr>
              <a:t>编译仿真功能包：</a:t>
            </a:r>
            <a:endParaRPr lang="en-US" altLang="zh-CN" dirty="0">
              <a:sym typeface="+mn-ea"/>
            </a:endParaRPr>
          </a:p>
          <a:p>
            <a:r>
              <a:rPr lang="en-US" altLang="zh-CN" dirty="0">
                <a:sym typeface="+mn-ea"/>
              </a:rPr>
              <a:t>	</a:t>
            </a:r>
            <a:r>
              <a:rPr lang="zh-CN" altLang="en-US" dirty="0">
                <a:sym typeface="+mn-ea"/>
              </a:rPr>
              <a:t>见实验指导书，检查没有报错（正常应该类似下图）</a:t>
            </a:r>
            <a:endParaRPr lang="en-US" altLang="zh-CN" dirty="0">
              <a:solidFill>
                <a:srgbClr val="FF0000"/>
              </a:solidFill>
              <a:sym typeface="+mn-ea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17B21C3-3289-67C5-2610-ED2AC466F7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0612" y="3855281"/>
            <a:ext cx="6962775" cy="20288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6755E94-8A58-8045-9507-752163575BAA}" type="datetime1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zh-CN"/>
              <a:t>NICS-efc</a:t>
            </a:r>
            <a:r>
              <a:rPr kumimoji="1" lang="zh-CN" altLang="en-US"/>
              <a:t> </a:t>
            </a:r>
            <a:r>
              <a:rPr kumimoji="1" lang="en-US" altLang="zh-CN"/>
              <a:t>Lab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7086600" y="6559234"/>
            <a:ext cx="2057400" cy="365125"/>
          </a:xfrm>
        </p:spPr>
        <p:txBody>
          <a:bodyPr/>
          <a:lstStyle/>
          <a:p>
            <a:r>
              <a:rPr kumimoji="1" lang="en-US" altLang="zh-CN"/>
              <a:t>Page</a:t>
            </a:r>
            <a:r>
              <a:rPr kumimoji="1" lang="zh-CN" altLang="en-US"/>
              <a:t> </a:t>
            </a:r>
            <a:fld id="{FD7712BB-E452-0044-8976-96395B1FFD36}" type="slidenum">
              <a:rPr kumimoji="1" lang="zh-CN" altLang="en-US" smtClean="0"/>
              <a:t>3</a:t>
            </a:fld>
            <a:endParaRPr kumimoji="1" lang="zh-CN" alt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演示</a:t>
            </a:r>
            <a:r>
              <a:rPr lang="zh-CN" dirty="0"/>
              <a:t>：启动</a:t>
            </a:r>
            <a:r>
              <a:rPr lang="en-US" altLang="zh-CN" dirty="0"/>
              <a:t>Gazebo</a:t>
            </a:r>
            <a:r>
              <a:rPr lang="zh-CN" altLang="en-US" dirty="0"/>
              <a:t>环境</a:t>
            </a:r>
            <a:endParaRPr 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39140" y="1118870"/>
            <a:ext cx="73247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 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terminal1</a:t>
            </a:r>
            <a:r>
              <a:rPr lang="zh-CN" altLang="en-US" dirty="0">
                <a:sym typeface="+mn-ea"/>
              </a:rPr>
              <a:t>）加载</a:t>
            </a:r>
            <a:r>
              <a:rPr lang="en-US" altLang="zh-CN" dirty="0">
                <a:sym typeface="+mn-ea"/>
              </a:rPr>
              <a:t>Gazebo</a:t>
            </a:r>
            <a:r>
              <a:rPr lang="zh-CN" altLang="en-US" dirty="0">
                <a:sym typeface="+mn-ea"/>
              </a:rPr>
              <a:t>环境：</a:t>
            </a:r>
            <a:endParaRPr lang="zh-CN" altLang="en-US" dirty="0"/>
          </a:p>
          <a:p>
            <a:r>
              <a:rPr lang="en-US" altLang="zh-CN" dirty="0" err="1">
                <a:solidFill>
                  <a:srgbClr val="FF0000"/>
                </a:solidFill>
                <a:sym typeface="+mn-ea"/>
              </a:rPr>
              <a:t>roslaunch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hector_quadrotor_demo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start_nics_world.launch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dirty="0"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922982" y="1915331"/>
            <a:ext cx="6956425" cy="3488543"/>
            <a:chOff x="2281" y="4113"/>
            <a:chExt cx="8366" cy="4100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81" y="4113"/>
              <a:ext cx="8367" cy="4101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4770" y="6544"/>
              <a:ext cx="897" cy="660"/>
            </a:xfrm>
            <a:prstGeom prst="rect">
              <a:avLst/>
            </a:prstGeom>
            <a:ln>
              <a:solidFill>
                <a:srgbClr val="209E2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" name="直接连接符 7"/>
            <p:cNvCxnSpPr>
              <a:stCxn id="7" idx="1"/>
            </p:cNvCxnSpPr>
            <p:nvPr/>
          </p:nvCxnSpPr>
          <p:spPr>
            <a:xfrm flipH="1" flipV="1">
              <a:off x="4287" y="6704"/>
              <a:ext cx="483" cy="170"/>
            </a:xfrm>
            <a:prstGeom prst="line">
              <a:avLst/>
            </a:prstGeom>
            <a:ln>
              <a:solidFill>
                <a:srgbClr val="209E2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3240" y="6432"/>
              <a:ext cx="1180" cy="3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000">
                  <a:solidFill>
                    <a:srgbClr val="209E20"/>
                  </a:solidFill>
                </a:rPr>
                <a:t>起飞区域</a:t>
              </a:r>
            </a:p>
          </p:txBody>
        </p:sp>
        <p:sp>
          <p:nvSpPr>
            <p:cNvPr id="11" name="矩形 10"/>
            <p:cNvSpPr/>
            <p:nvPr/>
          </p:nvSpPr>
          <p:spPr>
            <a:xfrm>
              <a:off x="7995" y="6158"/>
              <a:ext cx="897" cy="660"/>
            </a:xfrm>
            <a:prstGeom prst="rect">
              <a:avLst/>
            </a:prstGeom>
            <a:ln>
              <a:solidFill>
                <a:srgbClr val="61337A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61337A"/>
                </a:solidFill>
              </a:endParaRPr>
            </a:p>
          </p:txBody>
        </p:sp>
        <p:cxnSp>
          <p:nvCxnSpPr>
            <p:cNvPr id="12" name="直接连接符 11"/>
            <p:cNvCxnSpPr/>
            <p:nvPr/>
          </p:nvCxnSpPr>
          <p:spPr>
            <a:xfrm flipH="1" flipV="1">
              <a:off x="8892" y="6469"/>
              <a:ext cx="483" cy="170"/>
            </a:xfrm>
            <a:prstGeom prst="line">
              <a:avLst/>
            </a:prstGeom>
            <a:ln>
              <a:solidFill>
                <a:srgbClr val="61337A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3" name="文本框 12"/>
            <p:cNvSpPr txBox="1"/>
            <p:nvPr/>
          </p:nvSpPr>
          <p:spPr>
            <a:xfrm>
              <a:off x="9270" y="6639"/>
              <a:ext cx="1180" cy="38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zh-CN" sz="1000">
                  <a:solidFill>
                    <a:srgbClr val="61337A"/>
                  </a:solidFill>
                </a:rPr>
                <a:t>目标区域</a:t>
              </a:r>
            </a:p>
          </p:txBody>
        </p:sp>
      </p:grpSp>
      <p:sp>
        <p:nvSpPr>
          <p:cNvPr id="15" name="文本框 14"/>
          <p:cNvSpPr txBox="1"/>
          <p:nvPr/>
        </p:nvSpPr>
        <p:spPr>
          <a:xfrm>
            <a:off x="647700" y="5634355"/>
            <a:ext cx="78676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dirty="0">
                <a:solidFill>
                  <a:srgbClr val="4646C5"/>
                </a:solidFill>
                <a:sym typeface="+mn-ea"/>
              </a:rPr>
              <a:t>Gazebo</a:t>
            </a:r>
            <a:r>
              <a:rPr lang="zh-CN" altLang="en-US" dirty="0">
                <a:sym typeface="+mn-ea"/>
              </a:rPr>
              <a:t>会显示模拟的仿真场景与无人机飞行状态，可以进行拖动以转换视角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6755E94-8A58-8045-9507-752163575BAA}" type="datetime1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zh-CN"/>
              <a:t>NICS-efc</a:t>
            </a:r>
            <a:r>
              <a:rPr kumimoji="1" lang="zh-CN" altLang="en-US"/>
              <a:t> </a:t>
            </a:r>
            <a:r>
              <a:rPr kumimoji="1" lang="en-US" altLang="zh-CN"/>
              <a:t>Lab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7086600" y="6559234"/>
            <a:ext cx="2057400" cy="365125"/>
          </a:xfrm>
        </p:spPr>
        <p:txBody>
          <a:bodyPr/>
          <a:lstStyle/>
          <a:p>
            <a:r>
              <a:rPr kumimoji="1" lang="en-US" altLang="zh-CN"/>
              <a:t>Page</a:t>
            </a:r>
            <a:r>
              <a:rPr kumimoji="1" lang="zh-CN" altLang="en-US"/>
              <a:t> </a:t>
            </a:r>
            <a:fld id="{FD7712BB-E452-0044-8976-96395B1FFD36}" type="slidenum">
              <a:rPr kumimoji="1" lang="zh-CN" altLang="en-US" smtClean="0"/>
              <a:t>4</a:t>
            </a:fld>
            <a:endParaRPr kumimoji="1" lang="zh-CN" alt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演示</a:t>
            </a:r>
            <a:r>
              <a:rPr lang="zh-CN" dirty="0"/>
              <a:t>：</a:t>
            </a:r>
            <a:r>
              <a:rPr lang="zh-CN" altLang="en-US" dirty="0"/>
              <a:t>放置</a:t>
            </a:r>
            <a:r>
              <a:rPr lang="zh-CN" dirty="0"/>
              <a:t>无人机</a:t>
            </a:r>
            <a:r>
              <a:rPr lang="zh-CN" altLang="en-US" dirty="0"/>
              <a:t>到仿真中</a:t>
            </a:r>
            <a:endParaRPr 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739140" y="1224280"/>
            <a:ext cx="73247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ym typeface="+mn-ea"/>
              </a:rPr>
              <a:t>2 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terminal2</a:t>
            </a:r>
            <a:r>
              <a:rPr lang="zh-CN" altLang="en-US" dirty="0">
                <a:sym typeface="+mn-ea"/>
              </a:rPr>
              <a:t>）放置无人机同时启动</a:t>
            </a:r>
            <a:r>
              <a:rPr lang="en-US" altLang="zh-CN" dirty="0">
                <a:sym typeface="+mn-ea"/>
              </a:rPr>
              <a:t>Rviz</a:t>
            </a:r>
            <a:r>
              <a:rPr lang="zh-CN" altLang="en-US" dirty="0">
                <a:sym typeface="+mn-ea"/>
              </a:rPr>
              <a:t>界面：</a:t>
            </a:r>
          </a:p>
          <a:p>
            <a:r>
              <a:rPr lang="zh-CN" altLang="en-US" dirty="0">
                <a:solidFill>
                  <a:srgbClr val="FF0000"/>
                </a:solidFill>
                <a:sym typeface="+mn-ea"/>
              </a:rPr>
              <a:t>roslaunch hector_quadrotor_demo put_robot_in_world.launch</a:t>
            </a:r>
          </a:p>
          <a:p>
            <a:endParaRPr lang="en-US" dirty="0"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1119822" y="5557520"/>
            <a:ext cx="67995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>
                <a:solidFill>
                  <a:srgbClr val="C00000"/>
                </a:solidFill>
              </a:rPr>
              <a:t>0</a:t>
            </a:r>
            <a:r>
              <a:rPr lang="zh-CN" altLang="en-US" sz="1200" dirty="0">
                <a:solidFill>
                  <a:srgbClr val="C00000"/>
                </a:solidFill>
              </a:rPr>
              <a:t>：</a:t>
            </a:r>
            <a:r>
              <a:rPr lang="en-US" altLang="zh-CN" sz="1200" dirty="0">
                <a:solidFill>
                  <a:srgbClr val="C00000"/>
                </a:solidFill>
              </a:rPr>
              <a:t>3D</a:t>
            </a:r>
            <a:r>
              <a:rPr lang="zh-CN" altLang="en-US" sz="1200" dirty="0">
                <a:solidFill>
                  <a:srgbClr val="C00000"/>
                </a:solidFill>
              </a:rPr>
              <a:t>视区，显示可视化数据，当前无数据</a:t>
            </a:r>
          </a:p>
          <a:p>
            <a:r>
              <a:rPr lang="en-US" altLang="zh-CN" sz="1200" dirty="0">
                <a:solidFill>
                  <a:srgbClr val="C00000"/>
                </a:solidFill>
              </a:rPr>
              <a:t>1</a:t>
            </a:r>
            <a:r>
              <a:rPr lang="zh-CN" altLang="en-US" sz="1200" dirty="0">
                <a:solidFill>
                  <a:srgbClr val="C00000"/>
                </a:solidFill>
              </a:rPr>
              <a:t>：显示项列表，用于显示当前选择的显示插件，可以配置每个插件的属性，接收话题进行显示</a:t>
            </a:r>
          </a:p>
          <a:p>
            <a:r>
              <a:rPr lang="en-US" altLang="zh-CN" sz="1200" dirty="0">
                <a:solidFill>
                  <a:srgbClr val="C00000"/>
                </a:solidFill>
              </a:rPr>
              <a:t>2</a:t>
            </a:r>
            <a:r>
              <a:rPr lang="zh-CN" altLang="en-US" sz="1200" dirty="0">
                <a:solidFill>
                  <a:srgbClr val="C00000"/>
                </a:solidFill>
              </a:rPr>
              <a:t>：摄像头视窗，接受摄像头数据并显示</a:t>
            </a:r>
            <a:r>
              <a:rPr lang="en-US" altLang="zh-CN" sz="1200" dirty="0" err="1">
                <a:solidFill>
                  <a:srgbClr val="C00000"/>
                </a:solidFill>
              </a:rPr>
              <a:t>rgb</a:t>
            </a:r>
            <a:r>
              <a:rPr lang="zh-CN" altLang="en-US" sz="1200" dirty="0">
                <a:solidFill>
                  <a:srgbClr val="C00000"/>
                </a:solidFill>
              </a:rPr>
              <a:t>结果，可以添加或修改显示的话题来源和类型</a:t>
            </a:r>
          </a:p>
          <a:p>
            <a:r>
              <a:rPr lang="en-US" altLang="zh-CN" sz="1200" dirty="0">
                <a:solidFill>
                  <a:srgbClr val="C00000"/>
                </a:solidFill>
              </a:rPr>
              <a:t>3</a:t>
            </a:r>
            <a:r>
              <a:rPr lang="zh-CN" altLang="en-US" sz="1200" dirty="0">
                <a:solidFill>
                  <a:srgbClr val="C00000"/>
                </a:solidFill>
              </a:rPr>
              <a:t>：时间显示区，显示当前的系统时间和ROS时间</a:t>
            </a:r>
          </a:p>
        </p:txBody>
      </p:sp>
      <p:grpSp>
        <p:nvGrpSpPr>
          <p:cNvPr id="27" name="组合 26"/>
          <p:cNvGrpSpPr/>
          <p:nvPr/>
        </p:nvGrpSpPr>
        <p:grpSpPr>
          <a:xfrm>
            <a:off x="842010" y="2061210"/>
            <a:ext cx="6939915" cy="3272790"/>
            <a:chOff x="917" y="3606"/>
            <a:chExt cx="10929" cy="5154"/>
          </a:xfrm>
        </p:grpSpPr>
        <p:pic>
          <p:nvPicPr>
            <p:cNvPr id="16" name="图片 1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64" y="3606"/>
              <a:ext cx="10182" cy="5154"/>
            </a:xfrm>
            <a:prstGeom prst="rect">
              <a:avLst/>
            </a:prstGeom>
          </p:spPr>
        </p:pic>
        <p:sp>
          <p:nvSpPr>
            <p:cNvPr id="17" name="矩形 16"/>
            <p:cNvSpPr/>
            <p:nvPr/>
          </p:nvSpPr>
          <p:spPr>
            <a:xfrm>
              <a:off x="3590" y="4091"/>
              <a:ext cx="8241" cy="4233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/>
            <p:cNvSpPr/>
            <p:nvPr/>
          </p:nvSpPr>
          <p:spPr>
            <a:xfrm>
              <a:off x="1586" y="4091"/>
              <a:ext cx="1850" cy="2216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/>
            <p:cNvSpPr/>
            <p:nvPr/>
          </p:nvSpPr>
          <p:spPr>
            <a:xfrm>
              <a:off x="1586" y="6575"/>
              <a:ext cx="1850" cy="1749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矩形 21"/>
            <p:cNvSpPr/>
            <p:nvPr/>
          </p:nvSpPr>
          <p:spPr>
            <a:xfrm>
              <a:off x="1586" y="8400"/>
              <a:ext cx="10245" cy="280"/>
            </a:xfrm>
            <a:prstGeom prst="rect">
              <a:avLst/>
            </a:prstGeom>
            <a:ln w="28575">
              <a:solidFill>
                <a:srgbClr val="C00000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/>
            <p:cNvSpPr txBox="1"/>
            <p:nvPr/>
          </p:nvSpPr>
          <p:spPr>
            <a:xfrm>
              <a:off x="3590" y="4091"/>
              <a:ext cx="59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C00000"/>
                  </a:solidFill>
                </a:rPr>
                <a:t>0</a:t>
              </a: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586" y="4091"/>
              <a:ext cx="59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C00000"/>
                  </a:solidFill>
                </a:rPr>
                <a:t>1</a:t>
              </a:r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1586" y="6565"/>
              <a:ext cx="59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C00000"/>
                  </a:solidFill>
                </a:rPr>
                <a:t>2</a:t>
              </a: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917" y="8180"/>
              <a:ext cx="59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>
                  <a:solidFill>
                    <a:srgbClr val="C00000"/>
                  </a:solidFill>
                </a:rPr>
                <a:t>3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6755E94-8A58-8045-9507-752163575BAA}" type="datetime1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zh-CN"/>
              <a:t>NICS-efc</a:t>
            </a:r>
            <a:r>
              <a:rPr kumimoji="1" lang="zh-CN" altLang="en-US"/>
              <a:t> </a:t>
            </a:r>
            <a:r>
              <a:rPr kumimoji="1" lang="en-US" altLang="zh-CN"/>
              <a:t>Lab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7086600" y="6559234"/>
            <a:ext cx="2057400" cy="365125"/>
          </a:xfrm>
        </p:spPr>
        <p:txBody>
          <a:bodyPr/>
          <a:lstStyle/>
          <a:p>
            <a:r>
              <a:rPr kumimoji="1" lang="en-US" altLang="zh-CN"/>
              <a:t>Page</a:t>
            </a:r>
            <a:r>
              <a:rPr kumimoji="1" lang="zh-CN" altLang="en-US"/>
              <a:t> </a:t>
            </a:r>
            <a:fld id="{FD7712BB-E452-0044-8976-96395B1FFD36}" type="slidenum">
              <a:rPr kumimoji="1" lang="zh-CN" altLang="en-US" smtClean="0"/>
              <a:t>5</a:t>
            </a:fld>
            <a:endParaRPr kumimoji="1" lang="zh-CN" alt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演示</a:t>
            </a:r>
            <a:r>
              <a:rPr lang="zh-CN" dirty="0"/>
              <a:t>：启动键盘控制无人机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39140" y="1224280"/>
            <a:ext cx="732472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ym typeface="+mn-ea"/>
              </a:rPr>
              <a:t>3 </a:t>
            </a:r>
            <a:r>
              <a:rPr lang="zh-CN" altLang="en-US" dirty="0">
                <a:sym typeface="+mn-ea"/>
              </a:rPr>
              <a:t>（</a:t>
            </a:r>
            <a:r>
              <a:rPr lang="en-US" altLang="zh-CN" dirty="0">
                <a:sym typeface="+mn-ea"/>
              </a:rPr>
              <a:t>terminal3</a:t>
            </a:r>
            <a:r>
              <a:rPr lang="zh-CN" altLang="en-US" dirty="0">
                <a:sym typeface="+mn-ea"/>
              </a:rPr>
              <a:t>）启动键盘控制无人机：</a:t>
            </a:r>
          </a:p>
          <a:p>
            <a:r>
              <a:rPr lang="en-US" altLang="zh-CN" dirty="0" err="1">
                <a:solidFill>
                  <a:srgbClr val="FF0000"/>
                </a:solidFill>
                <a:sym typeface="+mn-ea"/>
              </a:rPr>
              <a:t>rosrun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teleop_twist_keyboard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teleop_twist_keyboard.py</a:t>
            </a:r>
          </a:p>
          <a:p>
            <a:endParaRPr lang="en-US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4770" y="1967230"/>
            <a:ext cx="6112510" cy="373888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78230" y="5864225"/>
            <a:ext cx="66249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dirty="0">
                <a:sym typeface="+mn-ea"/>
              </a:rPr>
              <a:t>根据信息提示，使用键盘对无人机发送控制信号</a:t>
            </a:r>
          </a:p>
          <a:p>
            <a:pPr algn="ctr"/>
            <a:r>
              <a:rPr lang="zh-CN" altLang="en-US">
                <a:sym typeface="+mn-ea"/>
              </a:rPr>
              <a:t>此时在</a:t>
            </a:r>
            <a:r>
              <a:rPr lang="en-US" altLang="zh-CN">
                <a:sym typeface="+mn-ea"/>
              </a:rPr>
              <a:t>terminal3</a:t>
            </a:r>
            <a:r>
              <a:rPr lang="zh-CN" altLang="en-US">
                <a:sym typeface="+mn-ea"/>
              </a:rPr>
              <a:t>下可以通过键盘控制无人机的飞行</a:t>
            </a:r>
            <a:endParaRPr lang="zh-CN" altLang="en-US" dirty="0"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442720" y="2494280"/>
            <a:ext cx="1174750" cy="67056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402080" y="4007485"/>
            <a:ext cx="1153160" cy="39878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6755E94-8A58-8045-9507-752163575BAA}" type="datetime1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zh-CN"/>
              <a:t>NICS-efc</a:t>
            </a:r>
            <a:r>
              <a:rPr kumimoji="1" lang="zh-CN" altLang="en-US"/>
              <a:t> </a:t>
            </a:r>
            <a:r>
              <a:rPr kumimoji="1" lang="en-US" altLang="zh-CN"/>
              <a:t>Lab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7086600" y="6559234"/>
            <a:ext cx="2057400" cy="365125"/>
          </a:xfrm>
        </p:spPr>
        <p:txBody>
          <a:bodyPr/>
          <a:lstStyle/>
          <a:p>
            <a:r>
              <a:rPr kumimoji="1" lang="en-US" altLang="zh-CN"/>
              <a:t>Page</a:t>
            </a:r>
            <a:r>
              <a:rPr kumimoji="1" lang="zh-CN" altLang="en-US"/>
              <a:t> </a:t>
            </a:r>
            <a:fld id="{FD7712BB-E452-0044-8976-96395B1FFD36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演示</a:t>
            </a:r>
            <a:r>
              <a:rPr lang="zh-CN" dirty="0"/>
              <a:t>：</a:t>
            </a:r>
            <a:r>
              <a:rPr lang="zh-CN" dirty="0">
                <a:sym typeface="+mn-ea"/>
              </a:rPr>
              <a:t>无人机位置数据</a:t>
            </a:r>
            <a:r>
              <a:rPr lang="zh-CN" altLang="en-US" dirty="0">
                <a:sym typeface="+mn-ea"/>
              </a:rPr>
              <a:t>订阅</a:t>
            </a:r>
            <a:endParaRPr lang="zh-CN" dirty="0"/>
          </a:p>
        </p:txBody>
      </p:sp>
      <p:sp>
        <p:nvSpPr>
          <p:cNvPr id="5" name="文本框 4"/>
          <p:cNvSpPr txBox="1"/>
          <p:nvPr/>
        </p:nvSpPr>
        <p:spPr>
          <a:xfrm>
            <a:off x="63500" y="1076960"/>
            <a:ext cx="9080500" cy="42462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ym typeface="+mn-ea"/>
              </a:rPr>
              <a:t>在新终端，寻找位置信息：</a:t>
            </a: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r>
              <a:rPr lang="en-US" altLang="zh-CN" dirty="0" err="1">
                <a:solidFill>
                  <a:srgbClr val="FF0000"/>
                </a:solidFill>
                <a:sym typeface="+mn-ea"/>
              </a:rPr>
              <a:t>rostopic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list | grep state</a:t>
            </a: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0" y="3820160"/>
            <a:ext cx="9080500" cy="16160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dirty="0">
                <a:solidFill>
                  <a:schemeClr val="accent1"/>
                </a:solidFill>
                <a:sym typeface="+mn-ea"/>
              </a:rPr>
              <a:t>/</a:t>
            </a:r>
            <a:r>
              <a:rPr lang="en-US" altLang="zh-CN" dirty="0" err="1">
                <a:solidFill>
                  <a:schemeClr val="accent1"/>
                </a:solidFill>
                <a:sym typeface="+mn-ea"/>
              </a:rPr>
              <a:t>ground_truth</a:t>
            </a:r>
            <a:r>
              <a:rPr lang="en-US" altLang="zh-CN" dirty="0">
                <a:solidFill>
                  <a:schemeClr val="accent1"/>
                </a:solidFill>
                <a:sym typeface="+mn-ea"/>
              </a:rPr>
              <a:t>/state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</a:t>
            </a:r>
            <a:r>
              <a:rPr lang="zh-CN" altLang="en-US" dirty="0">
                <a:sym typeface="+mn-ea"/>
              </a:rPr>
              <a:t>即为位置话题</a:t>
            </a:r>
          </a:p>
          <a:p>
            <a:r>
              <a:rPr lang="zh-CN" altLang="en-US" dirty="0">
                <a:sym typeface="+mn-ea"/>
              </a:rPr>
              <a:t>使用命令将具体话题内容打印出来：</a:t>
            </a:r>
          </a:p>
          <a:p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r>
              <a:rPr lang="en-US" altLang="zh-CN" dirty="0" err="1">
                <a:solidFill>
                  <a:srgbClr val="FF0000"/>
                </a:solidFill>
                <a:sym typeface="+mn-ea"/>
              </a:rPr>
              <a:t>rostopic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 echo /</a:t>
            </a:r>
            <a:r>
              <a:rPr lang="en-US" altLang="zh-CN" dirty="0" err="1">
                <a:solidFill>
                  <a:srgbClr val="FF0000"/>
                </a:solidFill>
                <a:sym typeface="+mn-ea"/>
              </a:rPr>
              <a:t>ground_truth</a:t>
            </a:r>
            <a:r>
              <a:rPr lang="en-US" altLang="zh-CN" dirty="0">
                <a:solidFill>
                  <a:srgbClr val="FF0000"/>
                </a:solidFill>
                <a:sym typeface="+mn-ea"/>
              </a:rPr>
              <a:t>/state</a:t>
            </a: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20" y="2526030"/>
            <a:ext cx="3529330" cy="96012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2300" y="1929130"/>
            <a:ext cx="4501515" cy="372872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5183505" y="5784215"/>
            <a:ext cx="29997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/ground_truth/state echo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结果）</a:t>
            </a:r>
          </a:p>
        </p:txBody>
      </p:sp>
      <p:sp>
        <p:nvSpPr>
          <p:cNvPr id="13" name="矩形 12"/>
          <p:cNvSpPr/>
          <p:nvPr/>
        </p:nvSpPr>
        <p:spPr>
          <a:xfrm>
            <a:off x="4526280" y="2976880"/>
            <a:ext cx="1575435" cy="944245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539615" y="4280535"/>
            <a:ext cx="1671320" cy="889000"/>
          </a:xfrm>
          <a:prstGeom prst="rect">
            <a:avLst/>
          </a:prstGeom>
          <a:ln w="28575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242685" y="3153410"/>
            <a:ext cx="13569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</a:rPr>
              <a:t>位置与朝向</a:t>
            </a:r>
          </a:p>
        </p:txBody>
      </p:sp>
      <p:sp>
        <p:nvSpPr>
          <p:cNvPr id="16" name="文本框 15"/>
          <p:cNvSpPr txBox="1"/>
          <p:nvPr/>
        </p:nvSpPr>
        <p:spPr>
          <a:xfrm>
            <a:off x="6369685" y="4504690"/>
            <a:ext cx="13569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>
                <a:solidFill>
                  <a:srgbClr val="C00000"/>
                </a:solidFill>
              </a:rPr>
              <a:t>线速度与角速度</a:t>
            </a:r>
          </a:p>
        </p:txBody>
      </p:sp>
      <p:sp>
        <p:nvSpPr>
          <p:cNvPr id="18" name="文本框 17"/>
          <p:cNvSpPr txBox="1"/>
          <p:nvPr/>
        </p:nvSpPr>
        <p:spPr>
          <a:xfrm>
            <a:off x="288290" y="5363845"/>
            <a:ext cx="3528060" cy="953135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 rtlCol="0" anchor="t">
            <a:spAutoFit/>
          </a:bodyPr>
          <a:lstStyle/>
          <a:p>
            <a:r>
              <a:rPr lang="zh-CN" altLang="en-US" sz="1400">
                <a:solidFill>
                  <a:schemeClr val="tx1"/>
                </a:solidFill>
                <a:sym typeface="+mn-ea"/>
              </a:rPr>
              <a:t>（另）可以使用下列指令查看更多信息：</a:t>
            </a:r>
            <a:br>
              <a:rPr lang="zh-CN" altLang="en-US" sz="1400">
                <a:solidFill>
                  <a:schemeClr val="tx1"/>
                </a:solidFill>
                <a:sym typeface="+mn-ea"/>
              </a:rPr>
            </a:br>
            <a:endParaRPr lang="zh-CN" altLang="en-US" sz="1400">
              <a:solidFill>
                <a:schemeClr val="tx1"/>
              </a:solidFill>
              <a:sym typeface="+mn-ea"/>
            </a:endParaRPr>
          </a:p>
          <a:p>
            <a:r>
              <a:rPr lang="zh-CN" altLang="en-US" sz="1400">
                <a:solidFill>
                  <a:srgbClr val="C00000"/>
                </a:solidFill>
                <a:sym typeface="+mn-ea"/>
              </a:rPr>
              <a:t>rostopic </a:t>
            </a:r>
            <a:r>
              <a:rPr lang="en-US" altLang="zh-CN" sz="1400">
                <a:solidFill>
                  <a:srgbClr val="C00000"/>
                </a:solidFill>
                <a:sym typeface="+mn-ea"/>
              </a:rPr>
              <a:t>info</a:t>
            </a:r>
            <a:r>
              <a:rPr lang="zh-CN" altLang="en-US" sz="1400">
                <a:solidFill>
                  <a:srgbClr val="C00000"/>
                </a:solidFill>
                <a:sym typeface="+mn-ea"/>
              </a:rPr>
              <a:t> /ground_truth/state</a:t>
            </a:r>
          </a:p>
          <a:p>
            <a:r>
              <a:rPr lang="en-US" altLang="zh-CN" sz="1400">
                <a:solidFill>
                  <a:srgbClr val="C00000"/>
                </a:solidFill>
                <a:sym typeface="+mn-ea"/>
              </a:rPr>
              <a:t>rosmsg info nav_msgs/Odometry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6755E94-8A58-8045-9507-752163575BAA}" type="datetime1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zh-CN"/>
              <a:t>NICS-efc</a:t>
            </a:r>
            <a:r>
              <a:rPr kumimoji="1" lang="zh-CN" altLang="en-US"/>
              <a:t> </a:t>
            </a:r>
            <a:r>
              <a:rPr kumimoji="1" lang="en-US" altLang="zh-CN"/>
              <a:t>Lab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7086600" y="6559234"/>
            <a:ext cx="2057400" cy="365125"/>
          </a:xfrm>
        </p:spPr>
        <p:txBody>
          <a:bodyPr/>
          <a:lstStyle/>
          <a:p>
            <a:r>
              <a:rPr kumimoji="1" lang="en-US" altLang="zh-CN"/>
              <a:t>Page</a:t>
            </a:r>
            <a:r>
              <a:rPr kumimoji="1" lang="zh-CN" altLang="en-US"/>
              <a:t> </a:t>
            </a:r>
            <a:fld id="{FD7712BB-E452-0044-8976-96395B1FFD36}" type="slidenum">
              <a:rPr kumimoji="1" lang="zh-CN" altLang="en-US" smtClean="0"/>
              <a:t>7</a:t>
            </a:fld>
            <a:endParaRPr kumimoji="1" lang="zh-CN" alt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dirty="0"/>
              <a:t>实验：无人机</a:t>
            </a:r>
            <a:r>
              <a:rPr lang="zh-CN" dirty="0">
                <a:sym typeface="+mn-ea"/>
              </a:rPr>
              <a:t>飞行控制</a:t>
            </a:r>
            <a:r>
              <a:rPr lang="en-US" altLang="zh-CN" dirty="0">
                <a:sym typeface="+mn-ea"/>
              </a:rPr>
              <a:t>demo</a:t>
            </a:r>
            <a:endParaRPr lang="zh-CN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3500" y="847090"/>
            <a:ext cx="90805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ym typeface="+mn-ea"/>
              </a:rPr>
              <a:t>除了使用键盘控制之外，还可以使用写好的脚本对无人机进行控制</a:t>
            </a:r>
          </a:p>
          <a:p>
            <a:endParaRPr lang="zh-CN" altLang="en-US" dirty="0">
              <a:solidFill>
                <a:srgbClr val="C00000"/>
              </a:solidFill>
              <a:sym typeface="+mn-ea"/>
            </a:endParaRPr>
          </a:p>
          <a:p>
            <a:r>
              <a:rPr lang="en-US" altLang="zh-CN" dirty="0">
                <a:solidFill>
                  <a:srgbClr val="C00000"/>
                </a:solidFill>
                <a:sym typeface="+mn-ea"/>
              </a:rPr>
              <a:t>【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课上任务</a:t>
            </a:r>
            <a:r>
              <a:rPr lang="en-US" altLang="zh-CN" dirty="0">
                <a:solidFill>
                  <a:srgbClr val="C00000"/>
                </a:solidFill>
                <a:sym typeface="+mn-ea"/>
              </a:rPr>
              <a:t>】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请用rosru</a:t>
            </a:r>
            <a:r>
              <a:rPr lang="en-US" altLang="zh-CN" dirty="0">
                <a:solidFill>
                  <a:srgbClr val="C00000"/>
                </a:solidFill>
                <a:sym typeface="+mn-ea"/>
              </a:rPr>
              <a:t>n</a:t>
            </a:r>
            <a:r>
              <a:rPr lang="zh-CN" altLang="en-US" dirty="0">
                <a:solidFill>
                  <a:srgbClr val="C00000"/>
                </a:solidFill>
                <a:sym typeface="+mn-ea"/>
              </a:rPr>
              <a:t>指令启动该脚本</a:t>
            </a:r>
            <a:endParaRPr lang="en-US" altLang="zh-CN" dirty="0">
              <a:solidFill>
                <a:srgbClr val="C00000"/>
              </a:solidFill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r>
              <a:rPr lang="zh-CN" altLang="en-US" dirty="0">
                <a:sym typeface="+mn-ea"/>
              </a:rPr>
              <a:t>具体代码参照</a:t>
            </a:r>
            <a:r>
              <a:rPr lang="en-US" altLang="zh-CN" dirty="0">
                <a:sym typeface="+mn-ea"/>
              </a:rPr>
              <a:t> </a:t>
            </a:r>
            <a:r>
              <a:rPr lang="en-US" altLang="zh-CN" i="1" u="sng" dirty="0" err="1">
                <a:sym typeface="+mn-ea"/>
              </a:rPr>
              <a:t>catkin_ws</a:t>
            </a:r>
            <a:r>
              <a:rPr lang="en-US" altLang="zh-CN" i="1" u="sng" dirty="0">
                <a:sym typeface="+mn-ea"/>
              </a:rPr>
              <a:t>/</a:t>
            </a:r>
            <a:r>
              <a:rPr lang="en-US" altLang="zh-CN" i="1" u="sng" dirty="0" err="1">
                <a:sym typeface="+mn-ea"/>
              </a:rPr>
              <a:t>src</a:t>
            </a:r>
            <a:r>
              <a:rPr lang="en-US" altLang="zh-CN" i="1" u="sng" dirty="0">
                <a:sym typeface="+mn-ea"/>
              </a:rPr>
              <a:t>/</a:t>
            </a:r>
            <a:r>
              <a:rPr lang="zh-CN" altLang="en-US" i="1" u="sng" dirty="0">
                <a:sym typeface="+mn-ea"/>
              </a:rPr>
              <a:t>hector_quadrotor/hector_quadrotor_demo/scripts/control_demo.py</a:t>
            </a:r>
          </a:p>
          <a:p>
            <a:endParaRPr lang="zh-CN" altLang="en-US" dirty="0"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" y="2926715"/>
            <a:ext cx="2317750" cy="325691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7480" y="3302000"/>
            <a:ext cx="4259580" cy="199072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63195" y="6191250"/>
            <a:ext cx="2921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定义了一些基本飞行指令</a:t>
            </a:r>
          </a:p>
        </p:txBody>
      </p:sp>
      <p:sp>
        <p:nvSpPr>
          <p:cNvPr id="19" name="文本框 18"/>
          <p:cNvSpPr txBox="1"/>
          <p:nvPr/>
        </p:nvSpPr>
        <p:spPr>
          <a:xfrm>
            <a:off x="3871595" y="5471160"/>
            <a:ext cx="47129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通过调用</a:t>
            </a:r>
            <a:r>
              <a:rPr lang="en-US" altLang="zh-CN"/>
              <a:t>PublishCmdVel</a:t>
            </a:r>
            <a:r>
              <a:rPr lang="zh-CN" altLang="en-US"/>
              <a:t>方法，来控制无人机飞行</a:t>
            </a:r>
          </a:p>
        </p:txBody>
      </p:sp>
      <p:sp>
        <p:nvSpPr>
          <p:cNvPr id="20" name="矩形 19"/>
          <p:cNvSpPr/>
          <p:nvPr/>
        </p:nvSpPr>
        <p:spPr>
          <a:xfrm>
            <a:off x="4436745" y="4197350"/>
            <a:ext cx="2489200" cy="74295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6755E94-8A58-8045-9507-752163575BAA}" type="datetime1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zh-CN"/>
              <a:t>NICS-efc</a:t>
            </a:r>
            <a:r>
              <a:rPr kumimoji="1" lang="zh-CN" altLang="en-US"/>
              <a:t> </a:t>
            </a:r>
            <a:r>
              <a:rPr kumimoji="1" lang="en-US" altLang="zh-CN"/>
              <a:t>Lab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7086600" y="6559234"/>
            <a:ext cx="2057400" cy="365125"/>
          </a:xfrm>
        </p:spPr>
        <p:txBody>
          <a:bodyPr/>
          <a:lstStyle/>
          <a:p>
            <a:r>
              <a:rPr kumimoji="1" lang="en-US" altLang="zh-CN"/>
              <a:t>Page</a:t>
            </a:r>
            <a:r>
              <a:rPr kumimoji="1" lang="zh-CN" altLang="en-US"/>
              <a:t> </a:t>
            </a:r>
            <a:fld id="{FD7712BB-E452-0044-8976-96395B1FFD36}" type="slidenum">
              <a:rPr kumimoji="1" lang="zh-CN" altLang="en-US" smtClean="0"/>
              <a:t>8</a:t>
            </a:fld>
            <a:endParaRPr kumimoji="1" lang="zh-CN" alt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实验：无人机</a:t>
            </a:r>
            <a:r>
              <a:rPr lang="zh-CN" altLang="zh-CN" dirty="0">
                <a:sym typeface="+mn-ea"/>
              </a:rPr>
              <a:t>飞行控制</a:t>
            </a:r>
            <a:r>
              <a:rPr lang="en-US" altLang="zh-CN" dirty="0">
                <a:sym typeface="+mn-ea"/>
              </a:rPr>
              <a:t>demo</a:t>
            </a:r>
            <a:endParaRPr lang="zh-CN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7020" y="847090"/>
            <a:ext cx="8451850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 u="sng" dirty="0" err="1">
                <a:sym typeface="+mn-ea"/>
              </a:rPr>
              <a:t>catkin_ws</a:t>
            </a:r>
            <a:r>
              <a:rPr lang="en-US" altLang="zh-CN" i="1" u="sng" dirty="0">
                <a:sym typeface="+mn-ea"/>
              </a:rPr>
              <a:t>/</a:t>
            </a:r>
            <a:r>
              <a:rPr lang="en-US" altLang="zh-CN" i="1" u="sng" dirty="0" err="1">
                <a:sym typeface="+mn-ea"/>
              </a:rPr>
              <a:t>src</a:t>
            </a:r>
            <a:r>
              <a:rPr lang="en-US" altLang="zh-CN" i="1" u="sng" dirty="0">
                <a:sym typeface="+mn-ea"/>
              </a:rPr>
              <a:t>/</a:t>
            </a:r>
            <a:r>
              <a:rPr lang="zh-CN" altLang="en-US" i="1" u="sng" dirty="0">
                <a:sym typeface="+mn-ea"/>
              </a:rPr>
              <a:t>hector_quadrotor/hector_quadrotor_demo/scripts/control_demo.py</a:t>
            </a:r>
          </a:p>
          <a:p>
            <a:r>
              <a:rPr lang="zh-CN" altLang="en-US" dirty="0">
                <a:sym typeface="+mn-ea"/>
              </a:rPr>
              <a:t>只能实现对速度的定时控制，即无人机移动一段时间后停止，后续任务中通过订阅位置信息可以更加精确地控制移动距离。</a:t>
            </a:r>
          </a:p>
          <a:p>
            <a:endParaRPr lang="en-US" altLang="zh-CN" dirty="0">
              <a:sym typeface="+mn-ea"/>
            </a:endParaRPr>
          </a:p>
          <a:p>
            <a:r>
              <a:rPr lang="en-US" altLang="zh-CN" dirty="0" err="1">
                <a:solidFill>
                  <a:srgbClr val="FF0000"/>
                </a:solidFill>
                <a:sym typeface="+mn-ea"/>
              </a:rPr>
              <a:t>rqt_graph</a:t>
            </a:r>
            <a:endParaRPr lang="zh-CN" altLang="en-US" i="1" u="sng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endParaRPr lang="en-US" altLang="zh-CN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olidFill>
                <a:srgbClr val="FF0000"/>
              </a:solidFill>
              <a:sym typeface="+mn-ea"/>
            </a:endParaRPr>
          </a:p>
          <a:p>
            <a:endParaRPr lang="zh-CN" altLang="en-US" dirty="0"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560" y="2430780"/>
            <a:ext cx="8449310" cy="11537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4"/>
          <a:srcRect t="45323"/>
          <a:stretch>
            <a:fillRect/>
          </a:stretch>
        </p:blipFill>
        <p:spPr>
          <a:xfrm>
            <a:off x="287020" y="4410075"/>
            <a:ext cx="8406130" cy="1514475"/>
          </a:xfrm>
          <a:prstGeom prst="rect">
            <a:avLst/>
          </a:prstGeom>
        </p:spPr>
      </p:pic>
      <p:sp>
        <p:nvSpPr>
          <p:cNvPr id="11" name="下箭头 10"/>
          <p:cNvSpPr/>
          <p:nvPr/>
        </p:nvSpPr>
        <p:spPr>
          <a:xfrm>
            <a:off x="4121785" y="3796030"/>
            <a:ext cx="423545" cy="614045"/>
          </a:xfrm>
          <a:prstGeom prst="down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A6755E94-8A58-8045-9507-752163575BAA}" type="datetime1">
              <a:rPr kumimoji="1" lang="zh-CN" altLang="en-US" smtClean="0"/>
              <a:t>2025/10/30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zh-CN"/>
              <a:t>NICS-efc</a:t>
            </a:r>
            <a:r>
              <a:rPr kumimoji="1" lang="zh-CN" altLang="en-US"/>
              <a:t> </a:t>
            </a:r>
            <a:r>
              <a:rPr kumimoji="1" lang="en-US" altLang="zh-CN"/>
              <a:t>Lab</a:t>
            </a:r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7086600" y="6559234"/>
            <a:ext cx="2057400" cy="365125"/>
          </a:xfrm>
        </p:spPr>
        <p:txBody>
          <a:bodyPr/>
          <a:lstStyle/>
          <a:p>
            <a:r>
              <a:rPr kumimoji="1" lang="en-US" altLang="zh-CN"/>
              <a:t>Page</a:t>
            </a:r>
            <a:r>
              <a:rPr kumimoji="1" lang="zh-CN" altLang="en-US"/>
              <a:t> </a:t>
            </a:r>
            <a:fld id="{FD7712BB-E452-0044-8976-96395B1FFD36}" type="slidenum">
              <a:rPr kumimoji="1" lang="zh-CN" altLang="en-US" smtClean="0"/>
              <a:t>9</a:t>
            </a:fld>
            <a:endParaRPr kumimoji="1" lang="zh-CN" alt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dirty="0"/>
              <a:t>实验：无人机</a:t>
            </a:r>
            <a:r>
              <a:rPr lang="zh-CN" altLang="zh-CN" dirty="0">
                <a:sym typeface="+mn-ea"/>
              </a:rPr>
              <a:t>飞行控制</a:t>
            </a:r>
            <a:r>
              <a:rPr lang="en-US" altLang="zh-CN" dirty="0">
                <a:sym typeface="+mn-ea"/>
              </a:rPr>
              <a:t>demo</a:t>
            </a:r>
            <a:endParaRPr lang="zh-CN" dirty="0"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87020" y="847090"/>
            <a:ext cx="8629650" cy="45231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i="1" u="sng">
              <a:sym typeface="+mn-ea"/>
            </a:endParaRPr>
          </a:p>
          <a:p>
            <a:r>
              <a:rPr lang="en-US" altLang="zh-CN" i="1" u="sng">
                <a:sym typeface="+mn-ea"/>
              </a:rPr>
              <a:t>catkin_ws/src/</a:t>
            </a:r>
            <a:r>
              <a:rPr lang="zh-CN" altLang="en-US" i="1" u="sng">
                <a:sym typeface="+mn-ea"/>
              </a:rPr>
              <a:t>hector_quadrotor/hector_quadrotor_demo/scripts/control_demo</a:t>
            </a:r>
            <a:r>
              <a:rPr lang="en-US" altLang="zh-CN" i="1" u="sng">
                <a:sym typeface="+mn-ea"/>
              </a:rPr>
              <a:t>2</a:t>
            </a:r>
            <a:r>
              <a:rPr lang="zh-CN" altLang="en-US" i="1" u="sng">
                <a:sym typeface="+mn-ea"/>
              </a:rPr>
              <a:t>.py运行结果</a:t>
            </a:r>
          </a:p>
          <a:p>
            <a:endParaRPr lang="zh-CN" altLang="en-US">
              <a:sym typeface="+mn-ea"/>
            </a:endParaRPr>
          </a:p>
          <a:p>
            <a:endParaRPr lang="en-US" altLang="zh-CN">
              <a:solidFill>
                <a:srgbClr val="FF0000"/>
              </a:solidFill>
              <a:sym typeface="+mn-ea"/>
            </a:endParaRPr>
          </a:p>
          <a:p>
            <a:endParaRPr lang="en-US" altLang="zh-CN">
              <a:solidFill>
                <a:srgbClr val="FF0000"/>
              </a:solidFill>
              <a:sym typeface="+mn-ea"/>
            </a:endParaRPr>
          </a:p>
          <a:p>
            <a:endParaRPr lang="en-US" altLang="zh-CN">
              <a:solidFill>
                <a:srgbClr val="FF0000"/>
              </a:solidFill>
              <a:sym typeface="+mn-ea"/>
            </a:endParaRPr>
          </a:p>
          <a:p>
            <a:endParaRPr lang="en-US" altLang="zh-CN">
              <a:solidFill>
                <a:srgbClr val="FF0000"/>
              </a:solidFill>
              <a:sym typeface="+mn-ea"/>
            </a:endParaRPr>
          </a:p>
          <a:p>
            <a:endParaRPr lang="en-US" altLang="zh-CN">
              <a:solidFill>
                <a:srgbClr val="FF0000"/>
              </a:solidFill>
              <a:sym typeface="+mn-ea"/>
            </a:endParaRPr>
          </a:p>
          <a:p>
            <a:endParaRPr lang="en-US" altLang="zh-CN">
              <a:solidFill>
                <a:srgbClr val="FF0000"/>
              </a:solidFill>
              <a:sym typeface="+mn-ea"/>
            </a:endParaRPr>
          </a:p>
          <a:p>
            <a:endParaRPr lang="en-US" altLang="zh-CN">
              <a:solidFill>
                <a:srgbClr val="FF0000"/>
              </a:solidFill>
              <a:sym typeface="+mn-ea"/>
            </a:endParaRPr>
          </a:p>
          <a:p>
            <a:endParaRPr lang="zh-CN" altLang="en-US">
              <a:solidFill>
                <a:srgbClr val="FF0000"/>
              </a:solidFill>
              <a:sym typeface="+mn-ea"/>
            </a:endParaRPr>
          </a:p>
          <a:p>
            <a:endParaRPr lang="zh-CN" altLang="en-US">
              <a:solidFill>
                <a:srgbClr val="FF0000"/>
              </a:solidFill>
              <a:sym typeface="+mn-ea"/>
            </a:endParaRPr>
          </a:p>
          <a:p>
            <a:endParaRPr lang="en-US" altLang="zh-CN">
              <a:solidFill>
                <a:srgbClr val="FF0000"/>
              </a:solidFill>
              <a:sym typeface="+mn-ea"/>
            </a:endParaRPr>
          </a:p>
          <a:p>
            <a:endParaRPr lang="zh-CN" altLang="en-US">
              <a:solidFill>
                <a:srgbClr val="FF0000"/>
              </a:solidFill>
              <a:sym typeface="+mn-ea"/>
            </a:endParaRPr>
          </a:p>
          <a:p>
            <a:endParaRPr lang="zh-CN" altLang="en-US"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050" y="2596515"/>
            <a:ext cx="2512695" cy="297243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020" y="2596515"/>
            <a:ext cx="4732020" cy="286893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288415" y="5568950"/>
            <a:ext cx="29997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gazebo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画面）</a:t>
            </a:r>
          </a:p>
        </p:txBody>
      </p:sp>
      <p:sp>
        <p:nvSpPr>
          <p:cNvPr id="11" name="文本框 10"/>
          <p:cNvSpPr txBox="1"/>
          <p:nvPr/>
        </p:nvSpPr>
        <p:spPr>
          <a:xfrm>
            <a:off x="5792470" y="5568950"/>
            <a:ext cx="29997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>
                <a:solidFill>
                  <a:schemeClr val="tx1"/>
                </a:solidFill>
                <a:sym typeface="+mn-ea"/>
              </a:rPr>
              <a:t>（</a:t>
            </a:r>
            <a:r>
              <a:rPr lang="en-US" altLang="zh-CN" sz="1400">
                <a:solidFill>
                  <a:schemeClr val="tx1"/>
                </a:solidFill>
                <a:sym typeface="+mn-ea"/>
              </a:rPr>
              <a:t>rviz camera </a:t>
            </a:r>
            <a:r>
              <a:rPr lang="zh-CN" altLang="en-US" sz="1400">
                <a:solidFill>
                  <a:schemeClr val="tx1"/>
                </a:solidFill>
                <a:sym typeface="+mn-ea"/>
              </a:rPr>
              <a:t>画面）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Q4ZjdlMzkxNTU0Y2VlNmUwNDY5ZmNiYmFiNDRkZj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2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00481_1*i*1"/>
  <p:tag name="KSO_WM_TEMPLATE_CATEGORY" val="diagram"/>
  <p:tag name="KSO_WM_TEMPLATE_INDEX" val="20200481"/>
  <p:tag name="KSO_WM_UNIT_LAYERLEVEL" val="1"/>
  <p:tag name="KSO_WM_TAG_VERSION" val="1.0"/>
  <p:tag name="KSO_WM_BEAUTIFY_FLAG" val="#wm#"/>
  <p:tag name="KSO_WM_UNIT_TYPE" val="i"/>
  <p:tag name="KSO_WM_UNIT_INDEX" val="1"/>
</p:tagLst>
</file>

<file path=ppt/theme/theme1.xml><?xml version="1.0" encoding="utf-8"?>
<a:theme xmlns:a="http://schemas.openxmlformats.org/drawingml/2006/main" name="Office 主题​​">
  <a:themeElements>
    <a:clrScheme name="自定义 3">
      <a:dk1>
        <a:srgbClr val="000000"/>
      </a:dk1>
      <a:lt1>
        <a:srgbClr val="FFFFFF"/>
      </a:lt1>
      <a:dk2>
        <a:srgbClr val="29809F"/>
      </a:dk2>
      <a:lt2>
        <a:srgbClr val="B4D5DC"/>
      </a:lt2>
      <a:accent1>
        <a:srgbClr val="0E52A4"/>
      </a:accent1>
      <a:accent2>
        <a:srgbClr val="347FD9"/>
      </a:accent2>
      <a:accent3>
        <a:srgbClr val="84B2CB"/>
      </a:accent3>
      <a:accent4>
        <a:srgbClr val="A6A8A7"/>
      </a:accent4>
      <a:accent5>
        <a:srgbClr val="DBF0F6"/>
      </a:accent5>
      <a:accent6>
        <a:srgbClr val="682E73"/>
      </a:accent6>
      <a:hlink>
        <a:srgbClr val="5E4E67"/>
      </a:hlink>
      <a:folHlink>
        <a:srgbClr val="A77B97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617</Words>
  <Application>Microsoft Office PowerPoint</Application>
  <PresentationFormat>全屏显示(4:3)</PresentationFormat>
  <Paragraphs>144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HelveticaNeueLT Std Lt</vt:lpstr>
      <vt:lpstr>等线</vt:lpstr>
      <vt:lpstr>黑体</vt:lpstr>
      <vt:lpstr>楷体</vt:lpstr>
      <vt:lpstr>Arial</vt:lpstr>
      <vt:lpstr>Calibri</vt:lpstr>
      <vt:lpstr>Cambria Math</vt:lpstr>
      <vt:lpstr>Times New Roman</vt:lpstr>
      <vt:lpstr>Wingdings</vt:lpstr>
      <vt:lpstr>Office 主题​​</vt:lpstr>
      <vt:lpstr>无人机实验课：仿真环境</vt:lpstr>
      <vt:lpstr>课上演示实验</vt:lpstr>
      <vt:lpstr>演示：启动Gazebo环境</vt:lpstr>
      <vt:lpstr>演示：放置无人机到仿真中</vt:lpstr>
      <vt:lpstr>演示：启动键盘控制无人机</vt:lpstr>
      <vt:lpstr>演示：无人机位置数据订阅</vt:lpstr>
      <vt:lpstr>实验：无人机飞行控制demo</vt:lpstr>
      <vt:lpstr>实验：无人机飞行控制demo</vt:lpstr>
      <vt:lpstr>实验：无人机飞行控制demo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Public copy</dc:creator>
  <cp:lastModifiedBy>Public copy</cp:lastModifiedBy>
  <cp:revision>946</cp:revision>
  <dcterms:created xsi:type="dcterms:W3CDTF">2024-10-06T13:40:00Z</dcterms:created>
  <dcterms:modified xsi:type="dcterms:W3CDTF">2025-10-30T02:47:46Z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65A7C15AE0F9B179946402678DC881EE_43</vt:lpwstr>
  </property>
  <property fmtid="{D5CDD505-2E9C-101B-9397-08002B2CF9AE}" pid="3" name="KSOProductBuildVer">
    <vt:lpwstr>2052-12.1.0.18276</vt:lpwstr>
  </property>
</Properties>
</file>