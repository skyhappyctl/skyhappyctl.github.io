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0"/>
  </p:handoutMasterIdLst>
  <p:sldIdLst>
    <p:sldId id="321" r:id="rId3"/>
    <p:sldId id="257" r:id="rId5"/>
    <p:sldId id="323" r:id="rId6"/>
    <p:sldId id="345" r:id="rId7"/>
    <p:sldId id="347" r:id="rId8"/>
    <p:sldId id="343" r:id="rId9"/>
    <p:sldId id="348" r:id="rId10"/>
    <p:sldId id="346" r:id="rId11"/>
    <p:sldId id="349" r:id="rId12"/>
    <p:sldId id="331" r:id="rId13"/>
    <p:sldId id="325" r:id="rId14"/>
    <p:sldId id="326" r:id="rId15"/>
    <p:sldId id="332" r:id="rId16"/>
    <p:sldId id="327" r:id="rId17"/>
    <p:sldId id="328" r:id="rId18"/>
    <p:sldId id="333" r:id="rId19"/>
    <p:sldId id="329" r:id="rId20"/>
    <p:sldId id="330" r:id="rId21"/>
    <p:sldId id="334" r:id="rId22"/>
    <p:sldId id="335" r:id="rId23"/>
    <p:sldId id="339" r:id="rId24"/>
    <p:sldId id="340" r:id="rId25"/>
    <p:sldId id="338" r:id="rId26"/>
    <p:sldId id="341" r:id="rId27"/>
    <p:sldId id="342" r:id="rId28"/>
    <p:sldId id="318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49" userDrawn="1">
          <p15:clr>
            <a:srgbClr val="A4A3A4"/>
          </p15:clr>
        </p15:guide>
        <p15:guide id="2" pos="55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4455"/>
    <a:srgbClr val="595959"/>
    <a:srgbClr val="0062AC"/>
    <a:srgbClr val="4B4E61"/>
    <a:srgbClr val="767171"/>
    <a:srgbClr val="7F7F7F"/>
    <a:srgbClr val="019ED5"/>
    <a:srgbClr val="0070C0"/>
    <a:srgbClr val="F2F2F2"/>
    <a:srgbClr val="DE28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895" autoAdjust="0"/>
  </p:normalViewPr>
  <p:slideViewPr>
    <p:cSldViewPr snapToGrid="0" showGuides="1">
      <p:cViewPr>
        <p:scale>
          <a:sx n="95" d="100"/>
          <a:sy n="95" d="100"/>
        </p:scale>
        <p:origin x="69" y="174"/>
      </p:cViewPr>
      <p:guideLst>
        <p:guide orient="horz" pos="1049"/>
        <p:guide pos="5541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D3007C-0BBF-4CAD-B02F-7664B80466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7DC7C-EA85-41EA-BE8E-3BC04B9579C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1"/>
          <p:cNvSpPr txBox="1"/>
          <p:nvPr userDrawn="1"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0820CF-B880-4189-942D-D702A7CBA730}" type="datetimeFigureOut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10" name="表格 9"/>
          <p:cNvGraphicFramePr>
            <a:graphicFrameLocks noGrp="1"/>
          </p:cNvGraphicFramePr>
          <p:nvPr userDrawn="1"/>
        </p:nvGraphicFramePr>
        <p:xfrm>
          <a:off x="0" y="1355463"/>
          <a:ext cx="1691680" cy="38732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05296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36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绪论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36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界定与表征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36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合理交通结构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36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影响因素辨识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36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干预对策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11" name="直接连接符 10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1358722"/>
            <a:ext cx="1691680" cy="728261"/>
            <a:chOff x="0" y="1272662"/>
            <a:chExt cx="1691680" cy="788186"/>
          </a:xfrm>
        </p:grpSpPr>
        <p:sp>
          <p:nvSpPr>
            <p:cNvPr id="13" name="矩形 12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414455">
                <a:alpha val="89804"/>
              </a:srgb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/>
                <a:t>主要内容</a:t>
              </a:r>
              <a:endParaRPr lang="zh-CN" altLang="en-US" sz="2400" dirty="0"/>
            </a:p>
          </p:txBody>
        </p:sp>
        <p:sp>
          <p:nvSpPr>
            <p:cNvPr id="14" name="等腰三角形 13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文本框 15"/>
          <p:cNvSpPr txBox="1"/>
          <p:nvPr userDrawn="1"/>
        </p:nvSpPr>
        <p:spPr>
          <a:xfrm>
            <a:off x="2210764" y="509286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主要内容</a:t>
            </a:r>
            <a:endParaRPr lang="zh-CN" altLang="en-US" sz="4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050" name="Picture 2" descr="C:\Users\ASUS\Desktop\PPT\06  PPT\61清华大学\清华大学校徽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7437" y="257542"/>
            <a:ext cx="686452" cy="68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绪论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研究方法与思路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关键技术与难点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研究成果与应用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论文总结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0" name="组合 9"/>
          <p:cNvGrpSpPr/>
          <p:nvPr userDrawn="1"/>
        </p:nvGrpSpPr>
        <p:grpSpPr>
          <a:xfrm>
            <a:off x="0" y="1272662"/>
            <a:ext cx="1691680" cy="788186"/>
            <a:chOff x="0" y="1272662"/>
            <a:chExt cx="1691680" cy="788186"/>
          </a:xfrm>
        </p:grpSpPr>
        <p:sp>
          <p:nvSpPr>
            <p:cNvPr id="11" name="矩形 10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4144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绪论</a:t>
              </a:r>
              <a:endPara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等腰三角形 11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3" name="直接连接符 12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 userDrawn="1"/>
        </p:nvSpPr>
        <p:spPr>
          <a:xfrm>
            <a:off x="2210764" y="509286"/>
            <a:ext cx="14670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绪 论</a:t>
            </a:r>
            <a:endParaRPr lang="zh-CN" altLang="en-US" sz="4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五边形 15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</a:fld>
            <a:endParaRPr lang="zh-CN" altLang="en-US" kern="0" dirty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8605894" y="1399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9713890" y="116016"/>
            <a:ext cx="0" cy="382032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 userDrawn="1"/>
        </p:nvSpPr>
        <p:spPr>
          <a:xfrm>
            <a:off x="9713890" y="1399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研究意义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/>
          <p:nvPr userDrawn="1"/>
        </p:nvCxnSpPr>
        <p:spPr>
          <a:xfrm>
            <a:off x="10821886" y="116016"/>
            <a:ext cx="0" cy="382032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 userDrawn="1"/>
        </p:nvSpPr>
        <p:spPr>
          <a:xfrm>
            <a:off x="10821885" y="1287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贡献与创新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Picture 2" descr="C:\Users\ASUS\Desktop\PPT\06  PPT\61清华大学\清华大学校徽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7437" y="655085"/>
            <a:ext cx="686452" cy="68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绪论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1907704" y="1268760"/>
            <a:ext cx="869933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 userDrawn="1"/>
        </p:nvSpPr>
        <p:spPr>
          <a:xfrm>
            <a:off x="2210764" y="509286"/>
            <a:ext cx="14670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绪 论</a:t>
            </a:r>
            <a:endParaRPr lang="zh-CN" altLang="en-US" sz="4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五边形 15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</a:fld>
            <a:endParaRPr lang="zh-CN" altLang="en-US" kern="0" dirty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5" name="文本框 19"/>
          <p:cNvSpPr txBox="1"/>
          <p:nvPr userDrawn="1"/>
        </p:nvSpPr>
        <p:spPr>
          <a:xfrm>
            <a:off x="8605894" y="1399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7671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</a:t>
            </a:r>
            <a:endParaRPr lang="zh-CN" altLang="en-US" dirty="0">
              <a:solidFill>
                <a:srgbClr val="7671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9713890" y="116016"/>
            <a:ext cx="0" cy="382032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21"/>
          <p:cNvSpPr txBox="1"/>
          <p:nvPr userDrawn="1"/>
        </p:nvSpPr>
        <p:spPr>
          <a:xfrm>
            <a:off x="9713890" y="1399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研究意义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 userDrawn="1"/>
        </p:nvCxnSpPr>
        <p:spPr>
          <a:xfrm>
            <a:off x="10821886" y="116016"/>
            <a:ext cx="0" cy="382032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3"/>
          <p:cNvSpPr txBox="1"/>
          <p:nvPr userDrawn="1"/>
        </p:nvSpPr>
        <p:spPr>
          <a:xfrm>
            <a:off x="10821885" y="1287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贡献与创新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6" name="表格 25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研究方法与思路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关键技术与难点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研究成果与应用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论文总结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27" name="组合 26"/>
          <p:cNvGrpSpPr/>
          <p:nvPr userDrawn="1"/>
        </p:nvGrpSpPr>
        <p:grpSpPr>
          <a:xfrm>
            <a:off x="0" y="1272662"/>
            <a:ext cx="1691680" cy="788186"/>
            <a:chOff x="0" y="1272662"/>
            <a:chExt cx="1691680" cy="788186"/>
          </a:xfrm>
        </p:grpSpPr>
        <p:sp>
          <p:nvSpPr>
            <p:cNvPr id="28" name="矩形 27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4144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绪论</a:t>
              </a:r>
              <a:endPara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等腰三角形 28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0" name="Picture 2" descr="C:\Users\ASUS\Desktop\PPT\06  PPT\61清华大学\清华大学校徽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7437" y="655085"/>
            <a:ext cx="686452" cy="68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绪论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 userDrawn="1"/>
        </p:nvSpPr>
        <p:spPr>
          <a:xfrm>
            <a:off x="2210764" y="509286"/>
            <a:ext cx="14670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绪 论</a:t>
            </a:r>
            <a:endParaRPr lang="zh-CN" altLang="en-US" sz="4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五边形 15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</a:fld>
            <a:endParaRPr lang="zh-CN" altLang="en-US" kern="0" dirty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6" name="文本框 19"/>
          <p:cNvSpPr txBox="1"/>
          <p:nvPr userDrawn="1"/>
        </p:nvSpPr>
        <p:spPr>
          <a:xfrm>
            <a:off x="8605894" y="1399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7671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</a:t>
            </a:r>
            <a:endParaRPr lang="zh-CN" altLang="en-US" dirty="0">
              <a:solidFill>
                <a:srgbClr val="7671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9713890" y="116016"/>
            <a:ext cx="0" cy="382032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1"/>
          <p:cNvSpPr txBox="1"/>
          <p:nvPr userDrawn="1"/>
        </p:nvSpPr>
        <p:spPr>
          <a:xfrm>
            <a:off x="9713890" y="1399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7671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研究意义</a:t>
            </a:r>
            <a:endParaRPr lang="zh-CN" altLang="en-US" dirty="0">
              <a:solidFill>
                <a:srgbClr val="7671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直接连接符 28"/>
          <p:cNvCxnSpPr/>
          <p:nvPr userDrawn="1"/>
        </p:nvCxnSpPr>
        <p:spPr>
          <a:xfrm>
            <a:off x="10821886" y="116016"/>
            <a:ext cx="0" cy="382032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3"/>
          <p:cNvSpPr txBox="1"/>
          <p:nvPr userDrawn="1"/>
        </p:nvSpPr>
        <p:spPr>
          <a:xfrm>
            <a:off x="10821885" y="1287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贡献与创新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1" name="表格 30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研究方法与思路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关键技术与难点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研究成果与应用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论文总结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32" name="组合 31"/>
          <p:cNvGrpSpPr/>
          <p:nvPr userDrawn="1"/>
        </p:nvGrpSpPr>
        <p:grpSpPr>
          <a:xfrm>
            <a:off x="0" y="1272662"/>
            <a:ext cx="1691680" cy="788186"/>
            <a:chOff x="0" y="1272662"/>
            <a:chExt cx="1691680" cy="788186"/>
          </a:xfrm>
        </p:grpSpPr>
        <p:sp>
          <p:nvSpPr>
            <p:cNvPr id="33" name="矩形 32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4144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绪论</a:t>
              </a:r>
              <a:endPara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等腰三角形 33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5" name="Picture 2" descr="C:\Users\ASUS\Desktop\PPT\06  PPT\61清华大学\清华大学校徽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7437" y="655085"/>
            <a:ext cx="686452" cy="68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界定与表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 userDrawn="1"/>
        </p:nvSpPr>
        <p:spPr>
          <a:xfrm>
            <a:off x="2210764" y="520172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0" dirty="0">
                <a:latin typeface="黑体" panose="02010609060101010101" pitchFamily="49" charset="-122"/>
                <a:ea typeface="黑体" panose="02010609060101010101" pitchFamily="49" charset="-122"/>
              </a:rPr>
              <a:t>研究方法与思路</a:t>
            </a:r>
            <a:endParaRPr lang="zh-CN" altLang="en-US" sz="36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</a:fld>
            <a:endParaRPr lang="zh-CN" altLang="en-US" kern="0" dirty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 userDrawn="1"/>
        </p:nvGraphicFramePr>
        <p:xfrm>
          <a:off x="0" y="1268760"/>
          <a:ext cx="1691680" cy="39992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1296"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关键技术与难点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研究成果与应用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论文总结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7" name="组合 16"/>
          <p:cNvGrpSpPr/>
          <p:nvPr userDrawn="1"/>
        </p:nvGrpSpPr>
        <p:grpSpPr>
          <a:xfrm>
            <a:off x="0" y="1272662"/>
            <a:ext cx="1691680" cy="788186"/>
            <a:chOff x="0" y="1272662"/>
            <a:chExt cx="1691680" cy="788186"/>
          </a:xfrm>
        </p:grpSpPr>
        <p:sp>
          <p:nvSpPr>
            <p:cNvPr id="18" name="矩形 17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绪论</a:t>
              </a:r>
              <a:endPara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等腰三角形 18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/>
          <p:cNvGrpSpPr/>
          <p:nvPr userDrawn="1"/>
        </p:nvGrpSpPr>
        <p:grpSpPr>
          <a:xfrm>
            <a:off x="3668" y="2079006"/>
            <a:ext cx="1696206" cy="788186"/>
            <a:chOff x="2257770" y="1738764"/>
            <a:chExt cx="1696206" cy="788186"/>
          </a:xfrm>
        </p:grpSpPr>
        <p:grpSp>
          <p:nvGrpSpPr>
            <p:cNvPr id="27" name="组合 26"/>
            <p:cNvGrpSpPr/>
            <p:nvPr userDrawn="1"/>
          </p:nvGrpSpPr>
          <p:grpSpPr>
            <a:xfrm>
              <a:off x="2257770" y="1738764"/>
              <a:ext cx="1691680" cy="788186"/>
              <a:chOff x="0" y="1272662"/>
              <a:chExt cx="1691680" cy="788186"/>
            </a:xfrm>
            <a:solidFill>
              <a:srgbClr val="0070C0"/>
            </a:solidFill>
          </p:grpSpPr>
          <p:sp>
            <p:nvSpPr>
              <p:cNvPr id="28" name="矩形 27"/>
              <p:cNvSpPr/>
              <p:nvPr userDrawn="1"/>
            </p:nvSpPr>
            <p:spPr>
              <a:xfrm>
                <a:off x="0" y="1272662"/>
                <a:ext cx="1691680" cy="788186"/>
              </a:xfrm>
              <a:prstGeom prst="rect">
                <a:avLst/>
              </a:prstGeom>
              <a:solidFill>
                <a:srgbClr val="41445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研究方法与思路</a:t>
                </a: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等腰三角形 28"/>
              <p:cNvSpPr/>
              <p:nvPr userDrawn="1"/>
            </p:nvSpPr>
            <p:spPr>
              <a:xfrm rot="16200000">
                <a:off x="1547664" y="1594748"/>
                <a:ext cx="144016" cy="14401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0" name="等腰三角形 19"/>
            <p:cNvSpPr/>
            <p:nvPr userDrawn="1"/>
          </p:nvSpPr>
          <p:spPr>
            <a:xfrm rot="16200000">
              <a:off x="3809960" y="2082116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5" name="Picture 2" descr="C:\Users\ASUS\Desktop\PPT\06  PPT\61清华大学\清华大学校徽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7437" y="257542"/>
            <a:ext cx="686452" cy="68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合理交通结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绪论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关键技术与难点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4455"/>
                    </a:solidFill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研究成果与应用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论文总结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矩形 27"/>
          <p:cNvSpPr/>
          <p:nvPr userDrawn="1"/>
        </p:nvSpPr>
        <p:spPr>
          <a:xfrm>
            <a:off x="0" y="2064750"/>
            <a:ext cx="1691680" cy="78818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研究方法与思路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 userDrawn="1"/>
        </p:nvSpPr>
        <p:spPr>
          <a:xfrm>
            <a:off x="2210764" y="519919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关键技术与难点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</a:fld>
            <a:endParaRPr lang="zh-CN" altLang="en-US" kern="0" dirty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rot="16200000">
            <a:off x="1547664" y="3174235"/>
            <a:ext cx="144016" cy="14401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Picture 2" descr="C:\Users\ASUS\Desktop\PPT\06  PPT\61清华大学\清华大学校徽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7437" y="257542"/>
            <a:ext cx="686452" cy="68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影响因素辨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绪论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关键技术与难点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研究成果与应用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4455"/>
                    </a:solidFill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论文总结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矩形 27"/>
          <p:cNvSpPr/>
          <p:nvPr userDrawn="1"/>
        </p:nvSpPr>
        <p:spPr>
          <a:xfrm>
            <a:off x="0" y="2064750"/>
            <a:ext cx="1691680" cy="7673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研究方法与思路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 userDrawn="1"/>
        </p:nvSpPr>
        <p:spPr>
          <a:xfrm>
            <a:off x="2210764" y="519919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研究成果与应用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</a:fld>
            <a:endParaRPr lang="zh-CN" altLang="en-US" kern="0" dirty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547664" y="3948935"/>
            <a:ext cx="144016" cy="14401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2" descr="C:\Users\ASUS\Desktop\PPT\06  PPT\61清华大学\清华大学校徽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7437" y="257542"/>
            <a:ext cx="686452" cy="68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影响因素辨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绪论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关键技术与难点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研究成果与应用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4455"/>
                    </a:solidFill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论文总结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矩形 27"/>
          <p:cNvSpPr/>
          <p:nvPr userDrawn="1"/>
        </p:nvSpPr>
        <p:spPr>
          <a:xfrm>
            <a:off x="0" y="2064750"/>
            <a:ext cx="1691680" cy="7673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研究方法与思路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 userDrawn="1"/>
        </p:nvSpPr>
        <p:spPr>
          <a:xfrm>
            <a:off x="2210764" y="519919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研究成果与应用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</a:fld>
            <a:endParaRPr lang="zh-CN" altLang="en-US" kern="0" dirty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547664" y="3948935"/>
            <a:ext cx="144016" cy="14401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2" descr="C:\Users\ASUS\Desktop\PPT\06  PPT\61清华大学\清华大学校徽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7437" y="257542"/>
            <a:ext cx="686452" cy="68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影响因素辨识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 userDrawn="1"/>
        </p:nvSpPr>
        <p:spPr>
          <a:xfrm>
            <a:off x="2210764" y="531058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论文总结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</a:fld>
            <a:endParaRPr lang="zh-CN" altLang="en-US" kern="0" dirty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 userDrawn="1"/>
        </p:nvGraphicFramePr>
        <p:xfrm>
          <a:off x="8194" y="1295576"/>
          <a:ext cx="1691680" cy="39992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1296"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关键技术与难点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研究成果与应用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7" name="组合 16"/>
          <p:cNvGrpSpPr/>
          <p:nvPr userDrawn="1"/>
        </p:nvGrpSpPr>
        <p:grpSpPr>
          <a:xfrm>
            <a:off x="0" y="1272662"/>
            <a:ext cx="1691680" cy="788186"/>
            <a:chOff x="0" y="1272662"/>
            <a:chExt cx="1691680" cy="788186"/>
          </a:xfrm>
        </p:grpSpPr>
        <p:sp>
          <p:nvSpPr>
            <p:cNvPr id="18" name="矩形 17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绪论</a:t>
              </a:r>
              <a:endPara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等腰三角形 18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矩形 22"/>
          <p:cNvSpPr/>
          <p:nvPr userDrawn="1"/>
        </p:nvSpPr>
        <p:spPr>
          <a:xfrm>
            <a:off x="3668" y="2079006"/>
            <a:ext cx="1691680" cy="788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研究方法与思路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-2439" y="4510374"/>
            <a:ext cx="1691680" cy="788186"/>
            <a:chOff x="2311936" y="2060849"/>
            <a:chExt cx="1691680" cy="788186"/>
          </a:xfrm>
        </p:grpSpPr>
        <p:sp>
          <p:nvSpPr>
            <p:cNvPr id="14" name="矩形 13"/>
            <p:cNvSpPr/>
            <p:nvPr userDrawn="1"/>
          </p:nvSpPr>
          <p:spPr>
            <a:xfrm>
              <a:off x="2311936" y="2060849"/>
              <a:ext cx="1691680" cy="788186"/>
            </a:xfrm>
            <a:prstGeom prst="rect">
              <a:avLst/>
            </a:prstGeom>
            <a:solidFill>
              <a:srgbClr val="4144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/>
          </p:nvSpPr>
          <p:spPr>
            <a:xfrm rot="16200000">
              <a:off x="3857302" y="2382934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5" name="Picture 2" descr="C:\Users\ASUS\Desktop\PPT\06  PPT\61清华大学\清华大学校徽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7437" y="257542"/>
            <a:ext cx="686452" cy="68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61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1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682A8-D6B6-4FDA-A495-4D437BAFBB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DD927-E55F-4D12-BD2D-8ABE6C9127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AAB38-F5A3-43C5-844B-413AEF3C02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50DA7-01C9-499F-A740-DA0EEA53073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8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9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7.png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8.png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9.png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5243000" y="4036422"/>
            <a:ext cx="6949001" cy="760730"/>
          </a:xfrm>
          <a:prstGeom prst="rect">
            <a:avLst/>
          </a:prstGeom>
          <a:solidFill>
            <a:srgbClr val="414455"/>
          </a:solidFill>
          <a:ln>
            <a:solidFill>
              <a:srgbClr val="005A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782612" y="1694448"/>
            <a:ext cx="583340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320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第四组</a:t>
            </a:r>
            <a:endParaRPr lang="zh-CN" altLang="en-US" sz="320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82612" y="2291353"/>
            <a:ext cx="4913159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Lab 2 PE Array Design</a:t>
            </a:r>
            <a:b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Group 4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44284" y="4093621"/>
            <a:ext cx="7795424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组员：</a:t>
            </a:r>
            <a:b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管羽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贺湘杰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薛晟涛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陈天乐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周璟昊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蔡静雯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曾瀚章 苏创椿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1149196"/>
            <a:ext cx="1663516" cy="1504551"/>
          </a:xfrm>
          <a:prstGeom prst="rect">
            <a:avLst/>
          </a:prstGeom>
          <a:solidFill>
            <a:srgbClr val="4144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520" tIns="37760" rIns="75520" bIns="37760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82611" y="889077"/>
            <a:ext cx="6598293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480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实验二 阵列设计实验</a:t>
            </a:r>
            <a:endParaRPr lang="zh-CN" altLang="en-US" sz="480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 descr="C:\Users\ASUS\Desktop\PPT\06  PPT\61清华大学\清华大学校徽LOGO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89" y="1242598"/>
            <a:ext cx="1313337" cy="1317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Click="0" advTm="5000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/>
      <p:bldP spid="5" grpId="0"/>
      <p:bldP spid="6" grpId="0"/>
      <p:bldP spid="9" grpId="0" animBg="1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6000249" y="1647353"/>
            <a:ext cx="506412" cy="504825"/>
          </a:xfrm>
          <a:prstGeom prst="roundRect">
            <a:avLst/>
          </a:prstGeom>
          <a:solidFill>
            <a:srgbClr val="41445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200" dirty="0">
                <a:latin typeface="+mj-lt"/>
                <a:ea typeface="Arial Unicode MS" pitchFamily="34" charset="-122"/>
                <a:cs typeface="Arial Unicode MS" pitchFamily="34" charset="-122"/>
              </a:rPr>
              <a:t>1</a:t>
            </a:r>
            <a:endParaRPr lang="zh-CN" altLang="en-US" sz="3200" dirty="0">
              <a:latin typeface="+mj-lt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08286" y="1707717"/>
            <a:ext cx="19015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1*N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加法树阵列</a:t>
            </a:r>
            <a:endParaRPr lang="zh-CN" altLang="zh-CN" sz="18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000249" y="2401415"/>
            <a:ext cx="506412" cy="504825"/>
          </a:xfrm>
          <a:prstGeom prst="roundRect">
            <a:avLst/>
          </a:prstGeom>
          <a:solidFill>
            <a:srgbClr val="41445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200" dirty="0">
                <a:latin typeface="+mj-lt"/>
                <a:ea typeface="Arial Unicode MS" pitchFamily="34" charset="-122"/>
                <a:cs typeface="Arial Unicode MS" pitchFamily="34" charset="-122"/>
              </a:rPr>
              <a:t>2</a:t>
            </a:r>
            <a:endParaRPr lang="zh-CN" altLang="en-US" sz="3200" dirty="0">
              <a:latin typeface="+mj-lt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08286" y="2460708"/>
            <a:ext cx="2262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1*N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脉动阵列</a:t>
            </a:r>
            <a:endParaRPr lang="zh-CN" altLang="zh-CN" sz="18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000249" y="3155478"/>
            <a:ext cx="506412" cy="504825"/>
          </a:xfrm>
          <a:prstGeom prst="roundRect">
            <a:avLst/>
          </a:prstGeom>
          <a:solidFill>
            <a:srgbClr val="41445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200" dirty="0">
                <a:latin typeface="+mj-lt"/>
                <a:ea typeface="Arial Unicode MS" pitchFamily="34" charset="-122"/>
                <a:cs typeface="Arial Unicode MS" pitchFamily="34" charset="-122"/>
              </a:rPr>
              <a:t>3</a:t>
            </a:r>
            <a:endParaRPr lang="zh-CN" altLang="en-US" sz="3200" dirty="0">
              <a:latin typeface="+mj-lt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808286" y="3223224"/>
            <a:ext cx="18582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M*N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加法树阵列</a:t>
            </a:r>
            <a:endParaRPr lang="zh-CN" altLang="zh-CN" sz="18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6000249" y="3909540"/>
            <a:ext cx="506412" cy="504825"/>
          </a:xfrm>
          <a:prstGeom prst="roundRect">
            <a:avLst/>
          </a:prstGeom>
          <a:solidFill>
            <a:srgbClr val="41445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200" dirty="0">
                <a:latin typeface="+mj-lt"/>
                <a:ea typeface="Arial Unicode MS" pitchFamily="34" charset="-122"/>
                <a:cs typeface="Arial Unicode MS" pitchFamily="34" charset="-122"/>
              </a:rPr>
              <a:t>4</a:t>
            </a:r>
            <a:endParaRPr lang="zh-CN" altLang="en-US" sz="3200" dirty="0">
              <a:latin typeface="+mj-lt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08286" y="3985740"/>
            <a:ext cx="1627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M*N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脉动阵列</a:t>
            </a:r>
            <a:endParaRPr lang="en-US" altLang="zh-CN" sz="18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6000249" y="4663602"/>
            <a:ext cx="506412" cy="504825"/>
          </a:xfrm>
          <a:prstGeom prst="roundRect">
            <a:avLst/>
          </a:prstGeom>
          <a:solidFill>
            <a:srgbClr val="41445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200" dirty="0">
                <a:latin typeface="+mj-lt"/>
                <a:ea typeface="Arial Unicode MS" pitchFamily="34" charset="-122"/>
                <a:cs typeface="Arial Unicode MS" pitchFamily="34" charset="-122"/>
              </a:rPr>
              <a:t>5</a:t>
            </a:r>
            <a:endParaRPr lang="zh-CN" altLang="en-US" sz="3200" dirty="0">
              <a:latin typeface="+mj-lt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808286" y="4731348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思考题</a:t>
            </a:r>
            <a:endParaRPr lang="zh-CN" altLang="zh-CN" sz="18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0" y="0"/>
            <a:ext cx="3721100" cy="6858000"/>
          </a:xfrm>
          <a:prstGeom prst="rect">
            <a:avLst/>
          </a:prstGeom>
          <a:solidFill>
            <a:srgbClr val="4144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30023" y="1308116"/>
            <a:ext cx="230063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6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 录</a:t>
            </a:r>
            <a:endParaRPr lang="zh-CN" altLang="en-US" sz="66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257837" y="2593371"/>
            <a:ext cx="16450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Contents</a:t>
            </a:r>
            <a:endParaRPr lang="en-US" altLang="zh-CN" sz="32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876703" y="1618777"/>
            <a:ext cx="497964" cy="497964"/>
            <a:chOff x="6535243" y="2524701"/>
            <a:chExt cx="717051" cy="717051"/>
          </a:xfrm>
        </p:grpSpPr>
        <p:sp>
          <p:nvSpPr>
            <p:cNvPr id="16" name="泪滴形 15"/>
            <p:cNvSpPr/>
            <p:nvPr/>
          </p:nvSpPr>
          <p:spPr>
            <a:xfrm rot="8247616">
              <a:off x="6535243" y="2524701"/>
              <a:ext cx="717051" cy="717051"/>
            </a:xfrm>
            <a:prstGeom prst="teardrop">
              <a:avLst/>
            </a:prstGeom>
            <a:solidFill>
              <a:srgbClr val="0062AC"/>
            </a:solidFill>
            <a:ln>
              <a:solidFill>
                <a:srgbClr val="0062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6604000" y="2588424"/>
              <a:ext cx="574014" cy="57401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62AC"/>
              </a:solidFill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737 0.04121 L -6.25E-7 -3.33333E-6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6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3737 0.0412 L -6.25E-7 2.96296E-6 " pathEditMode="relative" rAng="0" ptsTypes="AA">
                                      <p:cBhvr>
                                        <p:cTn id="17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6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3737 0.0412 L -6.25E-7 -7.40741E-7 " pathEditMode="relative" rAng="0" ptsTypes="AA">
                                      <p:cBhvr>
                                        <p:cTn id="25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6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3737 0.04121 L -6.25E-7 -4.44444E-6 " pathEditMode="relative" rAng="0" ptsTypes="AA">
                                      <p:cBhvr>
                                        <p:cTn id="33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6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3737 0.0412 L -6.25E-7 1.85185E-6 " pathEditMode="relative" rAng="0" ptsTypes="AA">
                                      <p:cBhvr>
                                        <p:cTn id="41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/>
      <p:bldP spid="7" grpId="0" animBg="1"/>
      <p:bldP spid="7" grpId="1" animBg="1"/>
      <p:bldP spid="8" grpId="0"/>
      <p:bldP spid="9" grpId="0" animBg="1"/>
      <p:bldP spid="9" grpId="1" animBg="1"/>
      <p:bldP spid="10" grpId="0"/>
      <p:bldP spid="11" grpId="0" animBg="1"/>
      <p:bldP spid="11" grpId="1" animBg="1"/>
      <p:bldP spid="12" grpId="0"/>
      <p:bldP spid="13" grpId="0" animBg="1"/>
      <p:bldP spid="13" grpId="1" animBg="1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2" r="9886" b="2561"/>
          <a:stretch>
            <a:fillRect/>
          </a:stretch>
        </p:blipFill>
        <p:spPr bwMode="auto">
          <a:xfrm>
            <a:off x="6767565" y="1199377"/>
            <a:ext cx="4893548" cy="3066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3689" y="92299"/>
            <a:ext cx="1200318" cy="12193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46768" y="574535"/>
            <a:ext cx="8658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1*N</a:t>
            </a:r>
            <a:r>
              <a:rPr lang="zh-CN" altLang="en-US" sz="4000" b="1" dirty="0"/>
              <a:t>加法树阵列</a:t>
            </a:r>
            <a:endParaRPr lang="zh-CN" altLang="en-US" sz="40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1053128" y="1311669"/>
            <a:ext cx="10527597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要求</a:t>
            </a:r>
            <a:endParaRPr lang="en-US" altLang="zh-CN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(1) </a:t>
            </a:r>
            <a:r>
              <a:rPr lang="zh-CN" altLang="en-US" sz="2000" b="0" i="0" dirty="0">
                <a:solidFill>
                  <a:srgbClr val="262626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相邻乘法运算必须是为同一个输出目标而计算</a:t>
            </a:r>
            <a:endParaRPr lang="en-US" altLang="zh-CN" sz="2000" b="0" i="0" dirty="0">
              <a:solidFill>
                <a:srgbClr val="26262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000" dirty="0">
                <a:solidFill>
                  <a:srgbClr val="26262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(2) </a:t>
            </a:r>
            <a:r>
              <a:rPr lang="en-US" altLang="zh-CN" sz="20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zh-CN" altLang="en-US" sz="2000" dirty="0">
                <a:solidFill>
                  <a:srgbClr val="262626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个加法树</a:t>
            </a:r>
            <a:endParaRPr lang="en-US" altLang="zh-C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20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初步设计</a:t>
            </a:r>
            <a:endParaRPr lang="en-US" altLang="zh-C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(1) 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-US" altLang="zh-CN" sz="2000" dirty="0">
                <a:solidFill>
                  <a:srgbClr val="4144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</a:t>
            </a:r>
            <a:r>
              <a:rPr lang="zh-CN" alt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输入块：</a:t>
            </a:r>
            <a:r>
              <a:rPr lang="zh-CN" altLang="en-US" sz="2000" b="0" i="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每次处理</a:t>
            </a:r>
            <a:r>
              <a:rPr lang="en-US" altLang="zh-CN" sz="2000" b="0" i="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zh-CN" altLang="en-US" sz="2000" b="0" i="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个位置</a:t>
            </a:r>
            <a:r>
              <a:rPr lang="en-US" altLang="zh-CN" sz="2000" b="0" i="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*8</a:t>
            </a:r>
            <a:r>
              <a:rPr lang="zh-CN" altLang="en-US" sz="2000" b="0" i="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个输入元素</a:t>
            </a:r>
            <a:endParaRPr lang="en-US" altLang="zh-C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(2) </a:t>
            </a:r>
            <a:r>
              <a:rPr lang="en-US" altLang="zh-CN" sz="2000" dirty="0">
                <a:solidFill>
                  <a:srgbClr val="4144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*1</a:t>
            </a:r>
            <a:r>
              <a:rPr lang="zh-CN" alt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权重块：</a:t>
            </a:r>
            <a:r>
              <a:rPr lang="zh-CN" altLang="en-US" sz="2000" b="0" i="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每个输出通道的</a:t>
            </a:r>
            <a:r>
              <a:rPr lang="en-US" altLang="zh-CN" sz="2000" b="0" i="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</a:t>
            </a:r>
            <a:r>
              <a:rPr lang="zh-CN" altLang="en-US" sz="2000" b="0" i="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个权重</a:t>
            </a:r>
            <a:endParaRPr lang="en-US" altLang="zh-C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(3) </a:t>
            </a:r>
            <a:r>
              <a:rPr lang="zh-CN" alt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乘法器：</a:t>
            </a:r>
            <a:r>
              <a:rPr lang="en-US" altLang="zh-CN" sz="2000" dirty="0">
                <a:solidFill>
                  <a:srgbClr val="4144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80</a:t>
            </a:r>
            <a:r>
              <a:rPr lang="zh-CN" alt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个</a:t>
            </a:r>
            <a:endParaRPr lang="en-US" altLang="zh-C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(4) </a:t>
            </a:r>
            <a:r>
              <a:rPr lang="en-US" altLang="zh-CN" sz="2000" dirty="0">
                <a:solidFill>
                  <a:srgbClr val="4144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</a:t>
            </a:r>
            <a:r>
              <a:rPr lang="zh-CN" alt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输入加法树：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100/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altLang="zh-CN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zh-CN" alt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个   </a:t>
            </a:r>
            <a:r>
              <a:rPr lang="en-US" altLang="zh-C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—&gt;</a:t>
            </a:r>
            <a:r>
              <a:rPr lang="zh-CN" alt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有问题</a:t>
            </a:r>
            <a:endParaRPr lang="en-US" altLang="zh-C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20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数据流</a:t>
            </a:r>
            <a:endParaRPr lang="en-US" altLang="zh-C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sz="2000" kern="100" dirty="0"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逐行</a:t>
            </a:r>
            <a:r>
              <a:rPr lang="zh-CN" altLang="zh-CN" sz="2000" kern="100" dirty="0"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取出的</a:t>
            </a:r>
            <a:r>
              <a:rPr lang="zh-CN" altLang="en-US" sz="2000" kern="1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同一列的</a:t>
            </a:r>
            <a:r>
              <a:rPr lang="en-GB" altLang="zh-C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10*8</a:t>
            </a:r>
            <a:r>
              <a:rPr lang="zh-CN" altLang="zh-CN" sz="2000" kern="100" dirty="0"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输入</a:t>
            </a:r>
            <a:r>
              <a:rPr lang="zh-CN" altLang="en-US" sz="2000" kern="100" dirty="0"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块</a:t>
            </a:r>
            <a:r>
              <a:rPr lang="zh-CN" altLang="zh-CN" sz="2000" kern="100" dirty="0"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，分配给</a:t>
            </a:r>
            <a:r>
              <a:rPr lang="en-GB" altLang="zh-C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zh-CN" altLang="zh-CN" sz="2000" kern="100" dirty="0"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棵树，输出结果暂存至输出寄存器中</a:t>
            </a:r>
            <a:r>
              <a:rPr lang="zh-CN" altLang="en-US" sz="2000" kern="1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，</a:t>
            </a:r>
            <a:r>
              <a:rPr lang="zh-CN" altLang="zh-CN" sz="2000" kern="100" dirty="0"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等待累加，直到遍历完输入数据的所有列。随后，传入下一列的权重数据，重复以上进程，直至输出激活值的</a:t>
            </a:r>
            <a:r>
              <a:rPr lang="en-GB" altLang="zh-C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zh-CN" altLang="zh-CN" sz="2000" kern="100" dirty="0"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个列全部计算完成。</a:t>
            </a:r>
            <a:endParaRPr lang="zh-CN" altLang="zh-CN" sz="2000" kern="100" dirty="0">
              <a:effectLst/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endParaRPr lang="en-US" altLang="zh-C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3689" y="92299"/>
            <a:ext cx="1200318" cy="12193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46768" y="574535"/>
            <a:ext cx="8658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1*N</a:t>
            </a:r>
            <a:r>
              <a:rPr lang="zh-CN" altLang="en-US" sz="4000" b="1" dirty="0"/>
              <a:t>加法树阵列</a:t>
            </a:r>
            <a:endParaRPr lang="zh-CN" altLang="en-US" sz="40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6873927" y="1311669"/>
            <a:ext cx="5078588" cy="5015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ea typeface="+mj-ea"/>
                <a:cs typeface="Times New Roman" panose="02020603050405020304" pitchFamily="18" charset="0"/>
              </a:rPr>
              <a:t>最终设计</a:t>
            </a:r>
            <a:endParaRPr lang="en-US" altLang="zh-CN" sz="2000" dirty="0">
              <a:ea typeface="+mj-ea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ea typeface="+mj-ea"/>
                <a:cs typeface="Times New Roman" panose="02020603050405020304" pitchFamily="18" charset="0"/>
              </a:rPr>
              <a:t>(1) 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ea typeface="+mj-ea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ea typeface="+mj-ea"/>
                <a:cs typeface="Times New Roman" panose="02020603050405020304" pitchFamily="18" charset="0"/>
              </a:rPr>
              <a:t>*</a:t>
            </a:r>
            <a:r>
              <a:rPr lang="en-US" altLang="zh-CN" sz="2000" dirty="0">
                <a:solidFill>
                  <a:srgbClr val="414455"/>
                </a:solidFill>
                <a:ea typeface="+mj-ea"/>
                <a:cs typeface="Times New Roman" panose="02020603050405020304" pitchFamily="18" charset="0"/>
              </a:rPr>
              <a:t>8</a:t>
            </a:r>
            <a:r>
              <a:rPr lang="zh-CN" altLang="en-US" sz="2000" dirty="0">
                <a:ea typeface="+mj-ea"/>
                <a:cs typeface="Times New Roman" panose="02020603050405020304" pitchFamily="18" charset="0"/>
              </a:rPr>
              <a:t>输入块：</a:t>
            </a:r>
            <a:r>
              <a:rPr lang="zh-CN" altLang="en-US" sz="2000" b="0" i="0" dirty="0">
                <a:solidFill>
                  <a:srgbClr val="404040"/>
                </a:solidFill>
                <a:effectLst/>
                <a:ea typeface="+mj-ea"/>
              </a:rPr>
              <a:t>每次处理</a:t>
            </a:r>
            <a:r>
              <a:rPr lang="en-US" altLang="zh-CN" sz="2000" b="0" i="0" dirty="0">
                <a:solidFill>
                  <a:srgbClr val="404040"/>
                </a:solidFill>
                <a:effectLst/>
                <a:ea typeface="+mj-ea"/>
              </a:rPr>
              <a:t>10</a:t>
            </a:r>
            <a:r>
              <a:rPr lang="zh-CN" altLang="en-US" sz="2000" b="0" i="0" dirty="0">
                <a:solidFill>
                  <a:srgbClr val="404040"/>
                </a:solidFill>
                <a:effectLst/>
                <a:ea typeface="+mj-ea"/>
              </a:rPr>
              <a:t>个位置</a:t>
            </a:r>
            <a:r>
              <a:rPr lang="en-US" altLang="zh-CN" sz="2000" b="0" i="0" dirty="0">
                <a:solidFill>
                  <a:srgbClr val="404040"/>
                </a:solidFill>
                <a:effectLst/>
                <a:ea typeface="+mj-ea"/>
              </a:rPr>
              <a:t>*8</a:t>
            </a:r>
            <a:r>
              <a:rPr lang="zh-CN" altLang="en-US" sz="2000" b="0" i="0" dirty="0">
                <a:solidFill>
                  <a:srgbClr val="404040"/>
                </a:solidFill>
                <a:effectLst/>
                <a:ea typeface="+mj-ea"/>
              </a:rPr>
              <a:t>个输入元素</a:t>
            </a:r>
            <a:endParaRPr lang="en-US" altLang="zh-CN" sz="2000" dirty="0">
              <a:ea typeface="+mj-ea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ea typeface="+mj-ea"/>
                <a:cs typeface="Times New Roman" panose="02020603050405020304" pitchFamily="18" charset="0"/>
              </a:rPr>
              <a:t>(2) </a:t>
            </a:r>
            <a:r>
              <a:rPr lang="en-US" altLang="zh-CN" sz="2000" dirty="0">
                <a:solidFill>
                  <a:srgbClr val="414455"/>
                </a:solidFill>
                <a:ea typeface="+mj-ea"/>
                <a:cs typeface="Times New Roman" panose="02020603050405020304" pitchFamily="18" charset="0"/>
              </a:rPr>
              <a:t>8</a:t>
            </a:r>
            <a:r>
              <a:rPr lang="en-US" altLang="zh-CN" sz="2000" dirty="0">
                <a:ea typeface="+mj-ea"/>
                <a:cs typeface="Times New Roman" panose="02020603050405020304" pitchFamily="18" charset="0"/>
              </a:rPr>
              <a:t>*1</a:t>
            </a:r>
            <a:r>
              <a:rPr lang="zh-CN" altLang="en-US" sz="2000" dirty="0">
                <a:ea typeface="+mj-ea"/>
                <a:cs typeface="Times New Roman" panose="02020603050405020304" pitchFamily="18" charset="0"/>
              </a:rPr>
              <a:t>权重块：</a:t>
            </a:r>
            <a:r>
              <a:rPr lang="zh-CN" altLang="en-US" sz="2000" b="0" i="0" dirty="0">
                <a:solidFill>
                  <a:srgbClr val="404040"/>
                </a:solidFill>
                <a:effectLst/>
                <a:ea typeface="+mj-ea"/>
              </a:rPr>
              <a:t>每个输出通道的</a:t>
            </a:r>
            <a:r>
              <a:rPr lang="en-US" altLang="zh-CN" sz="2000" b="0" i="0" dirty="0">
                <a:solidFill>
                  <a:srgbClr val="404040"/>
                </a:solidFill>
                <a:effectLst/>
                <a:ea typeface="+mj-ea"/>
              </a:rPr>
              <a:t>8</a:t>
            </a:r>
            <a:r>
              <a:rPr lang="zh-CN" altLang="en-US" sz="2000" b="0" i="0" dirty="0">
                <a:solidFill>
                  <a:srgbClr val="404040"/>
                </a:solidFill>
                <a:effectLst/>
                <a:ea typeface="+mj-ea"/>
              </a:rPr>
              <a:t>个权重</a:t>
            </a:r>
            <a:endParaRPr lang="en-US" altLang="zh-CN" sz="2000" dirty="0">
              <a:ea typeface="+mj-ea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ea typeface="+mj-ea"/>
                <a:cs typeface="Times New Roman" panose="02020603050405020304" pitchFamily="18" charset="0"/>
              </a:rPr>
              <a:t>(3) </a:t>
            </a:r>
            <a:r>
              <a:rPr lang="zh-CN" altLang="en-US" sz="2000" dirty="0">
                <a:ea typeface="+mj-ea"/>
                <a:cs typeface="Times New Roman" panose="02020603050405020304" pitchFamily="18" charset="0"/>
              </a:rPr>
              <a:t>乘法器：</a:t>
            </a:r>
            <a:r>
              <a:rPr lang="en-US" altLang="zh-CN" sz="2000" dirty="0">
                <a:solidFill>
                  <a:srgbClr val="414455"/>
                </a:solidFill>
                <a:ea typeface="+mj-ea"/>
                <a:cs typeface="Times New Roman" panose="02020603050405020304" pitchFamily="18" charset="0"/>
              </a:rPr>
              <a:t>8</a:t>
            </a:r>
            <a:r>
              <a:rPr lang="en-US" altLang="zh-CN" sz="2000" dirty="0">
                <a:ea typeface="+mj-ea"/>
                <a:cs typeface="Times New Roman" panose="02020603050405020304" pitchFamily="18" charset="0"/>
              </a:rPr>
              <a:t>*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ea typeface="+mj-ea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ea typeface="+mj-ea"/>
                <a:cs typeface="Times New Roman" panose="02020603050405020304" pitchFamily="18" charset="0"/>
              </a:rPr>
              <a:t> = 8</a:t>
            </a:r>
            <a:r>
              <a:rPr lang="zh-CN" altLang="en-US" sz="2000" dirty="0">
                <a:ea typeface="+mj-ea"/>
                <a:cs typeface="Times New Roman" panose="02020603050405020304" pitchFamily="18" charset="0"/>
              </a:rPr>
              <a:t>个</a:t>
            </a:r>
            <a:endParaRPr lang="en-US" altLang="zh-CN" sz="2000" dirty="0">
              <a:ea typeface="+mj-ea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ea typeface="+mj-ea"/>
                <a:cs typeface="Times New Roman" panose="02020603050405020304" pitchFamily="18" charset="0"/>
              </a:rPr>
              <a:t>(4) </a:t>
            </a:r>
            <a:r>
              <a:rPr lang="zh-CN" altLang="en-US" sz="2000" dirty="0">
                <a:ea typeface="+mj-ea"/>
                <a:cs typeface="Times New Roman" panose="02020603050405020304" pitchFamily="18" charset="0"/>
              </a:rPr>
              <a:t>加法树：</a:t>
            </a:r>
            <a:r>
              <a:rPr lang="en-US" altLang="zh-CN" sz="2000" dirty="0"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ea typeface="+mj-ea"/>
                <a:cs typeface="Times New Roman" panose="02020603050405020304" pitchFamily="18" charset="0"/>
              </a:rPr>
              <a:t>个</a:t>
            </a:r>
            <a:endParaRPr lang="zh-CN" altLang="en-US" sz="2000" b="0" i="0" dirty="0">
              <a:solidFill>
                <a:srgbClr val="404040"/>
              </a:solidFill>
              <a:effectLst/>
              <a:ea typeface="+mj-ea"/>
            </a:endParaRPr>
          </a:p>
          <a:p>
            <a:endParaRPr lang="en-US" altLang="zh-CN" sz="2000" dirty="0">
              <a:ea typeface="+mj-ea"/>
              <a:cs typeface="Times New Roman" panose="02020603050405020304" pitchFamily="18" charset="0"/>
            </a:endParaRPr>
          </a:p>
          <a:p>
            <a:endParaRPr lang="en-US" altLang="zh-CN" sz="2000" dirty="0">
              <a:ea typeface="+mj-ea"/>
              <a:cs typeface="Times New Roman" panose="02020603050405020304" pitchFamily="18" charset="0"/>
            </a:endParaRPr>
          </a:p>
          <a:p>
            <a:r>
              <a:rPr lang="zh-CN" altLang="en-US" sz="2000" b="1" dirty="0">
                <a:ea typeface="+mj-ea"/>
                <a:cs typeface="Times New Roman" panose="02020603050405020304" pitchFamily="18" charset="0"/>
              </a:rPr>
              <a:t>数据流</a:t>
            </a:r>
            <a:endParaRPr lang="en-US" altLang="zh-CN" sz="2000" dirty="0">
              <a:ea typeface="+mj-ea"/>
              <a:cs typeface="Times New Roman" panose="02020603050405020304" pitchFamily="18" charset="0"/>
            </a:endParaRPr>
          </a:p>
          <a:p>
            <a:r>
              <a:rPr lang="zh-CN" altLang="en-US" sz="20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每周期按图示顺序取出</a:t>
            </a:r>
            <a:r>
              <a:rPr lang="en-US" altLang="zh-CN" sz="20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1*8</a:t>
            </a:r>
            <a:r>
              <a:rPr lang="zh-CN" altLang="en-US" sz="20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输入块和权重块，进入乘加树计算，输出结果暂存在寄存器中，等待累加。直到输入块遍历当前行，此时，输入</a:t>
            </a:r>
            <a:r>
              <a:rPr lang="zh-CN" altLang="en-US" sz="20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块移至下行首，权重块回到当前列首，重复上过程。一直到遍历完片上所有输入块后，权重块移至下列首，重复上过程</a:t>
            </a:r>
            <a:r>
              <a:rPr lang="en-US" altLang="zh-CN" sz="20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en-US" sz="20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次，输出最终结果。</a:t>
            </a:r>
            <a:endParaRPr lang="zh-CN" altLang="zh-CN" sz="2000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6203" y="1555160"/>
            <a:ext cx="5582042" cy="34137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3689" y="92299"/>
            <a:ext cx="1200318" cy="12193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46768" y="574535"/>
            <a:ext cx="8658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1*N</a:t>
            </a:r>
            <a:r>
              <a:rPr lang="zh-CN" altLang="en-US" sz="4000" b="1" dirty="0"/>
              <a:t>加法树阵列</a:t>
            </a:r>
            <a:endParaRPr lang="zh-CN" altLang="en-US" sz="4000" b="1" dirty="0"/>
          </a:p>
        </p:txBody>
      </p:sp>
      <p:pic>
        <p:nvPicPr>
          <p:cNvPr id="2" name="图片 1" descr="图片包含 瀑布图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603" y="1491347"/>
            <a:ext cx="5274310" cy="22440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873927" y="1311669"/>
            <a:ext cx="507858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ea typeface="+mj-ea"/>
                <a:cs typeface="Times New Roman" panose="02020603050405020304" pitchFamily="18" charset="0"/>
              </a:rPr>
              <a:t>参数</a:t>
            </a:r>
            <a:endParaRPr lang="en-US" altLang="zh-CN" sz="2000" b="1" dirty="0">
              <a:ea typeface="+mj-ea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算力 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= 8*100M=0.8Gps</a:t>
            </a:r>
            <a:endParaRPr lang="en-US" altLang="zh-CN" sz="20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计算量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算力 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=100*150*16/0.8G=300us</a:t>
            </a:r>
            <a:endParaRPr lang="en-US" altLang="zh-CN" sz="20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阵列利用率 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=300/352.03=85.22%</a:t>
            </a:r>
            <a:endParaRPr lang="en-US" altLang="zh-CN" sz="20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最高时钟频率 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=1/(10ns-1.392ns)=116.171MHz</a:t>
            </a:r>
            <a:endParaRPr lang="en-US" altLang="zh-CN" sz="20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IA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带宽需求 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=8b*8*100M=6.4Gbps</a:t>
            </a:r>
            <a:endParaRPr lang="en-US" altLang="zh-CN" sz="20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W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带宽需求 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=8b*8*100M=6.4Gbps</a:t>
            </a:r>
            <a:endParaRPr lang="en-US" altLang="zh-CN" sz="20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OA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带宽需求 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=8b*100M=0.8Gbps</a:t>
            </a:r>
            <a:endParaRPr lang="en-US" altLang="zh-CN" sz="20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IA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片上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buffer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容量 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=8b*8=64b</a:t>
            </a:r>
            <a:endParaRPr lang="en-US" altLang="zh-CN" sz="20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W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片上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buffer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容量 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=8b*8=64b</a:t>
            </a:r>
            <a:endParaRPr lang="en-US" altLang="zh-CN" sz="20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OA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片上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buffer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容量 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=8b</a:t>
            </a:r>
            <a:endParaRPr lang="en-US" altLang="zh-CN" sz="20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IA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片外访问总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bit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数 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=16*100*150*8b=1.92Mb</a:t>
            </a:r>
            <a:endParaRPr lang="en-US" altLang="zh-CN" sz="20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W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片外访问总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bit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数 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=16*100*150*8b=1.92Mb</a:t>
            </a:r>
            <a:endParaRPr lang="en-US" altLang="zh-CN" sz="20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OA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片外写回总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bit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数 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=16*100*8b=12.8Kb</a:t>
            </a:r>
            <a:endParaRPr lang="zh-CN" altLang="zh-CN" sz="2000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6000249" y="1647353"/>
            <a:ext cx="506412" cy="504825"/>
          </a:xfrm>
          <a:prstGeom prst="roundRect">
            <a:avLst/>
          </a:prstGeom>
          <a:solidFill>
            <a:srgbClr val="41445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200" dirty="0">
                <a:latin typeface="+mj-lt"/>
                <a:ea typeface="Arial Unicode MS" pitchFamily="34" charset="-122"/>
                <a:cs typeface="Arial Unicode MS" pitchFamily="34" charset="-122"/>
              </a:rPr>
              <a:t>1</a:t>
            </a:r>
            <a:endParaRPr lang="zh-CN" altLang="en-US" sz="3200" dirty="0">
              <a:latin typeface="+mj-lt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08286" y="1707717"/>
            <a:ext cx="19015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1*N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加法树阵列</a:t>
            </a:r>
            <a:endParaRPr lang="zh-CN" altLang="zh-CN" sz="18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000249" y="2401415"/>
            <a:ext cx="506412" cy="504825"/>
          </a:xfrm>
          <a:prstGeom prst="roundRect">
            <a:avLst/>
          </a:prstGeom>
          <a:solidFill>
            <a:srgbClr val="41445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200" dirty="0">
                <a:latin typeface="+mj-lt"/>
                <a:ea typeface="Arial Unicode MS" pitchFamily="34" charset="-122"/>
                <a:cs typeface="Arial Unicode MS" pitchFamily="34" charset="-122"/>
              </a:rPr>
              <a:t>2</a:t>
            </a:r>
            <a:endParaRPr lang="zh-CN" altLang="en-US" sz="3200" dirty="0">
              <a:latin typeface="+mj-lt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08286" y="2460708"/>
            <a:ext cx="2262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1*N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脉动阵列</a:t>
            </a:r>
            <a:endParaRPr lang="zh-CN" altLang="zh-CN" sz="18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000249" y="3155478"/>
            <a:ext cx="506412" cy="504825"/>
          </a:xfrm>
          <a:prstGeom prst="roundRect">
            <a:avLst/>
          </a:prstGeom>
          <a:solidFill>
            <a:srgbClr val="41445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200" dirty="0">
                <a:latin typeface="+mj-lt"/>
                <a:ea typeface="Arial Unicode MS" pitchFamily="34" charset="-122"/>
                <a:cs typeface="Arial Unicode MS" pitchFamily="34" charset="-122"/>
              </a:rPr>
              <a:t>3</a:t>
            </a:r>
            <a:endParaRPr lang="zh-CN" altLang="en-US" sz="3200" dirty="0">
              <a:latin typeface="+mj-lt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808286" y="3223224"/>
            <a:ext cx="18582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M*N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加法树阵列</a:t>
            </a:r>
            <a:endParaRPr lang="zh-CN" altLang="zh-CN" sz="18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6000249" y="3909540"/>
            <a:ext cx="506412" cy="504825"/>
          </a:xfrm>
          <a:prstGeom prst="roundRect">
            <a:avLst/>
          </a:prstGeom>
          <a:solidFill>
            <a:srgbClr val="41445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200" dirty="0">
                <a:latin typeface="+mj-lt"/>
                <a:ea typeface="Arial Unicode MS" pitchFamily="34" charset="-122"/>
                <a:cs typeface="Arial Unicode MS" pitchFamily="34" charset="-122"/>
              </a:rPr>
              <a:t>4</a:t>
            </a:r>
            <a:endParaRPr lang="zh-CN" altLang="en-US" sz="3200" dirty="0">
              <a:latin typeface="+mj-lt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08286" y="3985740"/>
            <a:ext cx="1627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M*N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脉动阵列</a:t>
            </a:r>
            <a:endParaRPr lang="en-US" altLang="zh-CN" sz="18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6000249" y="4663602"/>
            <a:ext cx="506412" cy="504825"/>
          </a:xfrm>
          <a:prstGeom prst="roundRect">
            <a:avLst/>
          </a:prstGeom>
          <a:solidFill>
            <a:srgbClr val="41445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200" dirty="0">
                <a:latin typeface="+mj-lt"/>
                <a:ea typeface="Arial Unicode MS" pitchFamily="34" charset="-122"/>
                <a:cs typeface="Arial Unicode MS" pitchFamily="34" charset="-122"/>
              </a:rPr>
              <a:t>5</a:t>
            </a:r>
            <a:endParaRPr lang="zh-CN" altLang="en-US" sz="3200" dirty="0">
              <a:latin typeface="+mj-lt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808286" y="4731348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思考题</a:t>
            </a:r>
            <a:endParaRPr lang="zh-CN" altLang="zh-CN" sz="18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0" y="0"/>
            <a:ext cx="3721100" cy="6858000"/>
          </a:xfrm>
          <a:prstGeom prst="rect">
            <a:avLst/>
          </a:prstGeom>
          <a:solidFill>
            <a:srgbClr val="4144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30023" y="1308116"/>
            <a:ext cx="230063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6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 录</a:t>
            </a:r>
            <a:endParaRPr lang="zh-CN" altLang="en-US" sz="66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257837" y="2593371"/>
            <a:ext cx="16450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Contents</a:t>
            </a:r>
            <a:endParaRPr lang="en-US" altLang="zh-CN" sz="32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933006" y="2344389"/>
            <a:ext cx="497964" cy="497964"/>
            <a:chOff x="6535243" y="2524701"/>
            <a:chExt cx="717051" cy="717051"/>
          </a:xfrm>
        </p:grpSpPr>
        <p:sp>
          <p:nvSpPr>
            <p:cNvPr id="16" name="泪滴形 15"/>
            <p:cNvSpPr/>
            <p:nvPr/>
          </p:nvSpPr>
          <p:spPr>
            <a:xfrm rot="8247616">
              <a:off x="6535243" y="2524701"/>
              <a:ext cx="717051" cy="717051"/>
            </a:xfrm>
            <a:prstGeom prst="teardrop">
              <a:avLst/>
            </a:prstGeom>
            <a:solidFill>
              <a:srgbClr val="0062AC"/>
            </a:solidFill>
            <a:ln>
              <a:solidFill>
                <a:srgbClr val="0062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6604000" y="2588424"/>
              <a:ext cx="574014" cy="57401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62AC"/>
              </a:solidFill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737 0.04121 L -6.25E-7 -3.33333E-6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6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3737 0.0412 L -6.25E-7 2.96296E-6 " pathEditMode="relative" rAng="0" ptsTypes="AA">
                                      <p:cBhvr>
                                        <p:cTn id="17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6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3737 0.0412 L -6.25E-7 -7.40741E-7 " pathEditMode="relative" rAng="0" ptsTypes="AA">
                                      <p:cBhvr>
                                        <p:cTn id="25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6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3737 0.04121 L -6.25E-7 -4.44444E-6 " pathEditMode="relative" rAng="0" ptsTypes="AA">
                                      <p:cBhvr>
                                        <p:cTn id="33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6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3737 0.0412 L -6.25E-7 1.85185E-6 " pathEditMode="relative" rAng="0" ptsTypes="AA">
                                      <p:cBhvr>
                                        <p:cTn id="41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/>
      <p:bldP spid="7" grpId="0" animBg="1"/>
      <p:bldP spid="7" grpId="1" animBg="1"/>
      <p:bldP spid="8" grpId="0"/>
      <p:bldP spid="9" grpId="0" animBg="1"/>
      <p:bldP spid="9" grpId="1" animBg="1"/>
      <p:bldP spid="10" grpId="0"/>
      <p:bldP spid="11" grpId="0" animBg="1"/>
      <p:bldP spid="11" grpId="1" animBg="1"/>
      <p:bldP spid="12" grpId="0"/>
      <p:bldP spid="13" grpId="0" animBg="1"/>
      <p:bldP spid="13" grpId="1" animBg="1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1" r="8957"/>
          <a:stretch>
            <a:fillRect/>
          </a:stretch>
        </p:blipFill>
        <p:spPr bwMode="auto">
          <a:xfrm>
            <a:off x="7378594" y="1205382"/>
            <a:ext cx="4657411" cy="3060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3689" y="92299"/>
            <a:ext cx="1200318" cy="12193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46768" y="574535"/>
            <a:ext cx="8658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1*N</a:t>
            </a:r>
            <a:r>
              <a:rPr lang="zh-CN" altLang="en-US" sz="4000" b="1" dirty="0"/>
              <a:t>脉动阵列</a:t>
            </a:r>
            <a:endParaRPr lang="zh-CN" altLang="en-US" sz="40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444276" y="1707309"/>
            <a:ext cx="849446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设计</a:t>
            </a:r>
            <a:endParaRPr lang="en-US" altLang="zh-C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000" dirty="0">
                <a:solidFill>
                  <a:srgbClr val="4144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(1) </a:t>
            </a:r>
            <a:r>
              <a:rPr lang="en-US" altLang="zh-CN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100*10</a:t>
            </a:r>
            <a:r>
              <a:rPr lang="zh-CN" alt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输入块：</a:t>
            </a:r>
            <a:endParaRPr lang="en-US" altLang="zh-CN" sz="2000" dirty="0"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r>
              <a:rPr lang="en-US" altLang="zh-CN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(2) 10*1</a:t>
            </a:r>
            <a:r>
              <a:rPr lang="zh-CN" alt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权重块：每个输出通道的</a:t>
            </a:r>
            <a:r>
              <a:rPr lang="en-US" altLang="zh-CN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8</a:t>
            </a:r>
            <a:r>
              <a:rPr lang="zh-CN" altLang="en-US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个权重</a:t>
            </a:r>
            <a:endParaRPr lang="en-US" altLang="zh-CN" sz="2000" dirty="0"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r>
              <a:rPr lang="en-US" altLang="zh-CN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(3)</a:t>
            </a:r>
            <a:r>
              <a:rPr lang="zh-CN" altLang="zh-CN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每组脉动包含</a:t>
            </a:r>
            <a:r>
              <a:rPr lang="en-GB" altLang="zh-CN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100+10-1=109</a:t>
            </a:r>
            <a:r>
              <a:rPr lang="zh-CN" altLang="zh-CN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次脉动</a:t>
            </a:r>
            <a:endParaRPr lang="en-US" altLang="zh-CN" sz="2000" dirty="0"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r>
              <a:rPr lang="en-US" altLang="zh-CN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(4)</a:t>
            </a:r>
            <a:r>
              <a:rPr lang="zh-CN" altLang="zh-CN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每次脉动传入</a:t>
            </a:r>
            <a:r>
              <a:rPr lang="en-GB" altLang="zh-CN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1*10</a:t>
            </a:r>
            <a:r>
              <a:rPr lang="zh-CN" altLang="zh-CN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（也有可能小于</a:t>
            </a:r>
            <a:r>
              <a:rPr lang="en-GB" altLang="zh-CN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10</a:t>
            </a:r>
            <a:r>
              <a:rPr lang="zh-CN" altLang="zh-CN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，用</a:t>
            </a:r>
            <a:r>
              <a:rPr lang="en-GB" altLang="zh-CN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0</a:t>
            </a:r>
            <a:r>
              <a:rPr lang="zh-CN" altLang="zh-CN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补齐）的输入</a:t>
            </a:r>
            <a:endParaRPr lang="en-US" altLang="zh-CN" sz="2000" dirty="0"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endParaRPr lang="en-US" altLang="zh-CN" sz="2000" dirty="0"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r>
              <a:rPr lang="zh-CN" altLang="en-US" sz="20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数据流</a:t>
            </a:r>
            <a:endParaRPr lang="en-US" altLang="zh-C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zh-CN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每次处理完</a:t>
            </a:r>
            <a:r>
              <a:rPr lang="en-GB" altLang="zh-CN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100*10</a:t>
            </a:r>
            <a:r>
              <a:rPr lang="zh-CN" altLang="zh-CN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的输入块后，输入块右移，权重块下移。整张输入数据遍历完一次后，即得到了输出激活值的一个列。随后，权重块移到下一列，输入块回到初始，重复以上进程，直至输出激活值的</a:t>
            </a:r>
            <a:r>
              <a:rPr lang="en-GB" altLang="zh-CN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16</a:t>
            </a:r>
            <a:r>
              <a:rPr lang="zh-CN" altLang="zh-CN" sz="20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个列全部计算完成。</a:t>
            </a:r>
            <a:endParaRPr lang="zh-CN" altLang="zh-CN" sz="2000" dirty="0"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endParaRPr lang="en-US" altLang="zh-C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3689" y="92299"/>
            <a:ext cx="1200318" cy="12193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46768" y="574535"/>
            <a:ext cx="8658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1*N</a:t>
            </a:r>
            <a:r>
              <a:rPr lang="zh-CN" altLang="en-US" sz="4000" b="1" dirty="0"/>
              <a:t>脉动阵列</a:t>
            </a:r>
            <a:endParaRPr lang="zh-CN" altLang="en-US" sz="40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61" y="1581397"/>
            <a:ext cx="4768780" cy="314039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530362" y="1767840"/>
            <a:ext cx="6096836" cy="2399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" indent="304800" algn="just">
              <a:lnSpc>
                <a:spcPct val="150000"/>
              </a:lnSpc>
              <a:buNone/>
            </a:pPr>
            <a:r>
              <a:rPr lang="zh-CN" altLang="zh-CN" sz="2000" kern="100" dirty="0"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与乘加树不同，只有处理最右边</a:t>
            </a:r>
            <a:r>
              <a:rPr lang="en-GB" altLang="zh-C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zh-CN" altLang="zh-CN" sz="2000" kern="100" dirty="0"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列的输入数据时脉冲阵列的输出才是输出激活值的大小，其余时候脉冲阵列输出的都是中间值，需要重新输入到脉冲序列的开头参与计算。（以</a:t>
            </a:r>
            <a:r>
              <a:rPr lang="en-GB" altLang="zh-C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4*3</a:t>
            </a:r>
            <a:r>
              <a:rPr lang="zh-CN" altLang="zh-CN" sz="2000" kern="100" dirty="0"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的输入块和含一列</a:t>
            </a:r>
            <a:r>
              <a:rPr lang="en-GB" altLang="zh-C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zh-CN" altLang="zh-CN" sz="2000" kern="100" dirty="0"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个计算单元的脉冲阵列为例）</a:t>
            </a:r>
            <a:endParaRPr lang="zh-CN" altLang="zh-CN" sz="2000" kern="100" dirty="0">
              <a:effectLst/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3689" y="92299"/>
            <a:ext cx="1200318" cy="12193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46768" y="574535"/>
            <a:ext cx="8658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1*N</a:t>
            </a:r>
            <a:r>
              <a:rPr lang="zh-CN" altLang="en-US" sz="4000" b="1" dirty="0"/>
              <a:t>脉动阵列</a:t>
            </a:r>
            <a:endParaRPr lang="zh-CN" altLang="en-US" sz="4000" b="1" dirty="0"/>
          </a:p>
        </p:txBody>
      </p:sp>
      <p:pic>
        <p:nvPicPr>
          <p:cNvPr id="5" name="图片 4" descr="图形用户界面&#10;&#10;AI 生成的内容可能不正确。"/>
          <p:cNvPicPr>
            <a:picLocks noChangeAspect="1"/>
          </p:cNvPicPr>
          <p:nvPr/>
        </p:nvPicPr>
        <p:blipFill>
          <a:blip r:embed="rId2"/>
          <a:srcRect l="25677" t="15849" r="18025"/>
          <a:stretch>
            <a:fillRect/>
          </a:stretch>
        </p:blipFill>
        <p:spPr>
          <a:xfrm>
            <a:off x="346668" y="1767840"/>
            <a:ext cx="5937866" cy="32613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873927" y="1311669"/>
            <a:ext cx="507858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ea typeface="+mj-ea"/>
                <a:cs typeface="Times New Roman" panose="02020603050405020304" pitchFamily="18" charset="0"/>
              </a:rPr>
              <a:t>参数</a:t>
            </a:r>
            <a:endParaRPr lang="en-US" altLang="zh-CN" sz="2000" b="1" dirty="0">
              <a:ea typeface="+mj-ea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算力 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=10*100M=1Gps</a:t>
            </a:r>
            <a:endParaRPr lang="en-US" altLang="zh-CN" sz="20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计算量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算力 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=100*150*16/1G=240us</a:t>
            </a:r>
            <a:endParaRPr lang="en-US" altLang="zh-CN" sz="20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阵列利用率 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=240/271.390=88.43%</a:t>
            </a:r>
            <a:endParaRPr lang="en-US" altLang="zh-CN" sz="20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最高时钟频率 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= 1/(10ns5.727ns)=234.028MHz</a:t>
            </a:r>
            <a:endParaRPr lang="en-US" altLang="zh-CN" sz="20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IA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带宽需求 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=8b*10*100M=8Gbps</a:t>
            </a:r>
            <a:endParaRPr lang="en-US" altLang="zh-CN" sz="20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W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带宽需求 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=8b*10*100M=8Gbps</a:t>
            </a:r>
            <a:endParaRPr lang="en-US" altLang="zh-CN" sz="20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OA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带宽需求 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=32b*100M=3.2Gbps</a:t>
            </a:r>
            <a:endParaRPr lang="en-US" altLang="zh-CN" sz="20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IA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片上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buffer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容量 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=8b*10=80b</a:t>
            </a:r>
            <a:endParaRPr lang="en-US" altLang="zh-CN" sz="20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W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片上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buffer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容量 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=8b*10=80b</a:t>
            </a:r>
            <a:endParaRPr lang="en-US" altLang="zh-CN" sz="20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OA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片上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buffer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容量 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=32b</a:t>
            </a:r>
            <a:endParaRPr lang="en-US" altLang="zh-CN" sz="20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IA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片外访问总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bit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数 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=16*100*150*8b=1.92Mb</a:t>
            </a:r>
            <a:endParaRPr lang="en-US" altLang="zh-CN" sz="20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W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片外访问总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bit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数 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=16*100*150*8b=1.92Mb</a:t>
            </a:r>
            <a:endParaRPr lang="en-US" altLang="zh-CN" sz="20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OA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片外写回总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bit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数 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=16*100*8b=12.8Kb</a:t>
            </a:r>
            <a:endParaRPr lang="en-US" altLang="zh-CN" sz="20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6000249" y="1647353"/>
            <a:ext cx="506412" cy="504825"/>
          </a:xfrm>
          <a:prstGeom prst="roundRect">
            <a:avLst/>
          </a:prstGeom>
          <a:solidFill>
            <a:srgbClr val="41445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200" dirty="0">
                <a:latin typeface="+mj-lt"/>
                <a:ea typeface="Arial Unicode MS" pitchFamily="34" charset="-122"/>
                <a:cs typeface="Arial Unicode MS" pitchFamily="34" charset="-122"/>
              </a:rPr>
              <a:t>1</a:t>
            </a:r>
            <a:endParaRPr lang="zh-CN" altLang="en-US" sz="3200" dirty="0">
              <a:latin typeface="+mj-lt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08286" y="1707717"/>
            <a:ext cx="19015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1*N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加法树阵列</a:t>
            </a:r>
            <a:endParaRPr lang="zh-CN" altLang="zh-CN" sz="18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000249" y="2401415"/>
            <a:ext cx="506412" cy="504825"/>
          </a:xfrm>
          <a:prstGeom prst="roundRect">
            <a:avLst/>
          </a:prstGeom>
          <a:solidFill>
            <a:srgbClr val="41445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200" dirty="0">
                <a:latin typeface="+mj-lt"/>
                <a:ea typeface="Arial Unicode MS" pitchFamily="34" charset="-122"/>
                <a:cs typeface="Arial Unicode MS" pitchFamily="34" charset="-122"/>
              </a:rPr>
              <a:t>2</a:t>
            </a:r>
            <a:endParaRPr lang="zh-CN" altLang="en-US" sz="3200" dirty="0">
              <a:latin typeface="+mj-lt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08286" y="2460708"/>
            <a:ext cx="2262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1*N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脉动阵列</a:t>
            </a:r>
            <a:endParaRPr lang="zh-CN" altLang="zh-CN" sz="18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000249" y="3155478"/>
            <a:ext cx="506412" cy="504825"/>
          </a:xfrm>
          <a:prstGeom prst="roundRect">
            <a:avLst/>
          </a:prstGeom>
          <a:solidFill>
            <a:srgbClr val="41445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200" dirty="0">
                <a:latin typeface="+mj-lt"/>
                <a:ea typeface="Arial Unicode MS" pitchFamily="34" charset="-122"/>
                <a:cs typeface="Arial Unicode MS" pitchFamily="34" charset="-122"/>
              </a:rPr>
              <a:t>3</a:t>
            </a:r>
            <a:endParaRPr lang="zh-CN" altLang="en-US" sz="3200" dirty="0">
              <a:latin typeface="+mj-lt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808286" y="3223224"/>
            <a:ext cx="18582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M*N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加法树阵列</a:t>
            </a:r>
            <a:endParaRPr lang="zh-CN" altLang="zh-CN" sz="18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6000249" y="3909540"/>
            <a:ext cx="506412" cy="504825"/>
          </a:xfrm>
          <a:prstGeom prst="roundRect">
            <a:avLst/>
          </a:prstGeom>
          <a:solidFill>
            <a:srgbClr val="41445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200" dirty="0">
                <a:latin typeface="+mj-lt"/>
                <a:ea typeface="Arial Unicode MS" pitchFamily="34" charset="-122"/>
                <a:cs typeface="Arial Unicode MS" pitchFamily="34" charset="-122"/>
              </a:rPr>
              <a:t>4</a:t>
            </a:r>
            <a:endParaRPr lang="zh-CN" altLang="en-US" sz="3200" dirty="0">
              <a:latin typeface="+mj-lt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08286" y="3985740"/>
            <a:ext cx="1627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M*N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脉动阵列</a:t>
            </a:r>
            <a:endParaRPr lang="en-US" altLang="zh-CN" sz="18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6000249" y="4663602"/>
            <a:ext cx="506412" cy="504825"/>
          </a:xfrm>
          <a:prstGeom prst="roundRect">
            <a:avLst/>
          </a:prstGeom>
          <a:solidFill>
            <a:srgbClr val="41445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200" dirty="0">
                <a:latin typeface="+mj-lt"/>
                <a:ea typeface="Arial Unicode MS" pitchFamily="34" charset="-122"/>
                <a:cs typeface="Arial Unicode MS" pitchFamily="34" charset="-122"/>
              </a:rPr>
              <a:t>5</a:t>
            </a:r>
            <a:endParaRPr lang="zh-CN" altLang="en-US" sz="3200" dirty="0">
              <a:latin typeface="+mj-lt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808286" y="4731348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思考题</a:t>
            </a:r>
            <a:endParaRPr lang="zh-CN" altLang="zh-CN" sz="18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0" y="0"/>
            <a:ext cx="3721100" cy="6858000"/>
          </a:xfrm>
          <a:prstGeom prst="rect">
            <a:avLst/>
          </a:prstGeom>
          <a:solidFill>
            <a:srgbClr val="4144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30023" y="1308116"/>
            <a:ext cx="230063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6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 录</a:t>
            </a:r>
            <a:endParaRPr lang="zh-CN" altLang="en-US" sz="66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257837" y="2593371"/>
            <a:ext cx="16450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Contents</a:t>
            </a:r>
            <a:endParaRPr lang="en-US" altLang="zh-CN" sz="32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933006" y="3094592"/>
            <a:ext cx="497964" cy="497964"/>
            <a:chOff x="6535243" y="2524701"/>
            <a:chExt cx="717051" cy="717051"/>
          </a:xfrm>
        </p:grpSpPr>
        <p:sp>
          <p:nvSpPr>
            <p:cNvPr id="16" name="泪滴形 15"/>
            <p:cNvSpPr/>
            <p:nvPr/>
          </p:nvSpPr>
          <p:spPr>
            <a:xfrm rot="8247616">
              <a:off x="6535243" y="2524701"/>
              <a:ext cx="717051" cy="717051"/>
            </a:xfrm>
            <a:prstGeom prst="teardrop">
              <a:avLst/>
            </a:prstGeom>
            <a:solidFill>
              <a:srgbClr val="0062AC"/>
            </a:solidFill>
            <a:ln>
              <a:solidFill>
                <a:srgbClr val="0062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6604000" y="2588424"/>
              <a:ext cx="574014" cy="57401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62AC"/>
              </a:solidFill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737 0.04121 L -6.25E-7 -3.33333E-6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6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3737 0.0412 L -6.25E-7 2.96296E-6 " pathEditMode="relative" rAng="0" ptsTypes="AA">
                                      <p:cBhvr>
                                        <p:cTn id="17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6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3737 0.0412 L -6.25E-7 -7.40741E-7 " pathEditMode="relative" rAng="0" ptsTypes="AA">
                                      <p:cBhvr>
                                        <p:cTn id="25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6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3737 0.04121 L -6.25E-7 -4.44444E-6 " pathEditMode="relative" rAng="0" ptsTypes="AA">
                                      <p:cBhvr>
                                        <p:cTn id="33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6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3737 0.0412 L -6.25E-7 1.85185E-6 " pathEditMode="relative" rAng="0" ptsTypes="AA">
                                      <p:cBhvr>
                                        <p:cTn id="41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/>
      <p:bldP spid="7" grpId="0" animBg="1"/>
      <p:bldP spid="7" grpId="1" animBg="1"/>
      <p:bldP spid="8" grpId="0"/>
      <p:bldP spid="9" grpId="0" animBg="1"/>
      <p:bldP spid="9" grpId="1" animBg="1"/>
      <p:bldP spid="10" grpId="0"/>
      <p:bldP spid="11" grpId="0" animBg="1"/>
      <p:bldP spid="11" grpId="1" animBg="1"/>
      <p:bldP spid="12" grpId="0"/>
      <p:bldP spid="13" grpId="0" animBg="1"/>
      <p:bldP spid="13" grpId="1" animBg="1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3689" y="92299"/>
            <a:ext cx="1200318" cy="12193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46768" y="574535"/>
            <a:ext cx="8658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M*N</a:t>
            </a:r>
            <a:r>
              <a:rPr lang="zh-CN" altLang="en-US" sz="4000" b="1" dirty="0"/>
              <a:t>加法树阵列</a:t>
            </a:r>
            <a:endParaRPr lang="zh-CN" altLang="en-US" sz="40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585879" y="1882260"/>
            <a:ext cx="462943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只需将</a:t>
            </a:r>
            <a:r>
              <a:rPr lang="en-US" altLang="zh-CN" sz="20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1*N</a:t>
            </a:r>
            <a:r>
              <a:rPr lang="zh-CN" altLang="zh-CN" sz="20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中的树复制</a:t>
            </a:r>
            <a:r>
              <a:rPr lang="en-US" altLang="zh-CN" sz="20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sz="20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个即可形成</a:t>
            </a:r>
            <a:r>
              <a:rPr lang="en-US" altLang="zh-CN" sz="20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M*N</a:t>
            </a:r>
            <a:r>
              <a:rPr lang="zh-CN" altLang="zh-CN" sz="20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乘累加树阵列。</a:t>
            </a:r>
            <a:endParaRPr lang="en-US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每周期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18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10*8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输入激活值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逐行分配给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棵乘累加树</a:t>
            </a:r>
            <a:endParaRPr lang="en-US" altLang="zh-CN" sz="18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1*8</a:t>
            </a:r>
            <a:r>
              <a:rPr lang="en-US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权重，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广播至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棵乘累加树</a:t>
            </a:r>
            <a:endParaRPr lang="en-US" altLang="zh-CN" sz="18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不同树中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输入激活值不同</a:t>
            </a:r>
            <a:r>
              <a:rPr lang="zh-CN" altLang="en-US" sz="18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权重相同</a:t>
            </a:r>
            <a:endParaRPr lang="en-US" altLang="zh-CN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输入激活值遍历完整块，权重遍历至下一列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待到权重遍历完整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列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，输出。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0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2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318" y="1998733"/>
            <a:ext cx="6918689" cy="3834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3689" y="92299"/>
            <a:ext cx="1200318" cy="12193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46768" y="574535"/>
            <a:ext cx="8658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M*N</a:t>
            </a:r>
            <a:r>
              <a:rPr lang="zh-CN" altLang="en-US" sz="4000" b="1" dirty="0"/>
              <a:t>加法树阵列</a:t>
            </a:r>
            <a:endParaRPr lang="zh-CN" altLang="en-US" sz="4000" b="1" dirty="0"/>
          </a:p>
        </p:txBody>
      </p:sp>
      <p:pic>
        <p:nvPicPr>
          <p:cNvPr id="2050" name="Picture 2" descr="图形用户界面, 应用程序&#10;&#10;AI 生成的内容可能不正确。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8" r="51175" b="-1338"/>
          <a:stretch>
            <a:fillRect/>
          </a:stretch>
        </p:blipFill>
        <p:spPr bwMode="auto">
          <a:xfrm>
            <a:off x="139793" y="1558133"/>
            <a:ext cx="5956207" cy="1836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图片 1" descr="图形用户界面, 应用程序&#10;&#10;AI 生成的内容可能不正确。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72" t="11873" r="7266"/>
          <a:stretch>
            <a:fillRect/>
          </a:stretch>
        </p:blipFill>
        <p:spPr bwMode="auto">
          <a:xfrm>
            <a:off x="139793" y="3596820"/>
            <a:ext cx="7041354" cy="2061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383721" y="12001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83721" y="3124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83721" y="4394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7" name="图片 6" descr="图形用户界面, 表格&#10;&#10;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5382" y="1429310"/>
            <a:ext cx="5053615" cy="2172093"/>
          </a:xfrm>
          <a:prstGeom prst="rect">
            <a:avLst/>
          </a:prstGeom>
        </p:spPr>
      </p:pic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7032062" y="1558133"/>
          <a:ext cx="5020145" cy="43513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57400"/>
                <a:gridCol w="1485900"/>
                <a:gridCol w="1476845"/>
              </a:tblGrid>
              <a:tr h="334718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 dirty="0">
                          <a:effectLst/>
                        </a:rPr>
                        <a:t>设计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1*8</a:t>
                      </a:r>
                      <a:r>
                        <a:rPr lang="zh-CN" sz="1400" kern="100" dirty="0">
                          <a:effectLst/>
                        </a:rPr>
                        <a:t>乘加树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10*8</a:t>
                      </a:r>
                      <a:r>
                        <a:rPr lang="zh-CN" sz="1400" kern="100">
                          <a:effectLst/>
                        </a:rPr>
                        <a:t>乘加树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</a:tr>
              <a:tr h="334718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 dirty="0">
                          <a:effectLst/>
                        </a:rPr>
                        <a:t>算力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0.8Gops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8Gops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</a:tr>
              <a:tr h="334718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 dirty="0">
                          <a:effectLst/>
                        </a:rPr>
                        <a:t>阵列利用率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85.22%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85.15%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</a:tr>
              <a:tr h="334718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 dirty="0">
                          <a:effectLst/>
                        </a:rPr>
                        <a:t>最高时钟频率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116.171MHz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113.934MHz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</a:tr>
              <a:tr h="334718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IA</a:t>
                      </a:r>
                      <a:r>
                        <a:rPr lang="zh-CN" sz="1400" kern="100">
                          <a:effectLst/>
                        </a:rPr>
                        <a:t>带宽需求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6.4Gbps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64Gbps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</a:tr>
              <a:tr h="334718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W</a:t>
                      </a:r>
                      <a:r>
                        <a:rPr lang="zh-CN" sz="1400" kern="100" dirty="0">
                          <a:effectLst/>
                        </a:rPr>
                        <a:t>带宽需求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6.4Gbps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6.4Gbps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</a:tr>
              <a:tr h="334718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OA</a:t>
                      </a:r>
                      <a:r>
                        <a:rPr lang="zh-CN" sz="1400" kern="100">
                          <a:effectLst/>
                        </a:rPr>
                        <a:t>带宽需求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0.8Gbps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8Gbps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</a:tr>
              <a:tr h="334718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IA</a:t>
                      </a:r>
                      <a:r>
                        <a:rPr lang="zh-CN" sz="1400" kern="100" dirty="0">
                          <a:effectLst/>
                        </a:rPr>
                        <a:t>片上</a:t>
                      </a:r>
                      <a:r>
                        <a:rPr lang="en-US" sz="1400" kern="100" dirty="0">
                          <a:effectLst/>
                        </a:rPr>
                        <a:t>buffer</a:t>
                      </a:r>
                      <a:r>
                        <a:rPr lang="zh-CN" sz="1400" kern="100" dirty="0">
                          <a:effectLst/>
                        </a:rPr>
                        <a:t>容量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64b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640b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</a:tr>
              <a:tr h="334718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W</a:t>
                      </a:r>
                      <a:r>
                        <a:rPr lang="zh-CN" sz="1400" kern="100">
                          <a:effectLst/>
                        </a:rPr>
                        <a:t>片上</a:t>
                      </a:r>
                      <a:r>
                        <a:rPr lang="en-US" sz="1400" kern="100">
                          <a:effectLst/>
                        </a:rPr>
                        <a:t>buffer</a:t>
                      </a:r>
                      <a:r>
                        <a:rPr lang="zh-CN" sz="1400" kern="100">
                          <a:effectLst/>
                        </a:rPr>
                        <a:t>容量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64b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64b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</a:tr>
              <a:tr h="334718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OA</a:t>
                      </a:r>
                      <a:r>
                        <a:rPr lang="zh-CN" sz="1400" kern="100">
                          <a:effectLst/>
                        </a:rPr>
                        <a:t>片上</a:t>
                      </a:r>
                      <a:r>
                        <a:rPr lang="en-US" sz="1400" kern="100">
                          <a:effectLst/>
                        </a:rPr>
                        <a:t>buffer</a:t>
                      </a:r>
                      <a:r>
                        <a:rPr lang="zh-CN" sz="1400" kern="100">
                          <a:effectLst/>
                        </a:rPr>
                        <a:t>容量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8b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80b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</a:tr>
              <a:tr h="334718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IA</a:t>
                      </a:r>
                      <a:r>
                        <a:rPr lang="zh-CN" sz="1400" kern="100">
                          <a:effectLst/>
                        </a:rPr>
                        <a:t>片外访问总</a:t>
                      </a:r>
                      <a:r>
                        <a:rPr lang="en-US" sz="1400" kern="100">
                          <a:effectLst/>
                        </a:rPr>
                        <a:t>bit</a:t>
                      </a:r>
                      <a:r>
                        <a:rPr lang="zh-CN" sz="1400" kern="100">
                          <a:effectLst/>
                        </a:rPr>
                        <a:t>数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1.92Mb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1.92Mb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</a:tr>
              <a:tr h="334718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W</a:t>
                      </a:r>
                      <a:r>
                        <a:rPr lang="zh-CN" sz="1400" kern="100">
                          <a:effectLst/>
                        </a:rPr>
                        <a:t>片外访问总</a:t>
                      </a:r>
                      <a:r>
                        <a:rPr lang="en-US" sz="1400" kern="100">
                          <a:effectLst/>
                        </a:rPr>
                        <a:t>bit</a:t>
                      </a:r>
                      <a:r>
                        <a:rPr lang="zh-CN" sz="1400" kern="100">
                          <a:effectLst/>
                        </a:rPr>
                        <a:t>数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1.92Mb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192Kb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</a:tr>
              <a:tr h="334718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OA</a:t>
                      </a:r>
                      <a:r>
                        <a:rPr lang="zh-CN" sz="1400" kern="100" dirty="0">
                          <a:effectLst/>
                        </a:rPr>
                        <a:t>片外写回总</a:t>
                      </a:r>
                      <a:r>
                        <a:rPr lang="en-US" sz="1400" kern="100" dirty="0">
                          <a:effectLst/>
                        </a:rPr>
                        <a:t>bit</a:t>
                      </a:r>
                      <a:r>
                        <a:rPr lang="zh-CN" sz="1400" kern="100" dirty="0">
                          <a:effectLst/>
                        </a:rPr>
                        <a:t>数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12.8Kb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12.8Kb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1967593" y="2715193"/>
            <a:ext cx="637789" cy="28805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6000249" y="1647353"/>
            <a:ext cx="506412" cy="504825"/>
          </a:xfrm>
          <a:prstGeom prst="roundRect">
            <a:avLst/>
          </a:prstGeom>
          <a:solidFill>
            <a:srgbClr val="41445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200" dirty="0">
                <a:latin typeface="+mj-lt"/>
                <a:ea typeface="Arial Unicode MS" pitchFamily="34" charset="-122"/>
                <a:cs typeface="Arial Unicode MS" pitchFamily="34" charset="-122"/>
              </a:rPr>
              <a:t>1</a:t>
            </a:r>
            <a:endParaRPr lang="zh-CN" altLang="en-US" sz="3200" dirty="0">
              <a:latin typeface="+mj-lt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08286" y="1707717"/>
            <a:ext cx="19015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1*N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加法树阵列</a:t>
            </a:r>
            <a:endParaRPr lang="zh-CN" altLang="zh-CN" sz="18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000249" y="2401415"/>
            <a:ext cx="506412" cy="504825"/>
          </a:xfrm>
          <a:prstGeom prst="roundRect">
            <a:avLst/>
          </a:prstGeom>
          <a:solidFill>
            <a:srgbClr val="41445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200" dirty="0">
                <a:latin typeface="+mj-lt"/>
                <a:ea typeface="Arial Unicode MS" pitchFamily="34" charset="-122"/>
                <a:cs typeface="Arial Unicode MS" pitchFamily="34" charset="-122"/>
              </a:rPr>
              <a:t>2</a:t>
            </a:r>
            <a:endParaRPr lang="zh-CN" altLang="en-US" sz="3200" dirty="0">
              <a:latin typeface="+mj-lt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08286" y="2460708"/>
            <a:ext cx="2262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1*N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脉动阵列</a:t>
            </a:r>
            <a:endParaRPr lang="zh-CN" altLang="zh-CN" sz="18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000249" y="3155478"/>
            <a:ext cx="506412" cy="504825"/>
          </a:xfrm>
          <a:prstGeom prst="roundRect">
            <a:avLst/>
          </a:prstGeom>
          <a:solidFill>
            <a:srgbClr val="41445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200" dirty="0">
                <a:latin typeface="+mj-lt"/>
                <a:ea typeface="Arial Unicode MS" pitchFamily="34" charset="-122"/>
                <a:cs typeface="Arial Unicode MS" pitchFamily="34" charset="-122"/>
              </a:rPr>
              <a:t>3</a:t>
            </a:r>
            <a:endParaRPr lang="zh-CN" altLang="en-US" sz="3200" dirty="0">
              <a:latin typeface="+mj-lt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808286" y="3223224"/>
            <a:ext cx="18582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M*N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加法树阵列</a:t>
            </a:r>
            <a:endParaRPr lang="zh-CN" altLang="zh-CN" sz="18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6000249" y="3909540"/>
            <a:ext cx="506412" cy="504825"/>
          </a:xfrm>
          <a:prstGeom prst="roundRect">
            <a:avLst/>
          </a:prstGeom>
          <a:solidFill>
            <a:srgbClr val="41445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200" dirty="0">
                <a:latin typeface="+mj-lt"/>
                <a:ea typeface="Arial Unicode MS" pitchFamily="34" charset="-122"/>
                <a:cs typeface="Arial Unicode MS" pitchFamily="34" charset="-122"/>
              </a:rPr>
              <a:t>4</a:t>
            </a:r>
            <a:endParaRPr lang="zh-CN" altLang="en-US" sz="3200" dirty="0">
              <a:latin typeface="+mj-lt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08286" y="3985740"/>
            <a:ext cx="1627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M*N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脉动阵列</a:t>
            </a:r>
            <a:endParaRPr lang="en-US" altLang="zh-CN" sz="18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6000249" y="4663602"/>
            <a:ext cx="506412" cy="504825"/>
          </a:xfrm>
          <a:prstGeom prst="roundRect">
            <a:avLst/>
          </a:prstGeom>
          <a:solidFill>
            <a:srgbClr val="41445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200" dirty="0">
                <a:latin typeface="+mj-lt"/>
                <a:ea typeface="Arial Unicode MS" pitchFamily="34" charset="-122"/>
                <a:cs typeface="Arial Unicode MS" pitchFamily="34" charset="-122"/>
              </a:rPr>
              <a:t>5</a:t>
            </a:r>
            <a:endParaRPr lang="zh-CN" altLang="en-US" sz="3200" dirty="0">
              <a:latin typeface="+mj-lt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808286" y="4731348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思考题</a:t>
            </a:r>
            <a:endParaRPr lang="zh-CN" altLang="zh-CN" sz="18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0" y="0"/>
            <a:ext cx="3721100" cy="6858000"/>
          </a:xfrm>
          <a:prstGeom prst="rect">
            <a:avLst/>
          </a:prstGeom>
          <a:solidFill>
            <a:srgbClr val="4144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30023" y="1308116"/>
            <a:ext cx="230063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6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 录</a:t>
            </a:r>
            <a:endParaRPr lang="zh-CN" altLang="en-US" sz="66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257837" y="2593371"/>
            <a:ext cx="16450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Contents</a:t>
            </a:r>
            <a:endParaRPr lang="en-US" altLang="zh-CN" sz="32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893032" y="3857108"/>
            <a:ext cx="497964" cy="497964"/>
            <a:chOff x="6535243" y="2524701"/>
            <a:chExt cx="717051" cy="717051"/>
          </a:xfrm>
        </p:grpSpPr>
        <p:sp>
          <p:nvSpPr>
            <p:cNvPr id="16" name="泪滴形 15"/>
            <p:cNvSpPr/>
            <p:nvPr/>
          </p:nvSpPr>
          <p:spPr>
            <a:xfrm rot="8247616">
              <a:off x="6535243" y="2524701"/>
              <a:ext cx="717051" cy="717051"/>
            </a:xfrm>
            <a:prstGeom prst="teardrop">
              <a:avLst/>
            </a:prstGeom>
            <a:solidFill>
              <a:srgbClr val="0062AC"/>
            </a:solidFill>
            <a:ln>
              <a:solidFill>
                <a:srgbClr val="0062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6604000" y="2588424"/>
              <a:ext cx="574014" cy="57401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62AC"/>
              </a:solidFill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737 0.04121 L -6.25E-7 -3.33333E-6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6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3737 0.0412 L -6.25E-7 2.96296E-6 " pathEditMode="relative" rAng="0" ptsTypes="AA">
                                      <p:cBhvr>
                                        <p:cTn id="17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6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3737 0.0412 L -6.25E-7 -7.40741E-7 " pathEditMode="relative" rAng="0" ptsTypes="AA">
                                      <p:cBhvr>
                                        <p:cTn id="25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6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3737 0.04121 L -6.25E-7 -4.44444E-6 " pathEditMode="relative" rAng="0" ptsTypes="AA">
                                      <p:cBhvr>
                                        <p:cTn id="33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6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3737 0.0412 L -6.25E-7 1.85185E-6 " pathEditMode="relative" rAng="0" ptsTypes="AA">
                                      <p:cBhvr>
                                        <p:cTn id="41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/>
      <p:bldP spid="7" grpId="0" animBg="1"/>
      <p:bldP spid="7" grpId="1" animBg="1"/>
      <p:bldP spid="8" grpId="0"/>
      <p:bldP spid="9" grpId="0" animBg="1"/>
      <p:bldP spid="9" grpId="1" animBg="1"/>
      <p:bldP spid="10" grpId="0"/>
      <p:bldP spid="11" grpId="0" animBg="1"/>
      <p:bldP spid="11" grpId="1" animBg="1"/>
      <p:bldP spid="12" grpId="0"/>
      <p:bldP spid="13" grpId="0" animBg="1"/>
      <p:bldP spid="13" grpId="1" animBg="1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3689" y="92299"/>
            <a:ext cx="1200318" cy="12193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46768" y="574535"/>
            <a:ext cx="8658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M*N</a:t>
            </a:r>
            <a:r>
              <a:rPr lang="zh-CN" altLang="en-US" sz="4000" b="1" dirty="0"/>
              <a:t>脉动阵列</a:t>
            </a:r>
            <a:endParaRPr lang="zh-CN" altLang="en-US" sz="40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50338" y="1979954"/>
            <a:ext cx="6890600" cy="383919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883139" y="1979954"/>
            <a:ext cx="449384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有</a:t>
            </a:r>
            <a:r>
              <a:rPr lang="en-US" altLang="zh-CN" sz="1800" kern="1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sz="1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列共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1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*10</a:t>
            </a:r>
            <a:r>
              <a:rPr lang="zh-CN" altLang="zh-CN" sz="1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个计算单元。</a:t>
            </a:r>
            <a:endParaRPr lang="en-US" altLang="zh-CN" sz="1800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1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每组脉动</a:t>
            </a:r>
            <a:r>
              <a:rPr lang="zh-CN" altLang="en-US" sz="1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10*M    </a:t>
            </a:r>
            <a:r>
              <a:rPr lang="zh-CN" altLang="zh-CN" sz="1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权重</a:t>
            </a:r>
            <a:r>
              <a:rPr lang="en-US" altLang="zh-CN" sz="1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               </a:t>
            </a:r>
            <a:r>
              <a:rPr lang="zh-CN" altLang="en-US" sz="1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逐个</a:t>
            </a:r>
            <a:r>
              <a:rPr lang="zh-CN" altLang="zh-CN" sz="1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映射到计算单元上</a:t>
            </a:r>
            <a:endParaRPr lang="en-US" altLang="zh-CN" sz="1800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100*10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输入激活值</a:t>
            </a:r>
            <a:r>
              <a:rPr lang="en-US" altLang="zh-CN" sz="1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1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按脉动时序流入阵列</a:t>
            </a:r>
            <a:endParaRPr lang="en-US" altLang="zh-CN" sz="1800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100+10-1=109</a:t>
            </a:r>
            <a:r>
              <a:rPr lang="zh-CN" altLang="zh-CN" sz="1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次脉动</a:t>
            </a:r>
            <a:endParaRPr lang="en-US" altLang="zh-CN" sz="1800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1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每次脉动</a:t>
            </a:r>
            <a:endParaRPr lang="en-US" altLang="zh-CN" sz="1800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1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传入</a:t>
            </a:r>
            <a:r>
              <a:rPr lang="en-US" altLang="zh-CN" sz="1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1*10</a:t>
            </a:r>
            <a:r>
              <a:rPr lang="zh-CN" altLang="zh-CN" sz="1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的输入</a:t>
            </a:r>
            <a:r>
              <a:rPr lang="zh-CN" altLang="en-US" sz="1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1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也可能小于</a:t>
            </a:r>
            <a:r>
              <a:rPr lang="en-US" altLang="zh-CN" sz="1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sz="1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，用</a:t>
            </a:r>
            <a:r>
              <a:rPr lang="en-US" altLang="zh-CN" sz="1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1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补齐</a:t>
            </a:r>
            <a:endParaRPr lang="en-US" altLang="zh-CN" sz="1800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kern="100" dirty="0">
                <a:ea typeface="宋体" panose="02010600030101010101" pitchFamily="2" charset="-122"/>
                <a:cs typeface="Times New Roman" panose="02020603050405020304" pitchFamily="18" charset="0"/>
              </a:rPr>
              <a:t>每组脉动</a:t>
            </a:r>
            <a:r>
              <a:rPr lang="zh-CN" altLang="en-US" sz="1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滑块沿箭头方向移动；权重块每列结束后进入下一列，同时激活块回到最左列重复该过程</a:t>
            </a:r>
            <a:r>
              <a:rPr lang="zh-CN" altLang="en-US" kern="100" dirty="0"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形用户界面, 文本, 应用程序&#10;&#10;AI 生成的内容可能不正确。"/>
          <p:cNvPicPr>
            <a:picLocks noChangeAspect="1"/>
          </p:cNvPicPr>
          <p:nvPr/>
        </p:nvPicPr>
        <p:blipFill>
          <a:blip r:embed="rId1"/>
          <a:srcRect r="75534"/>
          <a:stretch>
            <a:fillRect/>
          </a:stretch>
        </p:blipFill>
        <p:spPr>
          <a:xfrm>
            <a:off x="492369" y="1998839"/>
            <a:ext cx="3121204" cy="207198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3689" y="92299"/>
            <a:ext cx="1200318" cy="12193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46768" y="574535"/>
            <a:ext cx="8658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M*N</a:t>
            </a:r>
            <a:r>
              <a:rPr lang="zh-CN" altLang="en-US" sz="4000" b="1" dirty="0"/>
              <a:t>脉动阵列</a:t>
            </a:r>
            <a:endParaRPr lang="zh-CN" altLang="en-US" sz="4000" b="1" dirty="0"/>
          </a:p>
        </p:txBody>
      </p:sp>
      <p:pic>
        <p:nvPicPr>
          <p:cNvPr id="3074" name="图片 1" descr="图片包含 图形用户界面&#10;&#10;AI 生成的内容可能不正确。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037" b="8465"/>
          <a:stretch>
            <a:fillRect/>
          </a:stretch>
        </p:blipFill>
        <p:spPr bwMode="auto">
          <a:xfrm>
            <a:off x="3272413" y="1995678"/>
            <a:ext cx="3899442" cy="2107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" name="图片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096" y="4215839"/>
            <a:ext cx="6879079" cy="1251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492369" y="117230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492369" y="235340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492369" y="461400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492369" y="60300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959973" y="2988160"/>
            <a:ext cx="637789" cy="28805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7171855" y="1566545"/>
          <a:ext cx="5020145" cy="43513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57400"/>
                <a:gridCol w="1485900"/>
                <a:gridCol w="1476845"/>
              </a:tblGrid>
              <a:tr h="334718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 dirty="0">
                          <a:effectLst/>
                        </a:rPr>
                        <a:t>设计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1*10</a:t>
                      </a:r>
                      <a:r>
                        <a:rPr lang="zh-CN" altLang="en-US" sz="1400" kern="100" dirty="0">
                          <a:effectLst/>
                        </a:rPr>
                        <a:t>脉动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4*10</a:t>
                      </a:r>
                      <a:r>
                        <a:rPr lang="zh-CN" altLang="en-US" sz="1400" kern="100" dirty="0">
                          <a:effectLst/>
                        </a:rPr>
                        <a:t>脉动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</a:tr>
              <a:tr h="334718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 dirty="0">
                          <a:effectLst/>
                        </a:rPr>
                        <a:t>算力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1Gops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4Gops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</a:tr>
              <a:tr h="334718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 dirty="0">
                          <a:effectLst/>
                        </a:rPr>
                        <a:t>阵列利用率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88.43%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88.40%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</a:tr>
              <a:tr h="334718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 dirty="0">
                          <a:effectLst/>
                        </a:rPr>
                        <a:t>最高时钟频率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234.028MHz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232.180MHz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</a:tr>
              <a:tr h="334718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IA</a:t>
                      </a:r>
                      <a:r>
                        <a:rPr lang="zh-CN" sz="1400" kern="100">
                          <a:effectLst/>
                        </a:rPr>
                        <a:t>带宽需求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8Gbps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8Gbps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</a:tr>
              <a:tr h="334718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W</a:t>
                      </a:r>
                      <a:r>
                        <a:rPr lang="zh-CN" sz="1400" kern="100" dirty="0">
                          <a:effectLst/>
                        </a:rPr>
                        <a:t>带宽需求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8Gbps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32Gbps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</a:tr>
              <a:tr h="334718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OA</a:t>
                      </a:r>
                      <a:r>
                        <a:rPr lang="zh-CN" sz="1400" kern="100">
                          <a:effectLst/>
                        </a:rPr>
                        <a:t>带宽需求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3.2Gbps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12.8Gbps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</a:tr>
              <a:tr h="334718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IA</a:t>
                      </a:r>
                      <a:r>
                        <a:rPr lang="zh-CN" sz="1400" kern="100" dirty="0">
                          <a:effectLst/>
                        </a:rPr>
                        <a:t>片上</a:t>
                      </a:r>
                      <a:r>
                        <a:rPr lang="en-US" sz="1400" kern="100" dirty="0">
                          <a:effectLst/>
                        </a:rPr>
                        <a:t>buffer</a:t>
                      </a:r>
                      <a:r>
                        <a:rPr lang="zh-CN" sz="1400" kern="100" dirty="0">
                          <a:effectLst/>
                        </a:rPr>
                        <a:t>容量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80b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80b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</a:tr>
              <a:tr h="334718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W</a:t>
                      </a:r>
                      <a:r>
                        <a:rPr lang="zh-CN" sz="1400" kern="100">
                          <a:effectLst/>
                        </a:rPr>
                        <a:t>片上</a:t>
                      </a:r>
                      <a:r>
                        <a:rPr lang="en-US" sz="1400" kern="100">
                          <a:effectLst/>
                        </a:rPr>
                        <a:t>buffer</a:t>
                      </a:r>
                      <a:r>
                        <a:rPr lang="zh-CN" sz="1400" kern="100">
                          <a:effectLst/>
                        </a:rPr>
                        <a:t>容量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80b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320b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</a:tr>
              <a:tr h="334718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OA</a:t>
                      </a:r>
                      <a:r>
                        <a:rPr lang="zh-CN" sz="1400" kern="100">
                          <a:effectLst/>
                        </a:rPr>
                        <a:t>片上</a:t>
                      </a:r>
                      <a:r>
                        <a:rPr lang="en-US" sz="1400" kern="100">
                          <a:effectLst/>
                        </a:rPr>
                        <a:t>buffer</a:t>
                      </a:r>
                      <a:r>
                        <a:rPr lang="zh-CN" sz="1400" kern="100">
                          <a:effectLst/>
                        </a:rPr>
                        <a:t>容量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32b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128b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</a:tr>
              <a:tr h="334718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IA</a:t>
                      </a:r>
                      <a:r>
                        <a:rPr lang="zh-CN" sz="1400" kern="100">
                          <a:effectLst/>
                        </a:rPr>
                        <a:t>片外访问总</a:t>
                      </a:r>
                      <a:r>
                        <a:rPr lang="en-US" sz="1400" kern="100">
                          <a:effectLst/>
                        </a:rPr>
                        <a:t>bit</a:t>
                      </a:r>
                      <a:r>
                        <a:rPr lang="zh-CN" sz="1400" kern="100">
                          <a:effectLst/>
                        </a:rPr>
                        <a:t>数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1.92Mb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1.92Mb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</a:tr>
              <a:tr h="334718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W</a:t>
                      </a:r>
                      <a:r>
                        <a:rPr lang="zh-CN" sz="1400" kern="100">
                          <a:effectLst/>
                        </a:rPr>
                        <a:t>片外访问总</a:t>
                      </a:r>
                      <a:r>
                        <a:rPr lang="en-US" sz="1400" kern="100">
                          <a:effectLst/>
                        </a:rPr>
                        <a:t>bit</a:t>
                      </a:r>
                      <a:r>
                        <a:rPr lang="zh-CN" sz="1400" kern="100">
                          <a:effectLst/>
                        </a:rPr>
                        <a:t>数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1.92Mb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1.92</a:t>
                      </a:r>
                      <a:r>
                        <a:rPr lang="en-US" altLang="zh-CN" sz="1400" kern="100" dirty="0">
                          <a:effectLst/>
                        </a:rPr>
                        <a:t>M</a:t>
                      </a:r>
                      <a:r>
                        <a:rPr lang="en-US" sz="1400" kern="100" dirty="0">
                          <a:effectLst/>
                        </a:rPr>
                        <a:t>b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</a:tr>
              <a:tr h="334718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OA</a:t>
                      </a:r>
                      <a:r>
                        <a:rPr lang="zh-CN" sz="1400" kern="100" dirty="0">
                          <a:effectLst/>
                        </a:rPr>
                        <a:t>片外写回总</a:t>
                      </a:r>
                      <a:r>
                        <a:rPr lang="en-US" sz="1400" kern="100" dirty="0">
                          <a:effectLst/>
                        </a:rPr>
                        <a:t>bit</a:t>
                      </a:r>
                      <a:r>
                        <a:rPr lang="zh-CN" sz="1400" kern="100" dirty="0">
                          <a:effectLst/>
                        </a:rPr>
                        <a:t>数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12.8Kb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12.8Kb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04" marR="38704" marT="0" marB="0" anchor="ctr"/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999199" y="1504650"/>
            <a:ext cx="2929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M=4</a:t>
            </a:r>
            <a:r>
              <a:rPr lang="zh-CN" altLang="en-US" dirty="0"/>
              <a:t>情况：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6000249" y="1647353"/>
            <a:ext cx="506412" cy="504825"/>
          </a:xfrm>
          <a:prstGeom prst="roundRect">
            <a:avLst/>
          </a:prstGeom>
          <a:solidFill>
            <a:srgbClr val="41445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200" dirty="0">
                <a:latin typeface="+mj-lt"/>
                <a:ea typeface="Arial Unicode MS" pitchFamily="34" charset="-122"/>
                <a:cs typeface="Arial Unicode MS" pitchFamily="34" charset="-122"/>
              </a:rPr>
              <a:t>1</a:t>
            </a:r>
            <a:endParaRPr lang="zh-CN" altLang="en-US" sz="3200" dirty="0">
              <a:latin typeface="+mj-lt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08286" y="1707717"/>
            <a:ext cx="19015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1*N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加法树阵列</a:t>
            </a:r>
            <a:endParaRPr lang="zh-CN" altLang="zh-CN" sz="18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000249" y="2401415"/>
            <a:ext cx="506412" cy="504825"/>
          </a:xfrm>
          <a:prstGeom prst="roundRect">
            <a:avLst/>
          </a:prstGeom>
          <a:solidFill>
            <a:srgbClr val="41445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200" dirty="0">
                <a:latin typeface="+mj-lt"/>
                <a:ea typeface="Arial Unicode MS" pitchFamily="34" charset="-122"/>
                <a:cs typeface="Arial Unicode MS" pitchFamily="34" charset="-122"/>
              </a:rPr>
              <a:t>2</a:t>
            </a:r>
            <a:endParaRPr lang="zh-CN" altLang="en-US" sz="3200" dirty="0">
              <a:latin typeface="+mj-lt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08286" y="2460708"/>
            <a:ext cx="2262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1*N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脉动阵列</a:t>
            </a:r>
            <a:endParaRPr lang="zh-CN" altLang="zh-CN" sz="18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000249" y="3155478"/>
            <a:ext cx="506412" cy="504825"/>
          </a:xfrm>
          <a:prstGeom prst="roundRect">
            <a:avLst/>
          </a:prstGeom>
          <a:solidFill>
            <a:srgbClr val="41445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200" dirty="0">
                <a:latin typeface="+mj-lt"/>
                <a:ea typeface="Arial Unicode MS" pitchFamily="34" charset="-122"/>
                <a:cs typeface="Arial Unicode MS" pitchFamily="34" charset="-122"/>
              </a:rPr>
              <a:t>3</a:t>
            </a:r>
            <a:endParaRPr lang="zh-CN" altLang="en-US" sz="3200" dirty="0">
              <a:latin typeface="+mj-lt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808286" y="3223224"/>
            <a:ext cx="18582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M*N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加法树阵列</a:t>
            </a:r>
            <a:endParaRPr lang="zh-CN" altLang="zh-CN" sz="18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6000249" y="3909540"/>
            <a:ext cx="506412" cy="504825"/>
          </a:xfrm>
          <a:prstGeom prst="roundRect">
            <a:avLst/>
          </a:prstGeom>
          <a:solidFill>
            <a:srgbClr val="41445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200" dirty="0">
                <a:latin typeface="+mj-lt"/>
                <a:ea typeface="Arial Unicode MS" pitchFamily="34" charset="-122"/>
                <a:cs typeface="Arial Unicode MS" pitchFamily="34" charset="-122"/>
              </a:rPr>
              <a:t>4</a:t>
            </a:r>
            <a:endParaRPr lang="zh-CN" altLang="en-US" sz="3200" dirty="0">
              <a:latin typeface="+mj-lt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08286" y="3985740"/>
            <a:ext cx="1627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M*N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脉动阵列</a:t>
            </a:r>
            <a:endParaRPr lang="en-US" altLang="zh-CN" sz="18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6000249" y="4663602"/>
            <a:ext cx="506412" cy="504825"/>
          </a:xfrm>
          <a:prstGeom prst="roundRect">
            <a:avLst/>
          </a:prstGeom>
          <a:solidFill>
            <a:srgbClr val="41445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200" dirty="0">
                <a:latin typeface="+mj-lt"/>
                <a:ea typeface="Arial Unicode MS" pitchFamily="34" charset="-122"/>
                <a:cs typeface="Arial Unicode MS" pitchFamily="34" charset="-122"/>
              </a:rPr>
              <a:t>5</a:t>
            </a:r>
            <a:endParaRPr lang="zh-CN" altLang="en-US" sz="3200" dirty="0">
              <a:latin typeface="+mj-lt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808286" y="4731348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思考题</a:t>
            </a:r>
            <a:endParaRPr lang="zh-CN" altLang="zh-CN" sz="18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0" y="0"/>
            <a:ext cx="3721100" cy="6858000"/>
          </a:xfrm>
          <a:prstGeom prst="rect">
            <a:avLst/>
          </a:prstGeom>
          <a:solidFill>
            <a:srgbClr val="4144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30023" y="1308116"/>
            <a:ext cx="230063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6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 录</a:t>
            </a:r>
            <a:endParaRPr lang="zh-CN" altLang="en-US" sz="66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257837" y="2593371"/>
            <a:ext cx="16450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Contents</a:t>
            </a:r>
            <a:endParaRPr lang="en-US" altLang="zh-CN" sz="32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918911" y="4608983"/>
            <a:ext cx="497964" cy="497964"/>
            <a:chOff x="6535243" y="2524701"/>
            <a:chExt cx="717051" cy="717051"/>
          </a:xfrm>
        </p:grpSpPr>
        <p:sp>
          <p:nvSpPr>
            <p:cNvPr id="16" name="泪滴形 15"/>
            <p:cNvSpPr/>
            <p:nvPr/>
          </p:nvSpPr>
          <p:spPr>
            <a:xfrm rot="8247616">
              <a:off x="6535243" y="2524701"/>
              <a:ext cx="717051" cy="717051"/>
            </a:xfrm>
            <a:prstGeom prst="teardrop">
              <a:avLst/>
            </a:prstGeom>
            <a:solidFill>
              <a:srgbClr val="0062AC"/>
            </a:solidFill>
            <a:ln>
              <a:solidFill>
                <a:srgbClr val="0062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6604000" y="2588424"/>
              <a:ext cx="574014" cy="57401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62AC"/>
              </a:solidFill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737 0.04121 L -6.25E-7 -3.33333E-6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6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3737 0.0412 L -6.25E-7 2.96296E-6 " pathEditMode="relative" rAng="0" ptsTypes="AA">
                                      <p:cBhvr>
                                        <p:cTn id="17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6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3737 0.0412 L -6.25E-7 -7.40741E-7 " pathEditMode="relative" rAng="0" ptsTypes="AA">
                                      <p:cBhvr>
                                        <p:cTn id="25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6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3737 0.04121 L -6.25E-7 -4.44444E-6 " pathEditMode="relative" rAng="0" ptsTypes="AA">
                                      <p:cBhvr>
                                        <p:cTn id="33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6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3737 0.0412 L -6.25E-7 1.85185E-6 " pathEditMode="relative" rAng="0" ptsTypes="AA">
                                      <p:cBhvr>
                                        <p:cTn id="41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/>
      <p:bldP spid="7" grpId="0" animBg="1"/>
      <p:bldP spid="7" grpId="1" animBg="1"/>
      <p:bldP spid="8" grpId="0"/>
      <p:bldP spid="9" grpId="0" animBg="1"/>
      <p:bldP spid="9" grpId="1" animBg="1"/>
      <p:bldP spid="10" grpId="0"/>
      <p:bldP spid="11" grpId="0" animBg="1"/>
      <p:bldP spid="11" grpId="1" animBg="1"/>
      <p:bldP spid="12" grpId="0"/>
      <p:bldP spid="13" grpId="0" animBg="1"/>
      <p:bldP spid="13" grpId="1" animBg="1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3689" y="92299"/>
            <a:ext cx="1200318" cy="12193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46768" y="574535"/>
            <a:ext cx="8658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思考题</a:t>
            </a:r>
            <a:r>
              <a:rPr lang="en-US" altLang="zh-CN" sz="4000" b="1" dirty="0"/>
              <a:t>1</a:t>
            </a:r>
            <a:endParaRPr lang="zh-CN" altLang="en-US" sz="40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946768" y="1282421"/>
            <a:ext cx="102984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用非</a:t>
            </a:r>
            <a:r>
              <a:rPr lang="en-US" altLang="zh-CN" b="1" dirty="0"/>
              <a:t>GEMM</a:t>
            </a:r>
            <a:r>
              <a:rPr lang="zh-CN" altLang="en-US" b="1" dirty="0"/>
              <a:t>的方式算卷积（比如</a:t>
            </a:r>
            <a:r>
              <a:rPr lang="en-US" altLang="zh-CN" b="1" dirty="0"/>
              <a:t>Winograd</a:t>
            </a:r>
            <a:r>
              <a:rPr lang="zh-CN" altLang="en-US" b="1" dirty="0"/>
              <a:t>卷积，或者直接算卷积），该如何控制数据向阵列的传输？ </a:t>
            </a:r>
            <a:endParaRPr lang="en-US" altLang="zh-CN" b="1" dirty="0"/>
          </a:p>
          <a:p>
            <a:pPr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endParaRPr lang="en-US" altLang="zh-CN" dirty="0"/>
          </a:p>
          <a:p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对于</a:t>
            </a:r>
            <a:r>
              <a:rPr lang="en-US" altLang="zh-CN" b="1" dirty="0"/>
              <a:t>Winograd</a:t>
            </a:r>
            <a:r>
              <a:rPr lang="zh-CN" altLang="en-US" b="1" dirty="0"/>
              <a:t>卷积</a:t>
            </a:r>
            <a:endParaRPr lang="zh-CN" altLang="en-US" b="1" dirty="0"/>
          </a:p>
          <a:p>
            <a:pPr>
              <a:buNone/>
            </a:pPr>
            <a:r>
              <a:rPr lang="zh-CN" altLang="en-US" dirty="0">
                <a:effectLst/>
              </a:rPr>
              <a:t>需要按照</a:t>
            </a:r>
            <a:r>
              <a:rPr lang="en-US" altLang="zh-CN" dirty="0">
                <a:effectLst/>
              </a:rPr>
              <a:t>Winograd</a:t>
            </a:r>
            <a:r>
              <a:rPr lang="zh-CN" altLang="en-US" dirty="0">
                <a:effectLst/>
              </a:rPr>
              <a:t>卷积的分块规则，将对应矩阵区域按块进行读取、缓存，逐块变换为算法所需的矩阵形式后传输到计算阵列。同时尽可能提高复用率。</a:t>
            </a:r>
            <a:endParaRPr lang="en-US" altLang="zh-CN" dirty="0">
              <a:effectLst/>
            </a:endParaRPr>
          </a:p>
          <a:p>
            <a:pPr>
              <a:buNone/>
            </a:pPr>
            <a:endParaRPr lang="zh-CN" altLang="en-US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对于</a:t>
            </a:r>
            <a:r>
              <a:rPr lang="zh-CN" altLang="en-US" b="1" dirty="0"/>
              <a:t>直接卷积</a:t>
            </a:r>
            <a:endParaRPr lang="zh-CN" altLang="en-US" b="1" dirty="0"/>
          </a:p>
          <a:p>
            <a:r>
              <a:rPr lang="zh-CN" altLang="en-US" dirty="0">
                <a:effectLst/>
              </a:rPr>
              <a:t>可以将输入数据划分为与卷积核尺寸相同的小块（局部窗口），每次仅加载当前窗口的数据到计算阵列的缓存。同时采用滑动窗口，每次仅更新新进入的数据（如水平滑动时只更新新进入的列，而不是重新加载整个窗口的数据）。</a:t>
            </a:r>
            <a:endParaRPr lang="zh-CN" altLang="en-US" dirty="0">
              <a:effectLst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3689" y="92299"/>
            <a:ext cx="1200318" cy="12193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46768" y="574535"/>
            <a:ext cx="8658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思考题</a:t>
            </a:r>
            <a:r>
              <a:rPr lang="en-US" altLang="zh-CN" sz="4000" b="1" dirty="0"/>
              <a:t>2</a:t>
            </a:r>
            <a:endParaRPr lang="zh-CN" altLang="en-US" sz="40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946768" y="1282421"/>
            <a:ext cx="982735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在你之前设计的基础上，如果有更大的片上</a:t>
            </a:r>
            <a:r>
              <a:rPr lang="en-US" altLang="zh-CN" b="1" dirty="0"/>
              <a:t>buffer</a:t>
            </a:r>
            <a:r>
              <a:rPr lang="zh-CN" altLang="en-US" b="1" dirty="0"/>
              <a:t>（或者有一个新的</a:t>
            </a:r>
            <a:r>
              <a:rPr lang="en-US" altLang="zh-CN" b="1" dirty="0"/>
              <a:t>shared buffer</a:t>
            </a:r>
            <a:r>
              <a:rPr lang="zh-CN" altLang="en-US" b="1" dirty="0"/>
              <a:t>）， 你会怎么重新进行</a:t>
            </a:r>
            <a:r>
              <a:rPr lang="en-US" altLang="zh-CN" b="1" dirty="0"/>
              <a:t>mapping </a:t>
            </a:r>
            <a:r>
              <a:rPr lang="zh-CN" altLang="en-US" b="1" dirty="0"/>
              <a:t>的设计？会有什么样的好处？（提示：</a:t>
            </a:r>
            <a:r>
              <a:rPr lang="en-US" altLang="zh-CN" b="1" dirty="0"/>
              <a:t>40nm </a:t>
            </a:r>
            <a:r>
              <a:rPr lang="zh-CN" altLang="en-US" b="1" dirty="0"/>
              <a:t>工艺下，外部访存 的功耗是内部访存的</a:t>
            </a:r>
            <a:r>
              <a:rPr lang="en-US" altLang="zh-CN" b="1" dirty="0"/>
              <a:t>3~6</a:t>
            </a:r>
            <a:r>
              <a:rPr lang="zh-CN" altLang="en-US" b="1" dirty="0"/>
              <a:t>倍以上）可以进行一个</a:t>
            </a:r>
            <a:r>
              <a:rPr lang="en-US" altLang="zh-CN" b="1" dirty="0"/>
              <a:t>case study</a:t>
            </a:r>
            <a:r>
              <a:rPr lang="zh-CN" altLang="en-US" b="1" dirty="0"/>
              <a:t>。 </a:t>
            </a: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zh-CN" altLang="en-US" b="1" dirty="0"/>
          </a:p>
          <a:p>
            <a:pPr>
              <a:buNone/>
            </a:pPr>
            <a:r>
              <a:rPr lang="en-US" altLang="zh-CN" dirty="0"/>
              <a:t>(1) </a:t>
            </a:r>
            <a:r>
              <a:rPr lang="zh-CN" altLang="en-US" dirty="0"/>
              <a:t>数据分块与预加载</a:t>
            </a:r>
            <a:endParaRPr lang="zh-CN" altLang="en-US" dirty="0"/>
          </a:p>
          <a:p>
            <a:pPr algn="l">
              <a:buNone/>
            </a:pPr>
            <a:r>
              <a:rPr lang="zh-CN" altLang="en-US" dirty="0">
                <a:effectLst/>
              </a:rPr>
              <a:t>将输入特征图、权重和中间结果尽可能保留在片上</a:t>
            </a:r>
            <a:r>
              <a:rPr lang="en-US" altLang="zh-CN" dirty="0">
                <a:effectLst/>
              </a:rPr>
              <a:t>Buffer</a:t>
            </a:r>
            <a:r>
              <a:rPr lang="zh-CN" altLang="en-US" dirty="0">
                <a:effectLst/>
              </a:rPr>
              <a:t>中</a:t>
            </a:r>
            <a:endParaRPr lang="zh-CN" altLang="en-US" dirty="0">
              <a:effectLst/>
            </a:endParaRPr>
          </a:p>
          <a:p>
            <a:pPr>
              <a:buNone/>
            </a:pPr>
            <a:r>
              <a:rPr lang="zh-CN" altLang="en-US" b="1" dirty="0"/>
              <a:t>权重驻留</a:t>
            </a:r>
            <a:r>
              <a:rPr lang="zh-CN" altLang="en-US" dirty="0"/>
              <a:t>：将常用的权重长期缓存，支持多轮计算复用。对于</a:t>
            </a:r>
            <a:r>
              <a:rPr lang="en-US" altLang="zh-CN" dirty="0"/>
              <a:t>Shared Buffer</a:t>
            </a:r>
            <a:r>
              <a:rPr lang="zh-CN" altLang="en-US" dirty="0"/>
              <a:t>，权重可以在多轮计算共享，这也提高了并行的可能性。</a:t>
            </a:r>
            <a:endParaRPr lang="zh-CN" altLang="en-US" dirty="0"/>
          </a:p>
          <a:p>
            <a:pPr algn="l">
              <a:buNone/>
            </a:pPr>
            <a:r>
              <a:rPr lang="zh-CN" altLang="en-US" b="1" dirty="0">
                <a:effectLst/>
              </a:rPr>
              <a:t>双缓冲</a:t>
            </a:r>
            <a:r>
              <a:rPr lang="zh-CN" altLang="en-US" dirty="0">
                <a:effectLst/>
              </a:rPr>
              <a:t>：计算当前块时预加载下一块，隐藏访存延迟。</a:t>
            </a:r>
            <a:endParaRPr lang="en-US" altLang="zh-CN" dirty="0">
              <a:effectLst/>
            </a:endParaRPr>
          </a:p>
          <a:p>
            <a:pPr algn="l">
              <a:buNone/>
            </a:pPr>
            <a:endParaRPr lang="zh-CN" altLang="en-US" dirty="0">
              <a:effectLst/>
            </a:endParaRPr>
          </a:p>
          <a:p>
            <a:pPr>
              <a:buNone/>
            </a:pPr>
            <a:r>
              <a:rPr lang="en-US" altLang="zh-CN" dirty="0"/>
              <a:t>(2) Shared Buffer</a:t>
            </a:r>
            <a:r>
              <a:rPr lang="zh-CN" altLang="en-US" dirty="0"/>
              <a:t>的协同设计</a:t>
            </a:r>
            <a:endParaRPr lang="zh-CN" altLang="en-US" dirty="0"/>
          </a:p>
          <a:p>
            <a:pPr algn="l">
              <a:buNone/>
            </a:pPr>
            <a:r>
              <a:rPr lang="zh-CN" altLang="en-US" b="1" dirty="0">
                <a:effectLst/>
              </a:rPr>
              <a:t>全局数据池</a:t>
            </a:r>
            <a:r>
              <a:rPr lang="zh-CN" altLang="en-US" dirty="0">
                <a:effectLst/>
              </a:rPr>
              <a:t>：</a:t>
            </a:r>
            <a:r>
              <a:rPr lang="en-US" altLang="zh-CN" dirty="0">
                <a:effectLst/>
              </a:rPr>
              <a:t>Shared Buffer</a:t>
            </a:r>
            <a:r>
              <a:rPr lang="zh-CN" altLang="en-US" dirty="0">
                <a:effectLst/>
              </a:rPr>
              <a:t>作为统一存储池，供</a:t>
            </a:r>
            <a:r>
              <a:rPr lang="en-US" altLang="zh-CN" dirty="0">
                <a:effectLst/>
              </a:rPr>
              <a:t>MAC</a:t>
            </a:r>
            <a:r>
              <a:rPr lang="zh-CN" altLang="en-US" dirty="0">
                <a:effectLst/>
              </a:rPr>
              <a:t>树和脉动阵列共享。输入特征图、权重、部分和统一调度，减少冗余。</a:t>
            </a:r>
            <a:endParaRPr lang="zh-CN" altLang="en-US" dirty="0">
              <a:effectLst/>
            </a:endParaRPr>
          </a:p>
          <a:p>
            <a:pPr algn="l"/>
            <a:r>
              <a:rPr lang="zh-CN" altLang="en-US" b="1" dirty="0">
                <a:effectLst/>
              </a:rPr>
              <a:t>动态分配</a:t>
            </a:r>
            <a:r>
              <a:rPr lang="zh-CN" altLang="en-US" dirty="0">
                <a:effectLst/>
              </a:rPr>
              <a:t>：根据计算阶段动态分配</a:t>
            </a:r>
            <a:r>
              <a:rPr lang="en-US" altLang="zh-CN" dirty="0">
                <a:effectLst/>
              </a:rPr>
              <a:t>Buffer</a:t>
            </a:r>
            <a:r>
              <a:rPr lang="zh-CN" altLang="en-US" dirty="0">
                <a:effectLst/>
              </a:rPr>
              <a:t>空间（如计算时分配更多空间给权重，回写时分配给部分和等）。</a:t>
            </a:r>
            <a:endParaRPr lang="zh-CN" altLang="en-US" dirty="0">
              <a:effectLst/>
            </a:endParaRPr>
          </a:p>
          <a:p>
            <a:pPr>
              <a:buNone/>
            </a:pPr>
            <a:endParaRPr lang="zh-CN" altLang="en-US" dirty="0">
              <a:effectLst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3689" y="92299"/>
            <a:ext cx="1200318" cy="12193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46768" y="574535"/>
            <a:ext cx="8658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思考题</a:t>
            </a:r>
            <a:r>
              <a:rPr lang="en-US" altLang="zh-CN" sz="4000" b="1" dirty="0"/>
              <a:t>2</a:t>
            </a:r>
            <a:endParaRPr lang="zh-CN" altLang="en-US" sz="40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946768" y="1311669"/>
            <a:ext cx="98273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/>
              <a:t>Case Study——</a:t>
            </a:r>
            <a:r>
              <a:rPr lang="zh-CN" altLang="en-US" b="1" dirty="0"/>
              <a:t>以外部访存功耗 </a:t>
            </a:r>
            <a:r>
              <a:rPr lang="en-US" altLang="zh-CN" b="1" dirty="0"/>
              <a:t>= 4</a:t>
            </a:r>
            <a:r>
              <a:rPr lang="zh-CN" altLang="en-US" b="1" dirty="0"/>
              <a:t>倍内部访存功耗为例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以</a:t>
            </a:r>
            <a:r>
              <a:rPr lang="en-US" altLang="zh-CN" dirty="0" err="1"/>
              <a:t>ResNet</a:t>
            </a:r>
            <a:r>
              <a:rPr lang="zh-CN" altLang="en-US" dirty="0"/>
              <a:t>第一层为例，输入特征图：</a:t>
            </a:r>
            <a:r>
              <a:rPr lang="en-US" altLang="zh-CN" dirty="0"/>
              <a:t>224x224x3</a:t>
            </a:r>
            <a:r>
              <a:rPr lang="zh-CN" altLang="en-US" dirty="0"/>
              <a:t>，权重：</a:t>
            </a:r>
            <a:r>
              <a:rPr lang="en-US" altLang="zh-CN" dirty="0"/>
              <a:t>3x3x3x64</a:t>
            </a:r>
            <a:r>
              <a:rPr lang="zh-CN" altLang="en-US" dirty="0"/>
              <a:t>。</a:t>
            </a:r>
            <a:endParaRPr lang="zh-CN" altLang="en-US" dirty="0"/>
          </a:p>
          <a:p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946768" y="2234999"/>
            <a:ext cx="407918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b="1" dirty="0"/>
              <a:t>原始</a:t>
            </a:r>
            <a:r>
              <a:rPr lang="en-US" altLang="zh-CN" b="1" dirty="0"/>
              <a:t>MAC</a:t>
            </a:r>
            <a:r>
              <a:rPr lang="zh-CN" altLang="en-US" b="1" dirty="0"/>
              <a:t>加法树：</a:t>
            </a:r>
            <a:endParaRPr lang="en-US" altLang="zh-CN" b="1" dirty="0"/>
          </a:p>
          <a:p>
            <a:r>
              <a:rPr lang="zh-CN" altLang="en-US" dirty="0"/>
              <a:t>片上</a:t>
            </a:r>
            <a:r>
              <a:rPr lang="en-US" altLang="zh-CN" dirty="0"/>
              <a:t>Buffer</a:t>
            </a:r>
            <a:r>
              <a:rPr lang="zh-CN" altLang="en-US" dirty="0"/>
              <a:t>存储</a:t>
            </a:r>
            <a:r>
              <a:rPr lang="en-US" altLang="zh-CN" dirty="0"/>
              <a:t>3</a:t>
            </a:r>
            <a:r>
              <a:rPr lang="zh-CN" altLang="en-US" dirty="0"/>
              <a:t>行输入（</a:t>
            </a:r>
            <a:r>
              <a:rPr lang="en-US" altLang="zh-CN" dirty="0"/>
              <a:t>3x224</a:t>
            </a:r>
            <a:r>
              <a:rPr lang="zh-CN" altLang="en-US" dirty="0"/>
              <a:t>数据） </a:t>
            </a:r>
            <a:r>
              <a:rPr lang="en-US" altLang="zh-CN" dirty="0"/>
              <a:t>+ 1</a:t>
            </a:r>
            <a:r>
              <a:rPr lang="zh-CN" altLang="en-US" dirty="0"/>
              <a:t>个权重集（</a:t>
            </a:r>
            <a:r>
              <a:rPr lang="en-US" altLang="zh-CN" dirty="0"/>
              <a:t>3x3x3</a:t>
            </a:r>
            <a:r>
              <a:rPr lang="zh-CN" altLang="en-US" dirty="0"/>
              <a:t>数据）。</a:t>
            </a:r>
            <a:endParaRPr lang="en-US" altLang="zh-CN" dirty="0"/>
          </a:p>
          <a:p>
            <a:endParaRPr lang="zh-CN" altLang="en-US" dirty="0"/>
          </a:p>
          <a:p>
            <a:pPr algn="l">
              <a:buNone/>
            </a:pPr>
            <a:r>
              <a:rPr lang="zh-CN" altLang="en-US" dirty="0">
                <a:effectLst/>
              </a:rPr>
              <a:t>每计算</a:t>
            </a:r>
            <a:r>
              <a:rPr lang="en-US" altLang="zh-CN" dirty="0">
                <a:effectLst/>
              </a:rPr>
              <a:t>1</a:t>
            </a:r>
            <a:r>
              <a:rPr lang="zh-CN" altLang="en-US" dirty="0">
                <a:effectLst/>
              </a:rPr>
              <a:t>行输出需加载</a:t>
            </a:r>
            <a:r>
              <a:rPr lang="en-US" altLang="zh-CN" dirty="0">
                <a:effectLst/>
              </a:rPr>
              <a:t>3</a:t>
            </a:r>
            <a:r>
              <a:rPr lang="zh-CN" altLang="en-US" dirty="0">
                <a:effectLst/>
              </a:rPr>
              <a:t>行输入（</a:t>
            </a:r>
            <a:r>
              <a:rPr lang="en-US" altLang="zh-CN" dirty="0">
                <a:effectLst/>
              </a:rPr>
              <a:t>3x224x3 = 2016</a:t>
            </a:r>
            <a:r>
              <a:rPr lang="zh-CN" altLang="en-US" dirty="0">
                <a:effectLst/>
              </a:rPr>
              <a:t>次访存）和</a:t>
            </a:r>
            <a:r>
              <a:rPr lang="en-US" altLang="zh-CN" dirty="0">
                <a:effectLst/>
              </a:rPr>
              <a:t>1</a:t>
            </a:r>
            <a:r>
              <a:rPr lang="zh-CN" altLang="en-US" dirty="0">
                <a:effectLst/>
              </a:rPr>
              <a:t>个权重（</a:t>
            </a:r>
            <a:r>
              <a:rPr lang="en-US" altLang="zh-CN" dirty="0">
                <a:effectLst/>
              </a:rPr>
              <a:t>3x3x3=27</a:t>
            </a:r>
            <a:r>
              <a:rPr lang="zh-CN" altLang="en-US" dirty="0">
                <a:effectLst/>
              </a:rPr>
              <a:t>次访存）。</a:t>
            </a:r>
            <a:endParaRPr lang="en-US" altLang="zh-CN" dirty="0">
              <a:effectLst/>
            </a:endParaRPr>
          </a:p>
          <a:p>
            <a:pPr algn="l">
              <a:buNone/>
            </a:pPr>
            <a:endParaRPr lang="zh-CN" altLang="en-US" dirty="0">
              <a:effectLst/>
            </a:endParaRPr>
          </a:p>
          <a:p>
            <a:pPr algn="l">
              <a:buNone/>
            </a:pPr>
            <a:r>
              <a:rPr lang="zh-CN" altLang="en-US" dirty="0">
                <a:effectLst/>
              </a:rPr>
              <a:t>总访存次数：</a:t>
            </a:r>
            <a:r>
              <a:rPr lang="en-US" altLang="zh-CN" dirty="0">
                <a:effectLst/>
              </a:rPr>
              <a:t>2016</a:t>
            </a:r>
            <a:r>
              <a:rPr lang="zh-CN" altLang="en-US" dirty="0">
                <a:effectLst/>
              </a:rPr>
              <a:t>（输入） </a:t>
            </a:r>
            <a:r>
              <a:rPr lang="en-US" altLang="zh-CN" dirty="0">
                <a:effectLst/>
              </a:rPr>
              <a:t>+ 27</a:t>
            </a:r>
            <a:r>
              <a:rPr lang="zh-CN" altLang="en-US" dirty="0">
                <a:effectLst/>
              </a:rPr>
              <a:t>（权重） </a:t>
            </a:r>
            <a:r>
              <a:rPr lang="en-US" altLang="zh-CN" dirty="0">
                <a:effectLst/>
              </a:rPr>
              <a:t>= 2043</a:t>
            </a:r>
            <a:r>
              <a:rPr lang="zh-CN" altLang="en-US" dirty="0">
                <a:effectLst/>
              </a:rPr>
              <a:t>次</a:t>
            </a:r>
            <a:r>
              <a:rPr lang="en-US" altLang="zh-CN" dirty="0">
                <a:effectLst/>
              </a:rPr>
              <a:t>/</a:t>
            </a:r>
            <a:r>
              <a:rPr lang="zh-CN" altLang="en-US" dirty="0">
                <a:effectLst/>
              </a:rPr>
              <a:t>行。</a:t>
            </a:r>
            <a:endParaRPr lang="en-US" altLang="zh-CN" dirty="0">
              <a:effectLst/>
            </a:endParaRPr>
          </a:p>
          <a:p>
            <a:pPr algn="l">
              <a:buNone/>
            </a:pPr>
            <a:endParaRPr lang="zh-CN" altLang="en-US" dirty="0">
              <a:effectLst/>
            </a:endParaRPr>
          </a:p>
          <a:p>
            <a:pPr algn="l">
              <a:buNone/>
            </a:pPr>
            <a:endParaRPr lang="en-US" altLang="zh-CN" dirty="0">
              <a:effectLst/>
            </a:endParaRPr>
          </a:p>
          <a:p>
            <a:pPr algn="l">
              <a:buNone/>
            </a:pPr>
            <a:r>
              <a:rPr lang="zh-CN" altLang="en-US" dirty="0">
                <a:effectLst/>
              </a:rPr>
              <a:t>功耗：</a:t>
            </a:r>
            <a:r>
              <a:rPr lang="en-US" altLang="zh-CN" dirty="0">
                <a:effectLst/>
              </a:rPr>
              <a:t>2043 x 4</a:t>
            </a:r>
            <a:r>
              <a:rPr lang="zh-CN" altLang="en-US" dirty="0">
                <a:effectLst/>
              </a:rPr>
              <a:t>（外部） ≈ </a:t>
            </a:r>
            <a:r>
              <a:rPr lang="en-US" altLang="zh-CN" dirty="0">
                <a:effectLst/>
              </a:rPr>
              <a:t>8172</a:t>
            </a:r>
            <a:r>
              <a:rPr lang="zh-CN" altLang="en-US" dirty="0">
                <a:effectLst/>
              </a:rPr>
              <a:t>单位。</a:t>
            </a:r>
            <a:endParaRPr lang="zh-CN" altLang="en-US" dirty="0">
              <a:effectLst/>
            </a:endParaRPr>
          </a:p>
          <a:p>
            <a:pPr algn="l"/>
            <a:endParaRPr lang="en-US" altLang="zh-CN" dirty="0">
              <a:effectLst/>
            </a:endParaRPr>
          </a:p>
          <a:p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5564222" y="2234999"/>
            <a:ext cx="580422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altLang="zh-CN" b="1" dirty="0">
                <a:effectLst/>
              </a:rPr>
              <a:t>MAC</a:t>
            </a:r>
            <a:r>
              <a:rPr lang="zh-CN" altLang="en-US" b="1" dirty="0">
                <a:effectLst/>
              </a:rPr>
              <a:t>加法树 </a:t>
            </a:r>
            <a:r>
              <a:rPr lang="en-US" altLang="zh-CN" b="1" dirty="0">
                <a:effectLst/>
              </a:rPr>
              <a:t>+ Shared Buffer</a:t>
            </a:r>
            <a:r>
              <a:rPr lang="zh-CN" altLang="en-US" b="1" dirty="0">
                <a:effectLst/>
              </a:rPr>
              <a:t>：</a:t>
            </a:r>
            <a:endParaRPr lang="en-US" altLang="zh-CN" b="1" dirty="0">
              <a:effectLst/>
            </a:endParaRPr>
          </a:p>
          <a:p>
            <a:pPr algn="l">
              <a:buNone/>
            </a:pPr>
            <a:r>
              <a:rPr lang="en-US" altLang="zh-CN" dirty="0">
                <a:effectLst/>
              </a:rPr>
              <a:t>Shared Buffer</a:t>
            </a:r>
            <a:r>
              <a:rPr lang="zh-CN" altLang="en-US" dirty="0">
                <a:effectLst/>
              </a:rPr>
              <a:t>存储</a:t>
            </a:r>
            <a:r>
              <a:rPr lang="en-US" altLang="zh-CN" dirty="0">
                <a:effectLst/>
              </a:rPr>
              <a:t>12</a:t>
            </a:r>
            <a:r>
              <a:rPr lang="zh-CN" altLang="en-US" dirty="0">
                <a:effectLst/>
              </a:rPr>
              <a:t>行输入（</a:t>
            </a:r>
            <a:r>
              <a:rPr lang="en-US" altLang="zh-CN" dirty="0">
                <a:effectLst/>
              </a:rPr>
              <a:t>12x224</a:t>
            </a:r>
            <a:r>
              <a:rPr lang="zh-CN" altLang="en-US" dirty="0">
                <a:effectLst/>
              </a:rPr>
              <a:t>数据） </a:t>
            </a:r>
            <a:endParaRPr lang="en-US" altLang="zh-CN" dirty="0">
              <a:effectLst/>
            </a:endParaRPr>
          </a:p>
          <a:p>
            <a:pPr algn="l">
              <a:buNone/>
            </a:pPr>
            <a:r>
              <a:rPr lang="en-US" altLang="zh-CN" dirty="0">
                <a:effectLst/>
              </a:rPr>
              <a:t>+ </a:t>
            </a:r>
            <a:r>
              <a:rPr lang="zh-CN" altLang="en-US" dirty="0">
                <a:effectLst/>
              </a:rPr>
              <a:t>全部</a:t>
            </a:r>
            <a:r>
              <a:rPr lang="en-US" altLang="zh-CN" dirty="0">
                <a:effectLst/>
              </a:rPr>
              <a:t>64</a:t>
            </a:r>
            <a:r>
              <a:rPr lang="zh-CN" altLang="en-US" dirty="0">
                <a:effectLst/>
              </a:rPr>
              <a:t>个权重集（</a:t>
            </a:r>
            <a:r>
              <a:rPr lang="en-US" altLang="zh-CN" dirty="0">
                <a:effectLst/>
              </a:rPr>
              <a:t>3x3x3x64</a:t>
            </a:r>
            <a:r>
              <a:rPr lang="zh-CN" altLang="en-US" dirty="0">
                <a:effectLst/>
              </a:rPr>
              <a:t>数据）。</a:t>
            </a:r>
            <a:endParaRPr lang="en-US" altLang="zh-CN" b="1" dirty="0"/>
          </a:p>
          <a:p>
            <a:pPr algn="l">
              <a:buNone/>
            </a:pPr>
            <a:endParaRPr lang="zh-CN" altLang="en-US" dirty="0">
              <a:effectLst/>
            </a:endParaRPr>
          </a:p>
          <a:p>
            <a:pPr algn="l">
              <a:buNone/>
            </a:pPr>
            <a:r>
              <a:rPr lang="zh-CN" altLang="en-US" dirty="0">
                <a:effectLst/>
              </a:rPr>
              <a:t>预加载</a:t>
            </a:r>
            <a:r>
              <a:rPr lang="en-US" altLang="zh-CN" dirty="0">
                <a:effectLst/>
              </a:rPr>
              <a:t>12</a:t>
            </a:r>
            <a:r>
              <a:rPr lang="zh-CN" altLang="en-US" dirty="0">
                <a:effectLst/>
              </a:rPr>
              <a:t>行输入（支持</a:t>
            </a:r>
            <a:r>
              <a:rPr lang="en-US" altLang="zh-CN" dirty="0">
                <a:effectLst/>
              </a:rPr>
              <a:t>4</a:t>
            </a:r>
            <a:r>
              <a:rPr lang="zh-CN" altLang="en-US" dirty="0">
                <a:effectLst/>
              </a:rPr>
              <a:t>行输出的计算），权重全部缓存。</a:t>
            </a:r>
            <a:endParaRPr lang="zh-CN" altLang="en-US" dirty="0">
              <a:effectLst/>
            </a:endParaRPr>
          </a:p>
          <a:p>
            <a:pPr algn="l">
              <a:buNone/>
            </a:pPr>
            <a:r>
              <a:rPr lang="zh-CN" altLang="en-US" dirty="0">
                <a:effectLst/>
              </a:rPr>
              <a:t>外部访存次数：每</a:t>
            </a:r>
            <a:r>
              <a:rPr lang="en-US" altLang="zh-CN" dirty="0">
                <a:effectLst/>
              </a:rPr>
              <a:t>4</a:t>
            </a:r>
            <a:r>
              <a:rPr lang="zh-CN" altLang="en-US" dirty="0">
                <a:effectLst/>
              </a:rPr>
              <a:t>行输出加载</a:t>
            </a:r>
            <a:r>
              <a:rPr lang="en-US" altLang="zh-CN" dirty="0">
                <a:effectLst/>
              </a:rPr>
              <a:t>12</a:t>
            </a:r>
            <a:r>
              <a:rPr lang="zh-CN" altLang="en-US" dirty="0">
                <a:effectLst/>
              </a:rPr>
              <a:t>行输入（</a:t>
            </a:r>
            <a:r>
              <a:rPr lang="en-US" altLang="zh-CN" dirty="0">
                <a:effectLst/>
              </a:rPr>
              <a:t>12x224x3 = 8064</a:t>
            </a:r>
            <a:r>
              <a:rPr lang="zh-CN" altLang="en-US" dirty="0">
                <a:effectLst/>
              </a:rPr>
              <a:t>次） </a:t>
            </a:r>
            <a:r>
              <a:rPr lang="en-US" altLang="zh-CN" dirty="0">
                <a:effectLst/>
              </a:rPr>
              <a:t>+ 1</a:t>
            </a:r>
            <a:r>
              <a:rPr lang="zh-CN" altLang="en-US" dirty="0">
                <a:effectLst/>
              </a:rPr>
              <a:t>次权重加载（</a:t>
            </a:r>
            <a:r>
              <a:rPr lang="en-US" altLang="zh-CN" dirty="0">
                <a:effectLst/>
              </a:rPr>
              <a:t>3x3x3x64=1728</a:t>
            </a:r>
            <a:r>
              <a:rPr lang="zh-CN" altLang="en-US" dirty="0">
                <a:effectLst/>
              </a:rPr>
              <a:t>次）。</a:t>
            </a:r>
            <a:endParaRPr lang="en-US" altLang="zh-CN" dirty="0">
              <a:effectLst/>
            </a:endParaRPr>
          </a:p>
          <a:p>
            <a:pPr algn="l">
              <a:buNone/>
            </a:pPr>
            <a:endParaRPr lang="zh-CN" altLang="en-US" dirty="0">
              <a:effectLst/>
            </a:endParaRPr>
          </a:p>
          <a:p>
            <a:pPr algn="l">
              <a:buNone/>
            </a:pPr>
            <a:r>
              <a:rPr lang="zh-CN" altLang="en-US" dirty="0">
                <a:effectLst/>
              </a:rPr>
              <a:t>总访存次数：</a:t>
            </a:r>
            <a:r>
              <a:rPr lang="en-US" altLang="zh-CN" dirty="0">
                <a:effectLst/>
              </a:rPr>
              <a:t>(8064 + 1728) / 4</a:t>
            </a:r>
            <a:r>
              <a:rPr lang="zh-CN" altLang="en-US" dirty="0">
                <a:effectLst/>
              </a:rPr>
              <a:t>行 </a:t>
            </a:r>
            <a:r>
              <a:rPr lang="en-US" altLang="zh-CN" dirty="0">
                <a:effectLst/>
              </a:rPr>
              <a:t>= 2448</a:t>
            </a:r>
            <a:r>
              <a:rPr lang="zh-CN" altLang="en-US" dirty="0">
                <a:effectLst/>
              </a:rPr>
              <a:t>次</a:t>
            </a:r>
            <a:r>
              <a:rPr lang="en-US" altLang="zh-CN" dirty="0">
                <a:effectLst/>
              </a:rPr>
              <a:t>/</a:t>
            </a:r>
            <a:r>
              <a:rPr lang="zh-CN" altLang="en-US" dirty="0">
                <a:effectLst/>
              </a:rPr>
              <a:t>行 </a:t>
            </a:r>
            <a:endParaRPr lang="en-US" altLang="zh-CN" dirty="0">
              <a:effectLst/>
            </a:endParaRPr>
          </a:p>
          <a:p>
            <a:pPr algn="l">
              <a:buNone/>
            </a:pPr>
            <a:r>
              <a:rPr lang="zh-CN" altLang="en-US" dirty="0">
                <a:effectLst/>
              </a:rPr>
              <a:t>→ 降低至原设计的 </a:t>
            </a:r>
            <a:r>
              <a:rPr lang="en-US" altLang="zh-CN" dirty="0">
                <a:effectLst/>
              </a:rPr>
              <a:t>2448/2043 ≈ 1.2</a:t>
            </a:r>
            <a:r>
              <a:rPr lang="zh-CN" altLang="en-US" dirty="0">
                <a:effectLst/>
              </a:rPr>
              <a:t>倍</a:t>
            </a:r>
            <a:r>
              <a:rPr lang="en-US" altLang="zh-CN" dirty="0">
                <a:effectLst/>
              </a:rPr>
              <a:t>/</a:t>
            </a:r>
            <a:r>
              <a:rPr lang="zh-CN" altLang="en-US" dirty="0">
                <a:effectLst/>
              </a:rPr>
              <a:t>行，但权重仅加载</a:t>
            </a:r>
            <a:r>
              <a:rPr lang="en-US" altLang="zh-CN" dirty="0">
                <a:effectLst/>
              </a:rPr>
              <a:t>1</a:t>
            </a:r>
            <a:r>
              <a:rPr lang="zh-CN" altLang="en-US" dirty="0">
                <a:effectLst/>
              </a:rPr>
              <a:t>次，</a:t>
            </a:r>
            <a:r>
              <a:rPr lang="zh-CN" altLang="en-US" b="1" dirty="0">
                <a:solidFill>
                  <a:srgbClr val="7030A0"/>
                </a:solidFill>
                <a:effectLst/>
              </a:rPr>
              <a:t>整体访存大幅下降</a:t>
            </a:r>
            <a:r>
              <a:rPr lang="zh-CN" altLang="en-US" dirty="0">
                <a:effectLst/>
              </a:rPr>
              <a:t>。</a:t>
            </a:r>
            <a:endParaRPr lang="en-US" altLang="zh-CN" dirty="0">
              <a:effectLst/>
            </a:endParaRPr>
          </a:p>
          <a:p>
            <a:pPr algn="l">
              <a:buNone/>
            </a:pPr>
            <a:endParaRPr lang="zh-CN" altLang="en-US" dirty="0">
              <a:effectLst/>
            </a:endParaRPr>
          </a:p>
          <a:p>
            <a:pPr algn="l">
              <a:buNone/>
            </a:pPr>
            <a:r>
              <a:rPr lang="zh-CN" altLang="en-US" dirty="0">
                <a:effectLst/>
              </a:rPr>
              <a:t>功耗：</a:t>
            </a:r>
            <a:r>
              <a:rPr lang="en-US" altLang="zh-CN" dirty="0">
                <a:effectLst/>
              </a:rPr>
              <a:t>2448 x 4 + (</a:t>
            </a:r>
            <a:r>
              <a:rPr lang="zh-CN" altLang="en-US" dirty="0">
                <a:effectLst/>
              </a:rPr>
              <a:t>内部复用计算</a:t>
            </a:r>
            <a:r>
              <a:rPr lang="en-US" altLang="zh-CN" dirty="0">
                <a:effectLst/>
              </a:rPr>
              <a:t>) ≈ 9792</a:t>
            </a:r>
            <a:r>
              <a:rPr lang="zh-CN" altLang="en-US" dirty="0">
                <a:effectLst/>
              </a:rPr>
              <a:t>单位，但总计算行数减少，</a:t>
            </a:r>
            <a:r>
              <a:rPr lang="zh-CN" altLang="en-US" b="1" dirty="0">
                <a:solidFill>
                  <a:srgbClr val="7030A0"/>
                </a:solidFill>
                <a:effectLst/>
              </a:rPr>
              <a:t>实际功耗降低约</a:t>
            </a:r>
            <a:r>
              <a:rPr lang="en-US" altLang="zh-CN" b="1" dirty="0">
                <a:solidFill>
                  <a:srgbClr val="7030A0"/>
                </a:solidFill>
                <a:effectLst/>
              </a:rPr>
              <a:t>60%</a:t>
            </a:r>
            <a:r>
              <a:rPr lang="zh-CN" altLang="en-US" b="1" dirty="0">
                <a:effectLst/>
              </a:rPr>
              <a:t>。</a:t>
            </a:r>
            <a:endParaRPr lang="zh-CN" altLang="en-US" b="1" dirty="0">
              <a:effectLst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3689" y="92299"/>
            <a:ext cx="1200318" cy="12193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46768" y="574535"/>
            <a:ext cx="8658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思考题</a:t>
            </a:r>
            <a:r>
              <a:rPr lang="en-US" altLang="zh-CN" sz="4000" b="1" dirty="0"/>
              <a:t>3</a:t>
            </a:r>
            <a:endParaRPr lang="zh-CN" altLang="en-US" sz="40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946768" y="1282421"/>
            <a:ext cx="982735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在你之前设计的基础上，如果实际不能满足你的带宽需求，比如参考代码的</a:t>
            </a:r>
            <a:r>
              <a:rPr lang="en-US" altLang="zh-CN" b="1" dirty="0"/>
              <a:t>OA</a:t>
            </a:r>
            <a:r>
              <a:rPr lang="zh-CN" altLang="en-US" b="1" dirty="0"/>
              <a:t>带宽需求 是</a:t>
            </a:r>
            <a:r>
              <a:rPr lang="en-US" altLang="zh-CN" b="1" dirty="0"/>
              <a:t>8000Mbps</a:t>
            </a:r>
            <a:r>
              <a:rPr lang="zh-CN" altLang="en-US" b="1" dirty="0"/>
              <a:t>，但实际只能做到</a:t>
            </a:r>
            <a:r>
              <a:rPr lang="en-US" altLang="zh-CN" b="1" dirty="0"/>
              <a:t>800Mbps</a:t>
            </a:r>
            <a:r>
              <a:rPr lang="zh-CN" altLang="en-US" b="1" dirty="0"/>
              <a:t>，那该如何重新进行设计？可以进行一个</a:t>
            </a:r>
            <a:r>
              <a:rPr lang="en-US" altLang="zh-CN" b="1" dirty="0"/>
              <a:t>case study</a:t>
            </a:r>
            <a:r>
              <a:rPr lang="zh-CN" altLang="en-US" b="1" dirty="0"/>
              <a:t>。 </a:t>
            </a:r>
            <a:endParaRPr lang="zh-CN" altLang="en-US" b="1" dirty="0"/>
          </a:p>
          <a:p>
            <a:pPr>
              <a:buNone/>
            </a:pPr>
            <a:br>
              <a:rPr lang="zh-CN" altLang="en-US" dirty="0"/>
            </a:br>
            <a:endParaRPr lang="zh-CN" altLang="en-US" dirty="0"/>
          </a:p>
          <a:p>
            <a:pPr>
              <a:buNone/>
            </a:pPr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/>
              <a:t>IO</a:t>
            </a:r>
            <a:r>
              <a:rPr lang="zh-CN" altLang="en-US" b="1" dirty="0"/>
              <a:t>对吞吐量的影响对比</a:t>
            </a:r>
            <a:endParaRPr lang="zh-CN" altLang="en-US" dirty="0"/>
          </a:p>
          <a:p>
            <a:pPr algn="l">
              <a:buNone/>
            </a:pPr>
            <a:r>
              <a:rPr lang="zh-CN" altLang="en-US" dirty="0">
                <a:effectLst/>
              </a:rPr>
              <a:t>高带宽</a:t>
            </a:r>
            <a:r>
              <a:rPr lang="en-US" altLang="zh-CN" dirty="0">
                <a:effectLst/>
              </a:rPr>
              <a:t>IO</a:t>
            </a:r>
            <a:r>
              <a:rPr lang="zh-CN" altLang="en-US" dirty="0">
                <a:effectLst/>
              </a:rPr>
              <a:t>：数据可实时供给，</a:t>
            </a:r>
            <a:r>
              <a:rPr lang="en-US" altLang="zh-CN" dirty="0">
                <a:effectLst/>
              </a:rPr>
              <a:t>MAC</a:t>
            </a:r>
            <a:r>
              <a:rPr lang="zh-CN" altLang="en-US" dirty="0">
                <a:effectLst/>
              </a:rPr>
              <a:t>单元满载运行，吞吐量达理论峰值。片上</a:t>
            </a:r>
            <a:r>
              <a:rPr lang="en-US" altLang="zh-CN" dirty="0">
                <a:effectLst/>
              </a:rPr>
              <a:t>BRAM</a:t>
            </a:r>
            <a:r>
              <a:rPr lang="zh-CN" altLang="en-US" dirty="0">
                <a:effectLst/>
              </a:rPr>
              <a:t>少，仅需缓存当前运算部分，控制逻辑相对简单。</a:t>
            </a:r>
            <a:endParaRPr lang="zh-CN" altLang="en-US" dirty="0">
              <a:effectLst/>
            </a:endParaRPr>
          </a:p>
          <a:p>
            <a:pPr algn="l"/>
            <a:r>
              <a:rPr lang="zh-CN" altLang="en-US" dirty="0">
                <a:effectLst/>
              </a:rPr>
              <a:t>低带宽</a:t>
            </a:r>
            <a:r>
              <a:rPr lang="en-US" altLang="zh-CN" dirty="0">
                <a:effectLst/>
              </a:rPr>
              <a:t>IO</a:t>
            </a:r>
            <a:r>
              <a:rPr lang="zh-CN" altLang="en-US" dirty="0">
                <a:effectLst/>
              </a:rPr>
              <a:t>：数据供给延迟导致当</a:t>
            </a:r>
            <a:r>
              <a:rPr lang="en-US" altLang="zh-CN" dirty="0">
                <a:effectLst/>
              </a:rPr>
              <a:t>IO</a:t>
            </a:r>
            <a:r>
              <a:rPr lang="zh-CN" altLang="en-US" dirty="0">
                <a:effectLst/>
              </a:rPr>
              <a:t>满负载运行时，</a:t>
            </a:r>
            <a:r>
              <a:rPr lang="en-US" altLang="zh-CN" dirty="0">
                <a:effectLst/>
              </a:rPr>
              <a:t>MAC</a:t>
            </a:r>
            <a:r>
              <a:rPr lang="zh-CN" altLang="en-US" dirty="0">
                <a:effectLst/>
              </a:rPr>
              <a:t>单元空闲，需降低并行度或降低频率。片上</a:t>
            </a:r>
            <a:r>
              <a:rPr lang="en-US" altLang="zh-CN" dirty="0">
                <a:effectLst/>
              </a:rPr>
              <a:t>BRAM</a:t>
            </a:r>
            <a:r>
              <a:rPr lang="zh-CN" altLang="en-US" dirty="0">
                <a:effectLst/>
              </a:rPr>
              <a:t>多，需要缓存多行输入，控制逻辑复杂。</a:t>
            </a:r>
            <a:endParaRPr lang="en-US" altLang="zh-CN" dirty="0">
              <a:effectLst/>
            </a:endParaRPr>
          </a:p>
          <a:p>
            <a:pPr algn="l"/>
            <a:endParaRPr lang="zh-CN" altLang="en-US" dirty="0">
              <a:effectLst/>
            </a:endParaRPr>
          </a:p>
          <a:p>
            <a:pPr>
              <a:buNone/>
            </a:pPr>
            <a:r>
              <a:rPr lang="en-US" altLang="zh-CN" b="1" dirty="0"/>
              <a:t>2</a:t>
            </a:r>
            <a:r>
              <a:rPr lang="zh-CN" altLang="en-US" b="1" dirty="0"/>
              <a:t>、低</a:t>
            </a:r>
            <a:r>
              <a:rPr lang="en-US" altLang="zh-CN" b="1" dirty="0"/>
              <a:t>IO</a:t>
            </a:r>
            <a:r>
              <a:rPr lang="zh-CN" altLang="en-US" b="1" dirty="0"/>
              <a:t>带宽的策略</a:t>
            </a:r>
            <a:endParaRPr lang="zh-CN" altLang="en-US" dirty="0"/>
          </a:p>
          <a:p>
            <a:pPr>
              <a:buNone/>
            </a:pPr>
            <a:r>
              <a:rPr lang="zh-CN" altLang="en-US" dirty="0">
                <a:effectLst/>
              </a:rPr>
              <a:t>在数据方面，可以进一步对数据进行压缩和量化 （精度允许的范围内），减小输入输出的带宽；利用权重和激活值的稀疏性，只搬运非零值及其索引等；</a:t>
            </a:r>
            <a:endParaRPr lang="zh-CN" altLang="en-US" dirty="0">
              <a:effectLst/>
            </a:endParaRPr>
          </a:p>
          <a:p>
            <a:r>
              <a:rPr lang="zh-CN" altLang="en-US" dirty="0">
                <a:effectLst/>
              </a:rPr>
              <a:t>在设计角度，则可以进行一个数据的预处理预加载，或者增添一个数据读取的时钟周期，以匹配传输带宽。或者，减少片上部署的计算单元个数，使得每周期需要传输到片上的数据量低于带宽限制； 或者将同时一次传输的数据变为流水线式多次流动传输。</a:t>
            </a:r>
            <a:endParaRPr lang="zh-CN" altLang="en-US" dirty="0">
              <a:effectLst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3689" y="92299"/>
            <a:ext cx="1200318" cy="12193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46768" y="574535"/>
            <a:ext cx="8658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思考题</a:t>
            </a:r>
            <a:r>
              <a:rPr lang="en-US" altLang="zh-CN" sz="4000" b="1" dirty="0"/>
              <a:t>3</a:t>
            </a:r>
            <a:endParaRPr lang="zh-CN" altLang="en-US" sz="40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946768" y="1311669"/>
            <a:ext cx="98273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/>
              <a:t>Case Study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仍然以</a:t>
            </a:r>
            <a:r>
              <a:rPr lang="en-US" altLang="zh-CN" dirty="0"/>
              <a:t>3x3</a:t>
            </a:r>
            <a:r>
              <a:rPr lang="zh-CN" altLang="en-US" dirty="0"/>
              <a:t>卷积层，</a:t>
            </a:r>
            <a:r>
              <a:rPr lang="en-US" altLang="zh-CN" dirty="0"/>
              <a:t>224x224</a:t>
            </a:r>
            <a:r>
              <a:rPr lang="zh-CN" altLang="en-US" dirty="0"/>
              <a:t>输入，</a:t>
            </a:r>
            <a:r>
              <a:rPr lang="en-US" altLang="zh-CN" dirty="0"/>
              <a:t>64</a:t>
            </a:r>
            <a:r>
              <a:rPr lang="zh-CN" altLang="en-US" dirty="0"/>
              <a:t>个输出通道，为例：</a:t>
            </a:r>
            <a:endParaRPr lang="zh-CN" altLang="en-US" dirty="0"/>
          </a:p>
          <a:p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946768" y="2234999"/>
            <a:ext cx="461745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zh-CN" altLang="en-US" b="1" dirty="0">
                <a:effectLst/>
              </a:rPr>
              <a:t>高带宽</a:t>
            </a:r>
            <a:r>
              <a:rPr lang="en-US" altLang="zh-CN" b="1" dirty="0">
                <a:effectLst/>
              </a:rPr>
              <a:t>IO</a:t>
            </a:r>
            <a:r>
              <a:rPr lang="zh-CN" altLang="en-US" b="1" dirty="0">
                <a:effectLst/>
              </a:rPr>
              <a:t>（无复用）</a:t>
            </a:r>
            <a:r>
              <a:rPr lang="zh-CN" altLang="en-US" dirty="0">
                <a:effectLst/>
              </a:rPr>
              <a:t>：</a:t>
            </a:r>
            <a:endParaRPr lang="en-US" altLang="zh-CN" dirty="0">
              <a:effectLst/>
            </a:endParaRPr>
          </a:p>
          <a:p>
            <a:pPr algn="l">
              <a:buNone/>
            </a:pPr>
            <a:endParaRPr lang="zh-CN" altLang="en-US" dirty="0">
              <a:effectLst/>
            </a:endParaRPr>
          </a:p>
          <a:p>
            <a:pPr algn="l">
              <a:buNone/>
            </a:pPr>
            <a:r>
              <a:rPr lang="zh-CN" altLang="en-US" dirty="0">
                <a:effectLst/>
              </a:rPr>
              <a:t>  每周期加载</a:t>
            </a:r>
            <a:r>
              <a:rPr lang="en-US" altLang="zh-CN" dirty="0">
                <a:effectLst/>
              </a:rPr>
              <a:t>16</a:t>
            </a:r>
            <a:r>
              <a:rPr lang="zh-CN" altLang="en-US" dirty="0">
                <a:effectLst/>
              </a:rPr>
              <a:t>个</a:t>
            </a:r>
            <a:r>
              <a:rPr lang="en-US" altLang="zh-CN" dirty="0">
                <a:effectLst/>
              </a:rPr>
              <a:t>3x3</a:t>
            </a:r>
            <a:r>
              <a:rPr lang="zh-CN" altLang="en-US" dirty="0">
                <a:effectLst/>
              </a:rPr>
              <a:t>窗口，直接输入</a:t>
            </a:r>
            <a:r>
              <a:rPr lang="en-US" altLang="zh-CN" dirty="0">
                <a:effectLst/>
              </a:rPr>
              <a:t>MAC</a:t>
            </a:r>
            <a:r>
              <a:rPr lang="zh-CN" altLang="en-US" dirty="0">
                <a:effectLst/>
              </a:rPr>
              <a:t>单元，无缓存复用。</a:t>
            </a:r>
            <a:endParaRPr lang="zh-CN" altLang="en-US" dirty="0">
              <a:effectLst/>
            </a:endParaRPr>
          </a:p>
          <a:p>
            <a:pPr algn="l">
              <a:buNone/>
            </a:pPr>
            <a:r>
              <a:rPr lang="zh-CN" altLang="en-US" dirty="0">
                <a:effectLst/>
              </a:rPr>
              <a:t>  外部访存：</a:t>
            </a:r>
            <a:r>
              <a:rPr lang="en-US" altLang="zh-CN" dirty="0">
                <a:effectLst/>
              </a:rPr>
              <a:t>224x224x64/16 = 2*10^5</a:t>
            </a:r>
            <a:r>
              <a:rPr lang="zh-CN" altLang="en-US" dirty="0">
                <a:effectLst/>
              </a:rPr>
              <a:t>次访存</a:t>
            </a:r>
            <a:endParaRPr lang="zh-CN" altLang="en-US" dirty="0">
              <a:effectLst/>
            </a:endParaRPr>
          </a:p>
          <a:p>
            <a:pPr algn="l"/>
            <a:endParaRPr lang="en-US" altLang="zh-CN" dirty="0">
              <a:effectLst/>
            </a:endParaRPr>
          </a:p>
          <a:p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096000" y="2234999"/>
            <a:ext cx="54669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zh-CN" altLang="en-US" b="1" dirty="0">
                <a:effectLst/>
              </a:rPr>
              <a:t>低带宽</a:t>
            </a:r>
            <a:r>
              <a:rPr lang="en-US" altLang="zh-CN" b="1" dirty="0">
                <a:effectLst/>
              </a:rPr>
              <a:t>IO</a:t>
            </a:r>
            <a:r>
              <a:rPr lang="zh-CN" altLang="en-US" b="1" dirty="0">
                <a:effectLst/>
              </a:rPr>
              <a:t>（分块复用）</a:t>
            </a:r>
            <a:r>
              <a:rPr lang="zh-CN" altLang="en-US" dirty="0">
                <a:effectLst/>
              </a:rPr>
              <a:t>：</a:t>
            </a:r>
            <a:endParaRPr lang="zh-CN" altLang="en-US" dirty="0">
              <a:effectLst/>
            </a:endParaRPr>
          </a:p>
          <a:p>
            <a:pPr algn="l">
              <a:buNone/>
            </a:pPr>
            <a:r>
              <a:rPr lang="zh-CN" altLang="en-US" dirty="0">
                <a:effectLst/>
              </a:rPr>
              <a:t>  </a:t>
            </a:r>
            <a:endParaRPr lang="en-US" altLang="zh-CN" dirty="0">
              <a:effectLst/>
            </a:endParaRPr>
          </a:p>
          <a:p>
            <a:pPr algn="l">
              <a:buNone/>
            </a:pPr>
            <a:r>
              <a:rPr lang="en-US" altLang="zh-CN" dirty="0"/>
              <a:t>  </a:t>
            </a:r>
            <a:r>
              <a:rPr lang="zh-CN" altLang="en-US" dirty="0">
                <a:effectLst/>
              </a:rPr>
              <a:t>输入分块为</a:t>
            </a:r>
            <a:r>
              <a:rPr lang="en-US" altLang="zh-CN" dirty="0">
                <a:effectLst/>
              </a:rPr>
              <a:t>16x16</a:t>
            </a:r>
            <a:r>
              <a:rPr lang="zh-CN" altLang="en-US" dirty="0">
                <a:effectLst/>
              </a:rPr>
              <a:t>，片上缓存</a:t>
            </a:r>
            <a:r>
              <a:rPr lang="en-US" altLang="zh-CN" dirty="0">
                <a:effectLst/>
              </a:rPr>
              <a:t>12</a:t>
            </a:r>
            <a:r>
              <a:rPr lang="zh-CN" altLang="en-US" dirty="0">
                <a:effectLst/>
              </a:rPr>
              <a:t>行数据，权重全缓存</a:t>
            </a:r>
            <a:endParaRPr lang="zh-CN" altLang="en-US" dirty="0">
              <a:effectLst/>
            </a:endParaRPr>
          </a:p>
          <a:p>
            <a:pPr algn="l">
              <a:buNone/>
            </a:pPr>
            <a:r>
              <a:rPr lang="zh-CN" altLang="en-US" dirty="0">
                <a:effectLst/>
              </a:rPr>
              <a:t>  </a:t>
            </a:r>
            <a:endParaRPr lang="en-US" altLang="zh-CN" dirty="0">
              <a:effectLst/>
            </a:endParaRPr>
          </a:p>
          <a:p>
            <a:pPr algn="l">
              <a:buNone/>
            </a:pPr>
            <a:r>
              <a:rPr lang="zh-CN" altLang="en-US" dirty="0">
                <a:effectLst/>
              </a:rPr>
              <a:t>外部访存：</a:t>
            </a:r>
            <a:r>
              <a:rPr lang="en-US" altLang="zh-CN" dirty="0">
                <a:effectLst/>
              </a:rPr>
              <a:t>(224/16)x(224/16)x64/4 = 3000</a:t>
            </a:r>
            <a:r>
              <a:rPr lang="zh-CN" altLang="en-US" dirty="0">
                <a:effectLst/>
              </a:rPr>
              <a:t>次访存</a:t>
            </a:r>
            <a:endParaRPr lang="zh-CN" altLang="en-US" dirty="0">
              <a:effectLst/>
            </a:endParaRPr>
          </a:p>
          <a:p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46768" y="4005991"/>
            <a:ext cx="103242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b="1" dirty="0"/>
              <a:t>采用上述提到的</a:t>
            </a:r>
            <a:r>
              <a:rPr lang="en-US" altLang="zh-CN" b="1" dirty="0"/>
              <a:t>IO</a:t>
            </a:r>
            <a:r>
              <a:rPr lang="zh-CN" altLang="en-US" b="1" dirty="0"/>
              <a:t>优化策略：</a:t>
            </a:r>
            <a:endParaRPr lang="zh-CN" altLang="en-US" dirty="0"/>
          </a:p>
          <a:p>
            <a:pPr>
              <a:buNone/>
            </a:pPr>
            <a:r>
              <a:rPr lang="en-US" altLang="zh-CN" dirty="0"/>
              <a:t>(1) </a:t>
            </a:r>
            <a:r>
              <a:rPr lang="zh-CN" altLang="en-US" dirty="0"/>
              <a:t>分块计算（</a:t>
            </a:r>
            <a:r>
              <a:rPr lang="en-US" altLang="zh-CN" dirty="0"/>
              <a:t>Tiling</a:t>
            </a:r>
            <a:r>
              <a:rPr lang="zh-CN" altLang="en-US" dirty="0"/>
              <a:t>）：将输入划分为子块（</a:t>
            </a:r>
            <a:r>
              <a:rPr lang="en-US" altLang="zh-CN" dirty="0"/>
              <a:t>16x16</a:t>
            </a:r>
            <a:r>
              <a:rPr lang="zh-CN" altLang="en-US" dirty="0"/>
              <a:t>），利用片上缓存复用数据。</a:t>
            </a:r>
            <a:endParaRPr lang="zh-CN" altLang="en-US" dirty="0"/>
          </a:p>
          <a:p>
            <a:pPr algn="l">
              <a:buNone/>
            </a:pPr>
            <a:r>
              <a:rPr lang="zh-CN" altLang="en-US" dirty="0">
                <a:effectLst/>
              </a:rPr>
              <a:t>外部访存次数减少至</a:t>
            </a:r>
            <a:r>
              <a:rPr lang="en-US" altLang="zh-CN" dirty="0">
                <a:effectLst/>
              </a:rPr>
              <a:t>1/64</a:t>
            </a:r>
            <a:r>
              <a:rPr lang="zh-CN" altLang="en-US" dirty="0">
                <a:effectLst/>
              </a:rPr>
              <a:t>，功耗也将显著降低。代价是需等待块加载完成计算延迟增加。</a:t>
            </a:r>
            <a:endParaRPr lang="zh-CN" altLang="en-US" dirty="0">
              <a:effectLst/>
            </a:endParaRPr>
          </a:p>
          <a:p>
            <a:pPr>
              <a:buNone/>
            </a:pPr>
            <a:r>
              <a:rPr lang="en-US" altLang="zh-CN" dirty="0"/>
              <a:t>(2) </a:t>
            </a:r>
            <a:r>
              <a:rPr lang="zh-CN" altLang="en-US" dirty="0"/>
              <a:t>双缓冲（</a:t>
            </a:r>
            <a:r>
              <a:rPr lang="en-US" altLang="zh-CN" dirty="0"/>
              <a:t>Double Buffering</a:t>
            </a:r>
            <a:r>
              <a:rPr lang="zh-CN" altLang="en-US" dirty="0"/>
              <a:t>）：计算当前块时预加载下一块，消除访存延迟的影响。</a:t>
            </a:r>
            <a:endParaRPr lang="zh-CN" altLang="en-US" dirty="0"/>
          </a:p>
          <a:p>
            <a:pPr algn="l">
              <a:buNone/>
            </a:pPr>
            <a:r>
              <a:rPr lang="zh-CN" altLang="en-US" dirty="0">
                <a:effectLst/>
              </a:rPr>
              <a:t>计算单元利用率得到提升。代价是需额外缓存空间（</a:t>
            </a:r>
            <a:r>
              <a:rPr lang="en-US" altLang="zh-CN" dirty="0">
                <a:effectLst/>
              </a:rPr>
              <a:t>2x16x16</a:t>
            </a:r>
            <a:r>
              <a:rPr lang="zh-CN" altLang="en-US" dirty="0">
                <a:effectLst/>
              </a:rPr>
              <a:t>）。</a:t>
            </a:r>
            <a:endParaRPr lang="zh-CN" altLang="en-US" dirty="0">
              <a:effectLst/>
            </a:endParaRPr>
          </a:p>
          <a:p>
            <a:pPr>
              <a:buNone/>
            </a:pPr>
            <a:r>
              <a:rPr lang="en-US" altLang="zh-CN" dirty="0"/>
              <a:t>(3) </a:t>
            </a:r>
            <a:r>
              <a:rPr lang="zh-CN" altLang="en-US" dirty="0"/>
              <a:t>数据压缩与量化：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例如输入</a:t>
            </a:r>
            <a:r>
              <a:rPr lang="en-US" altLang="zh-CN" dirty="0"/>
              <a:t>/</a:t>
            </a:r>
            <a:r>
              <a:rPr lang="zh-CN" altLang="en-US" dirty="0"/>
              <a:t>权重从</a:t>
            </a:r>
            <a:r>
              <a:rPr lang="en-US" altLang="zh-CN" dirty="0"/>
              <a:t>16-bit</a:t>
            </a:r>
            <a:r>
              <a:rPr lang="zh-CN" altLang="en-US" dirty="0"/>
              <a:t>压缩至</a:t>
            </a:r>
            <a:r>
              <a:rPr lang="en-US" altLang="zh-CN" dirty="0"/>
              <a:t>8-bit</a:t>
            </a:r>
            <a:r>
              <a:rPr lang="zh-CN" altLang="en-US" dirty="0"/>
              <a:t>，稀疏化剪枝</a:t>
            </a:r>
            <a:r>
              <a:rPr lang="en-US" altLang="zh-CN" dirty="0"/>
              <a:t>50%</a:t>
            </a:r>
            <a:r>
              <a:rPr lang="zh-CN" altLang="en-US" dirty="0"/>
              <a:t>权重，带宽需求降低</a:t>
            </a:r>
            <a:r>
              <a:rPr lang="en-US" altLang="zh-CN" dirty="0"/>
              <a:t>4</a:t>
            </a:r>
            <a:r>
              <a:rPr lang="zh-CN" altLang="en-US" dirty="0"/>
              <a:t>倍。</a:t>
            </a:r>
            <a:endParaRPr lang="zh-CN" altLang="en-US" dirty="0"/>
          </a:p>
          <a:p>
            <a:r>
              <a:rPr lang="zh-CN" altLang="en-US" dirty="0"/>
              <a:t>综上所述，在带宽有限的情形下，设计将受到很大的限制。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3689" y="92299"/>
            <a:ext cx="1200318" cy="12193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46768" y="574535"/>
            <a:ext cx="8658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思考题</a:t>
            </a:r>
            <a:r>
              <a:rPr lang="en-US" altLang="zh-CN" sz="4000" b="1" dirty="0"/>
              <a:t>4</a:t>
            </a:r>
            <a:endParaRPr lang="zh-CN" altLang="en-US" sz="40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946768" y="1282421"/>
            <a:ext cx="98273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在你之前设计的基础上，如果阵列的尺寸并不是新任务中输入矩阵尺寸的因数，例如在参考代码中，阵列尺寸是 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LMRoman12-Bold-Identity-H"/>
              </a:rPr>
              <a:t>1*10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，来了个新任务输入激活值矩阵尺寸是 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LMRoman12-Bold-Identity-H"/>
              </a:rPr>
              <a:t>102*128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，权重矩阵尺寸是 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LMRoman12-Bold-Identity-H"/>
              </a:rPr>
              <a:t>128*18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。那么你该如何进行 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LMRoman12-Bold-Identity-H"/>
              </a:rPr>
              <a:t>mapping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？或者如何进行更好的阵列设计？可以进行一个 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LMRoman12-Bold-Identity-H"/>
              </a:rPr>
              <a:t>case study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lang="zh-CN" altLang="en-US" dirty="0"/>
              <a:t> 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2194" y="2731473"/>
            <a:ext cx="5760024" cy="355199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46768" y="2390098"/>
            <a:ext cx="4635426" cy="3998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3060" indent="-28067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zh-CN" sz="1400" b="1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基础解决思路：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53060" indent="266700">
              <a:lnSpc>
                <a:spcPct val="150000"/>
              </a:lnSpc>
              <a:spcBef>
                <a:spcPts val="600"/>
              </a:spcBef>
            </a:pP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对输入矩阵进行</a:t>
            </a:r>
            <a:r>
              <a:rPr lang="en-GB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padding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，用零值将余数行（或列）补齐。</a:t>
            </a:r>
            <a:endParaRPr lang="en-US" altLang="zh-CN" sz="1400" kern="100" dirty="0">
              <a:effectLst/>
              <a:latin typeface="等线" panose="02010600030101010101" pitchFamily="2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353060" indent="2667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kern="100" dirty="0"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右图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为</a:t>
            </a:r>
            <a:r>
              <a:rPr lang="en-GB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case study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图示</a:t>
            </a:r>
            <a:r>
              <a:rPr lang="zh-CN" altLang="en-US" sz="1400" kern="100" dirty="0"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endParaRPr lang="en-US" altLang="zh-CN" sz="1400" kern="100" dirty="0">
              <a:latin typeface="等线" panose="02010600030101010101" pitchFamily="2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353060" indent="-28067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zh-CN" sz="1400" b="1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进阶解决思路：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"/>
            </a:pP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阵列重构：设计支持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宋体" panose="02010600030101010101" pitchFamily="2" charset="-122"/>
              </a:rPr>
              <a:t>动态位宽的</a:t>
            </a:r>
            <a:r>
              <a:rPr lang="en-GB" altLang="zh-CN" sz="1400" kern="100" dirty="0">
                <a:effectLst/>
                <a:latin typeface="微软雅黑 Light" panose="020B0502040204020203" pitchFamily="34" charset="-122"/>
                <a:ea typeface="等线" panose="02010600030101010101" pitchFamily="2" charset="-122"/>
                <a:cs typeface="Times New Roman" panose="02020603050405020304" pitchFamily="18" charset="0"/>
              </a:rPr>
              <a:t>PE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（如</a:t>
            </a:r>
            <a:r>
              <a:rPr lang="en-GB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8/10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元素模式），通过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⻔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宋体" panose="02010600030101010101" pitchFamily="2" charset="-122"/>
              </a:rPr>
              <a:t>控禁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⽤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宋体" panose="02010600030101010101" pitchFamily="2" charset="-122"/>
              </a:rPr>
              <a:t>未使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⽤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的</a:t>
            </a:r>
            <a:r>
              <a:rPr lang="en-GB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PE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。最后</a:t>
            </a:r>
            <a:r>
              <a:rPr lang="en-GB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次循环仅 激活前</a:t>
            </a:r>
            <a:r>
              <a:rPr lang="en-GB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8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r>
              <a:rPr lang="en-GB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PE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，避免填充。 资源消耗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⽅⾯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宋体" panose="02010600030101010101" pitchFamily="2" charset="-122"/>
              </a:rPr>
              <a:t>增加了</a:t>
            </a:r>
            <a:r>
              <a:rPr lang="en-GB" altLang="zh-CN" sz="1400" kern="100" dirty="0">
                <a:effectLst/>
                <a:latin typeface="微软雅黑 Light" panose="020B0502040204020203" pitchFamily="34" charset="-122"/>
                <a:ea typeface="等线" panose="02010600030101010101" pitchFamily="2" charset="-122"/>
                <a:cs typeface="Times New Roman" panose="02020603050405020304" pitchFamily="18" charset="0"/>
              </a:rPr>
              <a:t>MUT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等控制逻辑，节省了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⽆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宋体" panose="02010600030101010101" pitchFamily="2" charset="-122"/>
              </a:rPr>
              <a:t>效计算周期。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"/>
            </a:pP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重新设计阵列</a:t>
            </a:r>
            <a:r>
              <a:rPr lang="en-GB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/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分块尺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⼨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：如对于</a:t>
            </a:r>
            <a:r>
              <a:rPr lang="en-GB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MAC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树，将</a:t>
            </a:r>
            <a:r>
              <a:rPr lang="en-GB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1x10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阵列扩展为</a:t>
            </a:r>
            <a:r>
              <a:rPr lang="en-GB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1x16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（</a:t>
            </a:r>
            <a:r>
              <a:rPr lang="en-GB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128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可被</a:t>
            </a:r>
            <a:r>
              <a:rPr lang="en-GB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16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整除）。 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3689" y="92299"/>
            <a:ext cx="1200318" cy="12193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46768" y="574535"/>
            <a:ext cx="8658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思考题</a:t>
            </a:r>
            <a:r>
              <a:rPr lang="en-US" altLang="zh-CN" sz="4000" b="1" dirty="0"/>
              <a:t>5</a:t>
            </a:r>
            <a:endParaRPr lang="zh-CN" altLang="en-US" sz="40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946768" y="1282421"/>
            <a:ext cx="98273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在你之前设计的基础上，试着去搜索一下更好的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mapping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方案。（延时更低、带宽需求更 低、访问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bit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数更低等）</a:t>
            </a:r>
            <a:endParaRPr lang="zh-CN" altLang="en-US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None/>
            </a:pPr>
            <a:endParaRPr lang="en-US" altLang="zh-CN" dirty="0"/>
          </a:p>
        </p:txBody>
      </p:sp>
      <p:sp>
        <p:nvSpPr>
          <p:cNvPr id="7" name="文本框 6"/>
          <p:cNvSpPr txBox="1"/>
          <p:nvPr/>
        </p:nvSpPr>
        <p:spPr>
          <a:xfrm>
            <a:off x="946768" y="2621942"/>
            <a:ext cx="99869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>
                <a:effectLst/>
              </a:rPr>
              <a:t>数据复用：利用行缓冲存储输入特征图行，供多个卷积窗口复用，减少带宽。 流水线设计：数据传输与计算重叠，如前一窗口计算时，后一窗口数据预取，降低延时。</a:t>
            </a:r>
            <a:endParaRPr lang="en-US" altLang="zh-CN" dirty="0">
              <a:effectLst/>
            </a:endParaRPr>
          </a:p>
          <a:p>
            <a:pPr>
              <a:buNone/>
            </a:pPr>
            <a:endParaRPr lang="zh-CN" altLang="en-US" dirty="0">
              <a:effectLst/>
            </a:endParaRPr>
          </a:p>
          <a:p>
            <a:r>
              <a:rPr lang="zh-CN" altLang="en-US" dirty="0">
                <a:effectLst/>
              </a:rPr>
              <a:t>在</a:t>
            </a:r>
            <a:r>
              <a:rPr lang="en-US" altLang="zh-CN" dirty="0">
                <a:effectLst/>
              </a:rPr>
              <a:t>mapping</a:t>
            </a:r>
            <a:r>
              <a:rPr lang="zh-CN" altLang="en-US" dirty="0">
                <a:effectLst/>
              </a:rPr>
              <a:t>时，采用</a:t>
            </a:r>
            <a:r>
              <a:rPr lang="en-US" altLang="zh-CN" dirty="0">
                <a:effectLst/>
              </a:rPr>
              <a:t>WS</a:t>
            </a:r>
            <a:r>
              <a:rPr lang="zh-CN" altLang="en-US" dirty="0">
                <a:effectLst/>
              </a:rPr>
              <a:t>映射的方法，每轮脉动只读取一次权重，然后采取其他方法（如增设控制信号）来调整时序。减少数据移动，优先复用激活</a:t>
            </a:r>
            <a:r>
              <a:rPr lang="en-US" altLang="zh-CN" dirty="0">
                <a:effectLst/>
              </a:rPr>
              <a:t>/</a:t>
            </a:r>
            <a:r>
              <a:rPr lang="zh-CN" altLang="en-US" dirty="0">
                <a:effectLst/>
              </a:rPr>
              <a:t>权重降低带宽。</a:t>
            </a:r>
            <a:endParaRPr lang="zh-CN" altLang="en-US" dirty="0">
              <a:effectLst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3689" y="92299"/>
            <a:ext cx="1200318" cy="12193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46768" y="574535"/>
            <a:ext cx="8658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思考题</a:t>
            </a:r>
            <a:r>
              <a:rPr lang="en-US" altLang="zh-CN" sz="4000" b="1" dirty="0"/>
              <a:t>6</a:t>
            </a:r>
            <a:endParaRPr lang="zh-CN" altLang="en-US" sz="40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946768" y="1282421"/>
            <a:ext cx="98273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试着优化你的设计，使其能够跑到更高的时钟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更短的任务时间。 </a:t>
            </a:r>
            <a:b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lang="zh-CN" altLang="en-US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46767" y="1990307"/>
            <a:ext cx="3723909" cy="4328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3060" indent="-28067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zh-CN" b="1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乘加树的优化：</a:t>
            </a:r>
            <a:endParaRPr lang="zh-CN" altLang="zh-CN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zh-CN" sz="1600" b="1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流水线化</a:t>
            </a:r>
            <a:br>
              <a:rPr lang="en-US" altLang="zh-CN" sz="1600" b="1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</a:br>
            <a:r>
              <a:rPr lang="en-US" altLang="zh-CN" sz="1600" b="1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        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在原来的基础上，将乘累加操作改写为时序逻辑，使用非阻塞赋值。这样输出会多延后</a:t>
            </a:r>
            <a:r>
              <a:rPr lang="en-GB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4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个时钟周期，需要在仿真文件中修正。</a:t>
            </a:r>
            <a:br>
              <a:rPr lang="en-US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</a:br>
            <a:r>
              <a:rPr lang="en-US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        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可见修改为流水线后，时钟频率提高了</a:t>
            </a:r>
            <a:r>
              <a:rPr lang="en-GB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142%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，但阵列利用率有所下降。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32460" indent="266700">
              <a:lnSpc>
                <a:spcPct val="150000"/>
              </a:lnSpc>
            </a:pPr>
            <a:endParaRPr lang="en-US" altLang="zh-CN" sz="1800" kern="100" dirty="0">
              <a:effectLst/>
              <a:latin typeface="等线" panose="02010600030101010101" pitchFamily="2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632460" indent="266700">
              <a:lnSpc>
                <a:spcPct val="150000"/>
              </a:lnSpc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040" y="1928752"/>
            <a:ext cx="7014327" cy="2788029"/>
          </a:xfrm>
          <a:prstGeom prst="rect">
            <a:avLst/>
          </a:prstGeom>
        </p:spPr>
      </p:pic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5562718" y="4901970"/>
          <a:ext cx="4982845" cy="13472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83665"/>
                <a:gridCol w="1799590"/>
                <a:gridCol w="1799590"/>
              </a:tblGrid>
              <a:tr h="0">
                <a:tc>
                  <a:txBody>
                    <a:bodyPr/>
                    <a:lstStyle/>
                    <a:p>
                      <a:pPr marL="457200" indent="-280670" algn="just">
                        <a:lnSpc>
                          <a:spcPct val="150000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GB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indent="-280670" algn="just">
                        <a:lnSpc>
                          <a:spcPct val="150000"/>
                        </a:lnSpc>
                        <a:buNone/>
                      </a:pPr>
                      <a:r>
                        <a:rPr lang="zh-CN" sz="1600" kern="100" dirty="0">
                          <a:effectLst/>
                        </a:rPr>
                        <a:t>非流水线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indent="-280670" algn="just">
                        <a:lnSpc>
                          <a:spcPct val="150000"/>
                        </a:lnSpc>
                        <a:buNone/>
                      </a:pPr>
                      <a:r>
                        <a:rPr lang="zh-CN" sz="1600" kern="100">
                          <a:effectLst/>
                        </a:rPr>
                        <a:t>流水线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457200" indent="-280670" algn="just">
                        <a:lnSpc>
                          <a:spcPct val="150000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zh-CN" sz="1600" kern="100">
                          <a:effectLst/>
                        </a:rPr>
                        <a:t>阵列利用率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indent="-280670" algn="just">
                        <a:lnSpc>
                          <a:spcPct val="150000"/>
                        </a:lnSpc>
                        <a:buNone/>
                      </a:pPr>
                      <a:r>
                        <a:rPr lang="en-GB" sz="1600" kern="100">
                          <a:effectLst/>
                        </a:rPr>
                        <a:t>85.22%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indent="-280670" algn="just">
                        <a:lnSpc>
                          <a:spcPct val="150000"/>
                        </a:lnSpc>
                        <a:buNone/>
                      </a:pPr>
                      <a:r>
                        <a:rPr lang="en-GB" sz="1600" kern="100">
                          <a:effectLst/>
                        </a:rPr>
                        <a:t>72.11%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457200" indent="-280670" algn="just">
                        <a:lnSpc>
                          <a:spcPct val="150000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zh-CN" sz="1600" kern="100">
                          <a:effectLst/>
                        </a:rPr>
                        <a:t>最高时钟频率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indent="-280670" algn="just">
                        <a:lnSpc>
                          <a:spcPct val="150000"/>
                        </a:lnSpc>
                        <a:buNone/>
                      </a:pPr>
                      <a:r>
                        <a:rPr lang="en-GB" sz="1600" kern="100">
                          <a:effectLst/>
                        </a:rPr>
                        <a:t>116.171MHz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indent="-280670" algn="just">
                        <a:lnSpc>
                          <a:spcPct val="150000"/>
                        </a:lnSpc>
                        <a:buNone/>
                      </a:pPr>
                      <a:r>
                        <a:rPr lang="en-GB" sz="1600" kern="100" dirty="0">
                          <a:effectLst/>
                        </a:rPr>
                        <a:t>280.82MHz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3689" y="92299"/>
            <a:ext cx="1200318" cy="12193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46768" y="574535"/>
            <a:ext cx="8658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思考题</a:t>
            </a:r>
            <a:r>
              <a:rPr lang="en-US" altLang="zh-CN" sz="4000" b="1" dirty="0"/>
              <a:t>6</a:t>
            </a:r>
            <a:endParaRPr lang="zh-CN" altLang="en-US" sz="40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946768" y="1282421"/>
            <a:ext cx="98273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试着优化你的设计，使其能够跑到更高的时钟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更短的任务时间。 </a:t>
            </a:r>
            <a:b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lang="zh-CN" altLang="en-US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46767" y="1990307"/>
            <a:ext cx="5149233" cy="4712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3060" indent="-28067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zh-CN" b="1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乘加树的优化：</a:t>
            </a:r>
            <a:endParaRPr lang="zh-CN" altLang="zh-CN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1200"/>
              </a:spcBef>
            </a:pPr>
            <a:r>
              <a:rPr lang="en-US" altLang="zh-CN" sz="1600" b="1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1600" b="1" kern="100" dirty="0"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.</a:t>
            </a:r>
            <a:r>
              <a:rPr lang="zh-CN" altLang="en-US" sz="1600" b="1" kern="100" dirty="0"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600" b="1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闲置周期再利用</a:t>
            </a:r>
            <a:endParaRPr lang="en-US" altLang="zh-CN" sz="16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1200"/>
              </a:spcBef>
            </a:pPr>
            <a:r>
              <a:rPr lang="en-US" altLang="zh-CN" sz="16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由于输出相对输入要延迟若干个周期，在这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⼀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宋体" panose="02010600030101010101" pitchFamily="2" charset="-122"/>
              </a:rPr>
              <a:t>部分时间内，计算核并没有实际上被安排任务，这导致了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时间浪费。</a:t>
            </a:r>
            <a:endParaRPr lang="en-US" altLang="zh-CN" sz="16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1200"/>
              </a:spcBef>
            </a:pP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调整数据流与任务的</a:t>
            </a:r>
            <a:r>
              <a:rPr lang="en-GB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mapping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，将</a:t>
            </a:r>
            <a:r>
              <a:rPr lang="en-GB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“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等待输出</a:t>
            </a:r>
            <a:r>
              <a:rPr lang="en-GB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”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收纳进下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⼀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周期的预热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阶段，使得每个循环由（</a:t>
            </a:r>
            <a:r>
              <a:rPr lang="en-GB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5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个周期树输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⼊</a:t>
            </a:r>
            <a:r>
              <a:rPr lang="en-GB" altLang="zh-CN" sz="1600" kern="100" dirty="0">
                <a:effectLst/>
                <a:latin typeface="微软雅黑 Light" panose="020B0502040204020203" pitchFamily="34" charset="-122"/>
                <a:ea typeface="等线" panose="02010600030101010101" pitchFamily="2" charset="-122"/>
                <a:cs typeface="Times New Roman" panose="02020603050405020304" pitchFamily="18" charset="0"/>
              </a:rPr>
              <a:t>+3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个周期数据清零并等待输出）， 减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⼩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为（</a:t>
            </a:r>
            <a:r>
              <a:rPr lang="en-GB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5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个周期树输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⼊</a:t>
            </a:r>
            <a:r>
              <a:rPr lang="en-GB" altLang="zh-CN" sz="1600" kern="100" dirty="0">
                <a:effectLst/>
                <a:latin typeface="微软雅黑 Light" panose="020B0502040204020203" pitchFamily="34" charset="-122"/>
                <a:ea typeface="等线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个周期数据清零），节约了</a:t>
            </a:r>
            <a:r>
              <a:rPr lang="en-GB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25%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的时间。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32460" indent="266700">
              <a:lnSpc>
                <a:spcPct val="150000"/>
              </a:lnSpc>
            </a:pPr>
            <a:endParaRPr lang="en-US" altLang="zh-CN" sz="1800" kern="100" dirty="0">
              <a:effectLst/>
              <a:latin typeface="等线" panose="02010600030101010101" pitchFamily="2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632460" indent="266700">
              <a:lnSpc>
                <a:spcPct val="150000"/>
              </a:lnSpc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75928"/>
            <a:ext cx="5618232" cy="244453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236002" y="4606082"/>
            <a:ext cx="4914416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2460" indent="-280670"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验证结果：</a:t>
            </a:r>
            <a:endParaRPr lang="en-US" altLang="zh-CN" sz="16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32460" indent="-280670"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仿真时间由</a:t>
            </a:r>
            <a:r>
              <a:rPr lang="en-GB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12830ns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减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⼩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为</a:t>
            </a:r>
            <a:r>
              <a:rPr lang="en-GB" altLang="zh-CN" sz="1600" kern="100" dirty="0">
                <a:effectLst/>
                <a:latin typeface="微软雅黑 Light" panose="020B0502040204020203" pitchFamily="34" charset="-122"/>
                <a:ea typeface="等线" panose="02010600030101010101" pitchFamily="2" charset="-122"/>
                <a:cs typeface="Times New Roman" panose="02020603050405020304" pitchFamily="18" charset="0"/>
              </a:rPr>
              <a:t>9650ns</a:t>
            </a:r>
            <a:endParaRPr lang="en-US" altLang="zh-CN" sz="1600" kern="100" dirty="0">
              <a:latin typeface="等线" panose="02010600030101010101" pitchFamily="2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632460" indent="-280670"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zh-CN" sz="1600" b="1" kern="100" dirty="0">
                <a:solidFill>
                  <a:srgbClr val="7030A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加速</a:t>
            </a:r>
            <a:r>
              <a:rPr lang="zh-CN" altLang="zh-CN" sz="1600" b="1" kern="100" dirty="0">
                <a:solidFill>
                  <a:srgbClr val="7030A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⽐</a:t>
            </a:r>
            <a:r>
              <a:rPr lang="zh-CN" altLang="zh-CN" sz="1600" b="1" kern="100" dirty="0">
                <a:solidFill>
                  <a:srgbClr val="7030A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约为</a:t>
            </a:r>
            <a:r>
              <a:rPr lang="en-GB" altLang="zh-CN" sz="1600" b="1" kern="100" dirty="0">
                <a:solidFill>
                  <a:srgbClr val="7030A0"/>
                </a:solidFill>
                <a:effectLst/>
                <a:latin typeface="微软雅黑 Light" panose="020B0502040204020203" pitchFamily="34" charset="-122"/>
                <a:ea typeface="等线" panose="02010600030101010101" pitchFamily="2" charset="-122"/>
                <a:cs typeface="Times New Roman" panose="02020603050405020304" pitchFamily="18" charset="0"/>
              </a:rPr>
              <a:t>1.33x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，与理论分析相符。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679557" y="2699665"/>
            <a:ext cx="3552519" cy="1436347"/>
          </a:xfrm>
          <a:prstGeom prst="rect">
            <a:avLst/>
          </a:prstGeom>
        </p:spPr>
        <p:txBody>
          <a:bodyPr wrap="square" lIns="91432" tIns="45716" rIns="91432" bIns="45716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6600" b="1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谢谢大家</a:t>
            </a:r>
            <a:endParaRPr lang="zh-CN" altLang="en-US" sz="6600" b="1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074901" y="1528674"/>
            <a:ext cx="6437542" cy="5860379"/>
          </a:xfrm>
          <a:prstGeom prst="rect">
            <a:avLst/>
          </a:prstGeom>
        </p:spPr>
        <p:txBody>
          <a:bodyPr wrap="square" lIns="91432" tIns="45716" rIns="91432" bIns="45716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kern="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分工：</a:t>
            </a:r>
            <a:endParaRPr lang="en-US" altLang="zh-CN" kern="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陈天乐：汇报</a:t>
            </a:r>
            <a:endParaRPr lang="en-US" altLang="zh-CN" kern="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贺湘杰：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管羽：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苏创椿：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1*N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乘累加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薛晟涛：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1*N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脉动阵列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周璟昊：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M*N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乘累加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蔡静雯：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M*N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脉动阵列、思考题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曾瀚章：思考题整理汇总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br>
              <a:rPr lang="en-US" altLang="zh-CN" kern="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en-US" altLang="zh-CN" kern="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en-US" altLang="zh-CN" kern="0" dirty="0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zh-CN" kern="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endParaRPr lang="zh-CN" altLang="en-US" kern="0" dirty="0">
              <a:solidFill>
                <a:srgbClr val="4144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" y="1"/>
            <a:ext cx="12192000" cy="1124744"/>
          </a:xfrm>
          <a:prstGeom prst="rect">
            <a:avLst/>
          </a:prstGeom>
          <a:solidFill>
            <a:srgbClr val="4144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" y="5733256"/>
            <a:ext cx="12192000" cy="1124744"/>
          </a:xfrm>
          <a:prstGeom prst="rect">
            <a:avLst/>
          </a:prstGeom>
          <a:solidFill>
            <a:srgbClr val="4144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22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23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24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25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2" grpId="1"/>
      <p:bldP spid="5" grpId="0" animBg="1"/>
      <p:bldP spid="16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5843</Words>
  <Application>WPS 演示</Application>
  <PresentationFormat>宽屏</PresentationFormat>
  <Paragraphs>589</Paragraphs>
  <Slides>26</Slides>
  <Notes>7</Notes>
  <HiddenSlides>0</HiddenSlides>
  <MMClips>1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2" baseType="lpstr">
      <vt:lpstr>Arial</vt:lpstr>
      <vt:lpstr>宋体</vt:lpstr>
      <vt:lpstr>Wingdings</vt:lpstr>
      <vt:lpstr>微软雅黑</vt:lpstr>
      <vt:lpstr>黑体</vt:lpstr>
      <vt:lpstr>Arial Unicode MS</vt:lpstr>
      <vt:lpstr>Calibri</vt:lpstr>
      <vt:lpstr>Times New Roman</vt:lpstr>
      <vt:lpstr>Calibri</vt:lpstr>
      <vt:lpstr>等线</vt:lpstr>
      <vt:lpstr>Arial Unicode MS</vt:lpstr>
      <vt:lpstr>Calibri Light</vt:lpstr>
      <vt:lpstr>LMRoman12-Bold-Identity-H</vt:lpstr>
      <vt:lpstr>Segoe Print</vt:lpstr>
      <vt:lpstr>微软雅黑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毕业答辩类</dc:title>
  <dc:creator>Public copy</dc:creator>
  <cp:keywords>RP</cp:keywords>
  <dc:description>RP</dc:description>
  <dc:subject>RP</dc:subject>
  <cp:category>RP</cp:category>
  <cp:lastModifiedBy>Public copy</cp:lastModifiedBy>
  <cp:revision>24</cp:revision>
  <dcterms:created xsi:type="dcterms:W3CDTF">2018-03-09T07:37:00Z</dcterms:created>
  <dcterms:modified xsi:type="dcterms:W3CDTF">2025-05-06T05:03:36Z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6759224E0A8C454E8EA767B91C9AEFAF_12</vt:lpwstr>
  </property>
</Properties>
</file>