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9" r:id="rId13"/>
    <p:sldId id="300" r:id="rId14"/>
    <p:sldId id="301" r:id="rId15"/>
    <p:sldId id="302" r:id="rId16"/>
    <p:sldId id="297" r:id="rId17"/>
    <p:sldId id="298" r:id="rId18"/>
    <p:sldId id="303" r:id="rId19"/>
    <p:sldId id="304" r:id="rId20"/>
    <p:sldId id="306" r:id="rId21"/>
    <p:sldId id="305" r:id="rId22"/>
    <p:sldId id="307" r:id="rId23"/>
    <p:sldId id="310" r:id="rId24"/>
    <p:sldId id="308" r:id="rId25"/>
    <p:sldId id="309" r:id="rId26"/>
    <p:sldId id="28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7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4381"/>
    <a:srgbClr val="F7B651"/>
    <a:srgbClr val="9DC3E6"/>
    <a:srgbClr val="702F73"/>
    <a:srgbClr val="595959"/>
    <a:srgbClr val="8FC41C"/>
    <a:srgbClr val="26AEDE"/>
    <a:srgbClr val="EB67A1"/>
    <a:srgbClr val="AC1E1C"/>
    <a:srgbClr val="85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67"/>
      </p:cViewPr>
      <p:guideLst>
        <p:guide orient="horz" pos="2236"/>
        <p:guide pos="37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8C990-4B60-4A54-ACB1-976FE75E1F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0A53D-CBC8-41AE-90F7-EB26C8020D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5"/>
          <p:cNvSpPr/>
          <p:nvPr userDrawn="1"/>
        </p:nvSpPr>
        <p:spPr>
          <a:xfrm>
            <a:off x="0" y="0"/>
            <a:ext cx="8238932" cy="6858000"/>
          </a:xfrm>
          <a:custGeom>
            <a:avLst/>
            <a:gdLst>
              <a:gd name="connsiteX0" fmla="*/ 0 w 7675927"/>
              <a:gd name="connsiteY0" fmla="*/ 0 h 6858000"/>
              <a:gd name="connsiteX1" fmla="*/ 7675927 w 7675927"/>
              <a:gd name="connsiteY1" fmla="*/ 0 h 6858000"/>
              <a:gd name="connsiteX2" fmla="*/ 7675927 w 7675927"/>
              <a:gd name="connsiteY2" fmla="*/ 6858000 h 6858000"/>
              <a:gd name="connsiteX3" fmla="*/ 0 w 7675927"/>
              <a:gd name="connsiteY3" fmla="*/ 6858000 h 6858000"/>
              <a:gd name="connsiteX4" fmla="*/ 0 w 7675927"/>
              <a:gd name="connsiteY4" fmla="*/ 0 h 6858000"/>
              <a:gd name="connsiteX0-1" fmla="*/ 0 w 7675927"/>
              <a:gd name="connsiteY0-2" fmla="*/ 0 h 6858000"/>
              <a:gd name="connsiteX1-3" fmla="*/ 7675927 w 7675927"/>
              <a:gd name="connsiteY1-4" fmla="*/ 0 h 6858000"/>
              <a:gd name="connsiteX2-5" fmla="*/ 7669764 w 7675927"/>
              <a:gd name="connsiteY2-6" fmla="*/ 3433665 h 6858000"/>
              <a:gd name="connsiteX3-7" fmla="*/ 7675927 w 7675927"/>
              <a:gd name="connsiteY3-8" fmla="*/ 6858000 h 6858000"/>
              <a:gd name="connsiteX4-9" fmla="*/ 0 w 7675927"/>
              <a:gd name="connsiteY4-10" fmla="*/ 6858000 h 6858000"/>
              <a:gd name="connsiteX5" fmla="*/ 0 w 7675927"/>
              <a:gd name="connsiteY5" fmla="*/ 0 h 6858000"/>
              <a:gd name="connsiteX0-11" fmla="*/ 0 w 9181326"/>
              <a:gd name="connsiteY0-12" fmla="*/ 0 h 6858000"/>
              <a:gd name="connsiteX1-13" fmla="*/ 7675927 w 9181326"/>
              <a:gd name="connsiteY1-14" fmla="*/ 0 h 6858000"/>
              <a:gd name="connsiteX2-15" fmla="*/ 9181324 w 9181326"/>
              <a:gd name="connsiteY2-16" fmla="*/ 3461657 h 6858000"/>
              <a:gd name="connsiteX3-17" fmla="*/ 7675927 w 9181326"/>
              <a:gd name="connsiteY3-18" fmla="*/ 6858000 h 6858000"/>
              <a:gd name="connsiteX4-19" fmla="*/ 0 w 9181326"/>
              <a:gd name="connsiteY4-20" fmla="*/ 6858000 h 6858000"/>
              <a:gd name="connsiteX5-21" fmla="*/ 0 w 9181326"/>
              <a:gd name="connsiteY5-22" fmla="*/ 0 h 6858000"/>
              <a:gd name="connsiteX0-23" fmla="*/ 0 w 9181328"/>
              <a:gd name="connsiteY0-24" fmla="*/ 0 h 6858000"/>
              <a:gd name="connsiteX1-25" fmla="*/ 7675927 w 9181328"/>
              <a:gd name="connsiteY1-26" fmla="*/ 0 h 6858000"/>
              <a:gd name="connsiteX2-27" fmla="*/ 9181324 w 9181328"/>
              <a:gd name="connsiteY2-28" fmla="*/ 3461657 h 6858000"/>
              <a:gd name="connsiteX3-29" fmla="*/ 7675927 w 9181328"/>
              <a:gd name="connsiteY3-30" fmla="*/ 6858000 h 6858000"/>
              <a:gd name="connsiteX4-31" fmla="*/ 0 w 9181328"/>
              <a:gd name="connsiteY4-32" fmla="*/ 6858000 h 6858000"/>
              <a:gd name="connsiteX5-33" fmla="*/ 0 w 9181328"/>
              <a:gd name="connsiteY5-34" fmla="*/ 0 h 6858000"/>
              <a:gd name="connsiteX0-35" fmla="*/ 0 w 9153337"/>
              <a:gd name="connsiteY0-36" fmla="*/ 0 h 6858000"/>
              <a:gd name="connsiteX1-37" fmla="*/ 7675927 w 9153337"/>
              <a:gd name="connsiteY1-38" fmla="*/ 0 h 6858000"/>
              <a:gd name="connsiteX2-39" fmla="*/ 9153333 w 9153337"/>
              <a:gd name="connsiteY2-40" fmla="*/ 3582955 h 6858000"/>
              <a:gd name="connsiteX3-41" fmla="*/ 7675927 w 9153337"/>
              <a:gd name="connsiteY3-42" fmla="*/ 6858000 h 6858000"/>
              <a:gd name="connsiteX4-43" fmla="*/ 0 w 9153337"/>
              <a:gd name="connsiteY4-44" fmla="*/ 6858000 h 6858000"/>
              <a:gd name="connsiteX5-45" fmla="*/ 0 w 9153337"/>
              <a:gd name="connsiteY5-46" fmla="*/ 0 h 6858000"/>
              <a:gd name="connsiteX0-47" fmla="*/ 0 w 9153339"/>
              <a:gd name="connsiteY0-48" fmla="*/ 0 h 6858000"/>
              <a:gd name="connsiteX1-49" fmla="*/ 7675927 w 9153339"/>
              <a:gd name="connsiteY1-50" fmla="*/ 0 h 6858000"/>
              <a:gd name="connsiteX2-51" fmla="*/ 9153333 w 9153339"/>
              <a:gd name="connsiteY2-52" fmla="*/ 3582955 h 6858000"/>
              <a:gd name="connsiteX3-53" fmla="*/ 7675927 w 9153339"/>
              <a:gd name="connsiteY3-54" fmla="*/ 6858000 h 6858000"/>
              <a:gd name="connsiteX4-55" fmla="*/ 0 w 9153339"/>
              <a:gd name="connsiteY4-56" fmla="*/ 6858000 h 6858000"/>
              <a:gd name="connsiteX5-57" fmla="*/ 0 w 9153339"/>
              <a:gd name="connsiteY5-58" fmla="*/ 0 h 6858000"/>
              <a:gd name="connsiteX0-59" fmla="*/ 0 w 9144008"/>
              <a:gd name="connsiteY0-60" fmla="*/ 0 h 6858000"/>
              <a:gd name="connsiteX1-61" fmla="*/ 7675927 w 9144008"/>
              <a:gd name="connsiteY1-62" fmla="*/ 0 h 6858000"/>
              <a:gd name="connsiteX2-63" fmla="*/ 9144002 w 9144008"/>
              <a:gd name="connsiteY2-64" fmla="*/ 3433665 h 6858000"/>
              <a:gd name="connsiteX3-65" fmla="*/ 7675927 w 9144008"/>
              <a:gd name="connsiteY3-66" fmla="*/ 6858000 h 6858000"/>
              <a:gd name="connsiteX4-67" fmla="*/ 0 w 9144008"/>
              <a:gd name="connsiteY4-68" fmla="*/ 6858000 h 6858000"/>
              <a:gd name="connsiteX5-69" fmla="*/ 0 w 9144008"/>
              <a:gd name="connsiteY5-70" fmla="*/ 0 h 6858000"/>
              <a:gd name="connsiteX0-71" fmla="*/ 0 w 9153339"/>
              <a:gd name="connsiteY0-72" fmla="*/ 0 h 6858000"/>
              <a:gd name="connsiteX1-73" fmla="*/ 7675927 w 9153339"/>
              <a:gd name="connsiteY1-74" fmla="*/ 0 h 6858000"/>
              <a:gd name="connsiteX2-75" fmla="*/ 9153333 w 9153339"/>
              <a:gd name="connsiteY2-76" fmla="*/ 3480318 h 6858000"/>
              <a:gd name="connsiteX3-77" fmla="*/ 7675927 w 9153339"/>
              <a:gd name="connsiteY3-78" fmla="*/ 6858000 h 6858000"/>
              <a:gd name="connsiteX4-79" fmla="*/ 0 w 9153339"/>
              <a:gd name="connsiteY4-80" fmla="*/ 6858000 h 6858000"/>
              <a:gd name="connsiteX5-81" fmla="*/ 0 w 9153339"/>
              <a:gd name="connsiteY5-8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153339" h="6858000">
                <a:moveTo>
                  <a:pt x="0" y="0"/>
                </a:moveTo>
                <a:lnTo>
                  <a:pt x="7675927" y="0"/>
                </a:lnTo>
                <a:cubicBezTo>
                  <a:pt x="8644256" y="1088571"/>
                  <a:pt x="9155387" y="2335763"/>
                  <a:pt x="9153333" y="3480318"/>
                </a:cubicBezTo>
                <a:cubicBezTo>
                  <a:pt x="9155387" y="4621763"/>
                  <a:pt x="8485636" y="6024465"/>
                  <a:pt x="7675927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702F73">
              <a:alpha val="90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7961876" y="3151944"/>
            <a:ext cx="554111" cy="554111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02"/>
          <a:stretch>
            <a:fillRect/>
          </a:stretch>
        </p:blipFill>
        <p:spPr>
          <a:xfrm>
            <a:off x="0" y="0"/>
            <a:ext cx="4254759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0"/>
            <a:ext cx="4254759" cy="6858000"/>
          </a:xfrm>
          <a:prstGeom prst="rect">
            <a:avLst/>
          </a:prstGeom>
          <a:solidFill>
            <a:srgbClr val="702F7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3977702" y="3151944"/>
            <a:ext cx="554111" cy="554111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702F7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290486" y="3197165"/>
            <a:ext cx="463670" cy="463670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11505951" y="6251094"/>
            <a:ext cx="463670" cy="463670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504782" y="6300366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335902"/>
            <a:ext cx="513184" cy="503853"/>
          </a:xfrm>
          <a:prstGeom prst="rect">
            <a:avLst/>
          </a:prstGeom>
          <a:solidFill>
            <a:srgbClr val="702F7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35563" y="335902"/>
            <a:ext cx="10515600" cy="5492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702F7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582231" y="335902"/>
            <a:ext cx="45719" cy="503853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内容占位符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9" t="43817" r="4540" b="13726"/>
          <a:stretch>
            <a:fillRect/>
          </a:stretch>
        </p:blipFill>
        <p:spPr>
          <a:xfrm>
            <a:off x="10028853" y="259285"/>
            <a:ext cx="1940768" cy="702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11.png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image" Target="../media/image10.png"/><Relationship Id="rId3" Type="http://schemas.openxmlformats.org/officeDocument/2006/relationships/tags" Target="../tags/tag11.xml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image" Target="../media/image14.png"/><Relationship Id="rId5" Type="http://schemas.openxmlformats.org/officeDocument/2006/relationships/tags" Target="../tags/tag18.xml"/><Relationship Id="rId4" Type="http://schemas.openxmlformats.org/officeDocument/2006/relationships/image" Target="../media/image10.png"/><Relationship Id="rId3" Type="http://schemas.openxmlformats.org/officeDocument/2006/relationships/tags" Target="../tags/tag17.xml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2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23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tags" Target="../tags/tag24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23935" y="2651644"/>
            <a:ext cx="627888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量化神经网络实验汇报</a:t>
            </a:r>
            <a:endParaRPr lang="zh-CN" altLang="zh-C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1790" y="3615055"/>
            <a:ext cx="738314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小组成员：陈天乐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冯冠杰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刘烈云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高雨菲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林子昂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梁方岳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单伟浩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1066930" y="2759214"/>
            <a:ext cx="1914395" cy="1131451"/>
            <a:chOff x="1066930" y="2759214"/>
            <a:chExt cx="1914395" cy="1131451"/>
          </a:xfrm>
        </p:grpSpPr>
        <p:sp>
          <p:nvSpPr>
            <p:cNvPr id="5" name="文本框 4"/>
            <p:cNvSpPr txBox="1"/>
            <p:nvPr/>
          </p:nvSpPr>
          <p:spPr>
            <a:xfrm>
              <a:off x="1066930" y="2759214"/>
              <a:ext cx="1914395" cy="70788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目 </a:t>
              </a:r>
              <a:r>
                <a:rPr lang="en-US" altLang="zh-CN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endParaRPr 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31641" y="3429000"/>
              <a:ext cx="1614196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综艺简体" panose="02010601030101010101" pitchFamily="65" charset="-122"/>
                  <a:ea typeface="方正综艺简体" panose="02010601030101010101" pitchFamily="65" charset="-122"/>
                </a:rPr>
                <a:t>contents</a:t>
              </a:r>
              <a:endParaRPr 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综艺简体" panose="02010601030101010101" pitchFamily="65" charset="-122"/>
                <a:ea typeface="方正综艺简体" panose="02010601030101010101" pitchFamily="65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405665" y="1611488"/>
            <a:ext cx="455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    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endParaRPr lang="zh-CN" altLang="en-US" sz="3600" b="1" dirty="0">
              <a:solidFill>
                <a:srgbClr val="702F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405665" y="2667493"/>
            <a:ext cx="455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    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更换激活函数</a:t>
            </a:r>
            <a:r>
              <a:rPr lang="en-US" altLang="zh-CN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702F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405665" y="3662538"/>
            <a:ext cx="455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    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低比特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endParaRPr lang="zh-CN" altLang="en-US" sz="3600" b="1" dirty="0">
              <a:solidFill>
                <a:srgbClr val="702F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15190" y="4642343"/>
            <a:ext cx="455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    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更换网络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3600" b="1" dirty="0">
              <a:solidFill>
                <a:srgbClr val="702F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>
            <p:custDataLst>
              <p:tags r:id="rId6"/>
            </p:custDataLst>
          </p:nvPr>
        </p:nvSpPr>
        <p:spPr>
          <a:xfrm>
            <a:off x="5911591" y="1706522"/>
            <a:ext cx="241559" cy="456261"/>
          </a:xfrm>
          <a:prstGeom prst="parallelogram">
            <a:avLst>
              <a:gd name="adj" fmla="val 74074"/>
            </a:avLst>
          </a:prstGeom>
          <a:solidFill>
            <a:srgbClr val="702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>
            <p:custDataLst>
              <p:tags r:id="rId7"/>
            </p:custDataLst>
          </p:nvPr>
        </p:nvSpPr>
        <p:spPr>
          <a:xfrm>
            <a:off x="5911591" y="2757243"/>
            <a:ext cx="241559" cy="456261"/>
          </a:xfrm>
          <a:prstGeom prst="parallelogram">
            <a:avLst>
              <a:gd name="adj" fmla="val 74074"/>
            </a:avLst>
          </a:prstGeom>
          <a:solidFill>
            <a:srgbClr val="702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/>
          <p:cNvSpPr/>
          <p:nvPr>
            <p:custDataLst>
              <p:tags r:id="rId8"/>
            </p:custDataLst>
          </p:nvPr>
        </p:nvSpPr>
        <p:spPr>
          <a:xfrm>
            <a:off x="5911591" y="3757572"/>
            <a:ext cx="241559" cy="456261"/>
          </a:xfrm>
          <a:prstGeom prst="parallelogram">
            <a:avLst>
              <a:gd name="adj" fmla="val 74074"/>
            </a:avLst>
          </a:prstGeom>
          <a:solidFill>
            <a:srgbClr val="702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17"/>
          <p:cNvSpPr/>
          <p:nvPr/>
        </p:nvSpPr>
        <p:spPr>
          <a:xfrm>
            <a:off x="5911591" y="4737377"/>
            <a:ext cx="241559" cy="456261"/>
          </a:xfrm>
          <a:prstGeom prst="parallelogram">
            <a:avLst>
              <a:gd name="adj" fmla="val 74074"/>
            </a:avLst>
          </a:prstGeom>
          <a:solidFill>
            <a:srgbClr val="702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15190" y="5620878"/>
            <a:ext cx="455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 /  </a:t>
            </a:r>
            <a:r>
              <a:rPr lang="zh-CN" altLang="en-US" sz="3600" b="1" dirty="0">
                <a:solidFill>
                  <a:srgbClr val="702F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小组分工</a:t>
            </a:r>
            <a:endParaRPr lang="zh-CN" altLang="en-US" sz="3600" b="1" dirty="0">
              <a:solidFill>
                <a:srgbClr val="702F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可视化权重分布--Weight分析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1625" y="1842770"/>
            <a:ext cx="4717415" cy="34036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sz="24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模型的</a:t>
            </a:r>
            <a:r>
              <a:rPr lang="en-US" sz="24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weights </a:t>
            </a:r>
            <a:r>
              <a:rPr lang="zh-CN" sz="24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有如下特征：</a:t>
            </a:r>
            <a:endParaRPr lang="zh-CN" sz="24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权重近似关于0对称，均值≈0</a:t>
            </a:r>
            <a:endParaRPr lang="zh-CN" sz="24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权重数据量较大时，分布接近正态分布</a:t>
            </a:r>
            <a:endParaRPr lang="zh-CN" sz="24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endParaRPr lang="zh-CN" sz="24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558" t="1694"/>
          <a:stretch>
            <a:fillRect/>
          </a:stretch>
        </p:blipFill>
        <p:spPr>
          <a:xfrm>
            <a:off x="5349875" y="846455"/>
            <a:ext cx="4655185" cy="2800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77" t="1700" b="1838"/>
          <a:stretch>
            <a:fillRect/>
          </a:stretch>
        </p:blipFill>
        <p:spPr>
          <a:xfrm>
            <a:off x="5276215" y="3689985"/>
            <a:ext cx="4912360" cy="309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可视化权重分布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方法选择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202690" y="1534160"/>
            <a:ext cx="9785985" cy="41173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选择采用</a:t>
            </a:r>
            <a:r>
              <a:rPr lang="zh-CN" sz="2400" b="1" u="sng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3-sigma</a:t>
            </a: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进行量化。来尽量减小离群值对量化精度造成的影响。离群值出现频率较低，将其忽略影响较小。</a:t>
            </a:r>
            <a:endParaRPr lang="zh-CN" sz="2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endParaRPr lang="zh-CN" sz="24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将离群值包含在量化范围时，如果离群值过大，在固定长度的量化区间内，离群值可能会使得其他重要数据点的分辨率降低，从而降低整体的精度。在数据分析中，离群值可能会对均值、标准差等统计量产生较大影响，从而扭曲数据的真实分布。</a:t>
            </a:r>
            <a:endParaRPr sz="2800" b="1">
              <a:solidFill>
                <a:schemeClr val="accent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量化网络权重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--Range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735330" y="3943350"/>
            <a:ext cx="10253345" cy="19805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algn="l">
              <a:buClrTx/>
              <a:buSzTx/>
              <a:buFontTx/>
            </a:pPr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     </a:t>
            </a:r>
            <a:r>
              <a:rPr lang="en-US" sz="2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在3-sigma range量化和total range量化情况下，网络的准确率和原网络基本一致，可以认为量化网络与原网络拥有近似相同的精度；但2-sigma range和1-sigma range量化的网络准确率下降过多，证明截断后精度损失过多。</a:t>
            </a:r>
            <a:endParaRPr lang="zh-CN" sz="2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033395" y="1130300"/>
          <a:ext cx="5753100" cy="2489200"/>
        </p:xfrm>
        <a:graphic>
          <a:graphicData uri="http://schemas.openxmlformats.org/drawingml/2006/table">
            <a:tbl>
              <a:tblPr/>
              <a:tblGrid>
                <a:gridCol w="3729355"/>
                <a:gridCol w="2023745"/>
              </a:tblGrid>
              <a:tr h="4483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量化方式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准确率</a:t>
                      </a:r>
                      <a:endParaRPr 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3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未量化</a:t>
                      </a:r>
                      <a:endParaRPr 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56.8%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67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total range量化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55.42%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3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3-sigma range量化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53.20%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3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2-sigma range量化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5</a:t>
                      </a: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1.76%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3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1-sigma range量化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42.34%</a:t>
                      </a:r>
                      <a:endParaRPr lang="en-US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177800" marR="177800" marT="57150" marB="571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量化网络权重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735330" y="3733165"/>
            <a:ext cx="10253345" cy="19805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sz="2800" b="1"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3925" y="1287780"/>
            <a:ext cx="9677400" cy="4512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当我们没有做数据恢复，而精度没有损失，主要有两点考虑。</a:t>
            </a:r>
            <a:endParaRPr lang="zh-CN" sz="2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首先这是一个</a:t>
            </a:r>
            <a:r>
              <a:rPr lang="zh-CN" sz="2400" b="1" u="sng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分类问题</a:t>
            </a: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，最终的十分类问题，只选取可能性最高的那种成为推理结果，这种方式参照相对大小，而与绝对大小无关。</a:t>
            </a:r>
            <a:endParaRPr lang="zh-CN" sz="2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其次，我们使用的是对称量化，没有对权重进行偏置，通过ReLU函数时，与原数据通过的操作没有差别（而且不存在阈值截断，否则量化权重大于一定值时会被截断），因而不影响后续的推理。</a:t>
            </a:r>
            <a:endParaRPr lang="zh-CN" sz="2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sz="2400" b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所以，当我们进行的任务需要判断数据绝对大小，或是量化方式中添加了偏置，或是激活函数存在阈值截断时，我们这种操作是不适用的。</a:t>
            </a:r>
            <a:endParaRPr lang="zh-CN" sz="2400" b="1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激活层</a:t>
            </a:r>
            <a:r>
              <a:rPr lang="zh-CN" altLang="en-US" dirty="0">
                <a:sym typeface="+mn-ea"/>
              </a:rPr>
              <a:t>可视化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pic>
        <p:nvPicPr>
          <p:cNvPr id="4" name="图片 3" descr="图表, 直方图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2240" y="2766695"/>
            <a:ext cx="3651885" cy="2808605"/>
          </a:xfrm>
          <a:prstGeom prst="rect">
            <a:avLst/>
          </a:prstGeom>
        </p:spPr>
      </p:pic>
      <p:pic>
        <p:nvPicPr>
          <p:cNvPr id="6" name="图片 5" descr="图表, 直方图&#10;&#10;AI 生成的内容可能不正确。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7820" y="2766695"/>
            <a:ext cx="3709035" cy="280987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18326" y="113409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 err="1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000" b="1" kern="100" dirty="0" err="1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nput_activations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[-1.00000, 1.00000]</a:t>
            </a:r>
            <a:endParaRPr lang="en-US" altLang="zh-CN" kern="100" dirty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[-1.00000, 1.00000]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315873" y="113409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onv1_</a:t>
            </a: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8.33849]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4.46330]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3" name="图片 12" descr="图表, 直方图&#10;&#10;AI 生成的内容可能不正确。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201660" y="2765425"/>
            <a:ext cx="3709035" cy="280987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8332907" y="113409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onv1_</a:t>
            </a: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12.26356]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6.29308]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激活层</a:t>
            </a:r>
            <a:r>
              <a:rPr lang="zh-CN" altLang="en-US" dirty="0">
                <a:sym typeface="+mn-ea"/>
              </a:rPr>
              <a:t>可视化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1684" y="113917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fc1_output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12.36647]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[0.00000, 5.47828]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69231" y="113917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fc2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</a:t>
            </a: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7.59603]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3.71933]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86265" y="113917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fc3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</a:t>
            </a: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[-7.80430, 11.88409]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[-7.80430, 10.84223]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5" name="图片 4" descr="图表, 直方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" y="2681605"/>
            <a:ext cx="3397250" cy="2612390"/>
          </a:xfrm>
          <a:prstGeom prst="rect">
            <a:avLst/>
          </a:prstGeom>
        </p:spPr>
      </p:pic>
      <p:pic>
        <p:nvPicPr>
          <p:cNvPr id="7" name="图片 6" descr="图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405" y="2681605"/>
            <a:ext cx="3397250" cy="2612390"/>
          </a:xfrm>
          <a:prstGeom prst="rect">
            <a:avLst/>
          </a:prstGeom>
        </p:spPr>
      </p:pic>
      <p:pic>
        <p:nvPicPr>
          <p:cNvPr id="8" name="图片 7" descr="图表, 直方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855" y="2681605"/>
            <a:ext cx="3333115" cy="26123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3985" y="5242560"/>
            <a:ext cx="1186243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conv1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conv2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的输出的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3-sigma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小很多，最大值是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的一半左右；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input_activations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3-sigma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相等，数值分布相对均匀；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fc3_output_activations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接近正态分布，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3-sigma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相差很小，十分接近。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激活层</a:t>
            </a:r>
            <a:r>
              <a:rPr lang="zh-CN" altLang="en-US" dirty="0">
                <a:sym typeface="+mn-ea"/>
              </a:rPr>
              <a:t>可视化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pic>
        <p:nvPicPr>
          <p:cNvPr id="4" name="图片 3" descr="图表, 直方图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5100" y="2431415"/>
            <a:ext cx="3519805" cy="2707005"/>
          </a:xfrm>
          <a:prstGeom prst="rect">
            <a:avLst/>
          </a:prstGeom>
        </p:spPr>
      </p:pic>
      <p:pic>
        <p:nvPicPr>
          <p:cNvPr id="6" name="图片 5" descr="图表, 直方图&#10;&#10;AI 生成的内容可能不正确。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09720" y="2431415"/>
            <a:ext cx="3574415" cy="2708275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99755" y="2430145"/>
            <a:ext cx="3455670" cy="270827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10706" y="96391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 err="1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000" b="1" kern="100" dirty="0" err="1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nput_activations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[-1.00000, 1.00000]</a:t>
            </a:r>
            <a:endParaRPr lang="en-US" altLang="zh-CN" kern="100" dirty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[-1.00000, 1.00000]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4308253" y="96391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onv1_</a:t>
            </a: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8.33849]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[0.00000, 4.46330]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8186265" y="963919"/>
            <a:ext cx="4097547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fc3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</a:t>
            </a:r>
            <a:r>
              <a:rPr lang="en-US" altLang="zh-CN" sz="2000" b="1" kern="100" dirty="0">
                <a:solidFill>
                  <a:srgbClr val="7030A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output</a:t>
            </a:r>
            <a:r>
              <a:rPr lang="en-US" altLang="zh-CN" sz="2000" b="1" kern="100" dirty="0">
                <a:solidFill>
                  <a:srgbClr val="7030A0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_activations</a:t>
            </a:r>
            <a:endParaRPr lang="en-US" altLang="zh-CN" sz="2000" b="1" kern="100" dirty="0">
              <a:solidFill>
                <a:srgbClr val="7030A0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range is </a:t>
            </a:r>
            <a:r>
              <a:rPr lang="en-US" altLang="zh-CN" sz="18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[-7.80430, 11.88409]</a:t>
            </a:r>
            <a:endParaRPr lang="en-US" altLang="zh-CN" sz="18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the 3-sigma range is [-7.80430, 10.84223]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5445" y="5036820"/>
            <a:ext cx="112693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选择量化区间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conv1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conv2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的两个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相差较大，使用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3-sigma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量化高效利用量化区间，保证精度；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input_activations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fc3_output_activations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的两个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相差均不多，使用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3-sigma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range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量化均可；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4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量化激活层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08957" y="1116114"/>
            <a:ext cx="10331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Scale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的计算：</a:t>
            </a:r>
            <a:endParaRPr lang="en-US" altLang="zh-CN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由矩阵乘法的运算定义，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		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，移项得到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所以，在量化激活值时，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scale 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可以表示为：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0618" y="1515031"/>
            <a:ext cx="4039164" cy="69542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72" y="1543610"/>
            <a:ext cx="3610479" cy="66684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038" y="2022893"/>
            <a:ext cx="962159" cy="4477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594995" y="2662555"/>
                <a:ext cx="7910195" cy="38354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当前权重</a:t>
                </a:r>
                <a:r>
                  <a: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scale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𝑖𝑛𝑝𝑢𝑡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输入</a:t>
                </a:r>
                <a:r>
                  <a: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scale</a:t>
                </a:r>
                <a:endParaRPr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𝑖𝑛𝑝𝑢𝑡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𝑖𝑛𝑖𝑡𝑖𝑎𝑙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𝑟𝑒𝑣𝑖𝑜𝑢𝑠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𝑙𝑎𝑦𝑒𝑟𝑠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𝑜𝑢𝑡𝑝𝑢𝑡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.</a:t>
                </a:r>
                <a:endParaRPr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代码：</a:t>
                </a:r>
                <a:endParaRPr lang="en-US" altLang="zh-CN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同时量化</a:t>
                </a:r>
                <a:r>
                  <a:rPr lang="en-US" altLang="zh-CN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weight</a:t>
                </a:r>
                <a:r>
                  <a:rPr lang="zh-CN" altLang="en-US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和</a:t>
                </a:r>
                <a:r>
                  <a:rPr lang="en-US" altLang="zh-CN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activation</a:t>
                </a:r>
                <a:r>
                  <a:rPr lang="zh-CN" altLang="en-US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，测试准确率为</a:t>
                </a:r>
                <a:r>
                  <a:rPr lang="en-US" altLang="zh-CN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54.95%.</a:t>
                </a:r>
                <a:endParaRPr lang="en-US" altLang="zh-CN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95" y="2662555"/>
                <a:ext cx="7910195" cy="3835400"/>
              </a:xfrm>
              <a:prstGeom prst="rect">
                <a:avLst/>
              </a:prstGeom>
              <a:blipFill rotWithShape="1">
                <a:blip r:embed="rId4"/>
                <a:stretch>
                  <a:fillRect b="-5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038" y="3963815"/>
            <a:ext cx="3648975" cy="1723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bias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5647"/>
            <a:ext cx="12192000" cy="28174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35330" y="4000500"/>
                <a:ext cx="10061575" cy="25895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，得到量化公式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公式可调整为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𝑖𝑛𝑖𝑡𝑖𝑎𝑙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nary>
                          <m:naryPr>
                            <m:chr m:val="∏"/>
                            <m:limLoc m:val="subSup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𝑟𝑒𝑣𝑖𝑜𝑢𝑠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𝑙𝑎𝑦𝑒𝑟𝑠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𝑜𝑢𝑡𝑝𝑢𝑡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30" y="4000500"/>
                <a:ext cx="10061575" cy="25895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bias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39" y="885177"/>
            <a:ext cx="7954908" cy="58494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03447" y="2767537"/>
            <a:ext cx="2743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54.38%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的准确率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5.2 QAT vs PTQ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9" name="文本框 1"/>
          <p:cNvSpPr txBox="1"/>
          <p:nvPr/>
        </p:nvSpPr>
        <p:spPr>
          <a:xfrm>
            <a:off x="6399530" y="1004570"/>
            <a:ext cx="4225290" cy="95440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702F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预加载浮点参数后，</a:t>
            </a:r>
            <a:endParaRPr lang="en-US" altLang="zh-CN" sz="2400" b="1" dirty="0">
              <a:solidFill>
                <a:srgbClr val="702F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b="1" dirty="0">
                <a:solidFill>
                  <a:srgbClr val="702F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QAT</a:t>
            </a:r>
            <a:r>
              <a:rPr lang="zh-CN" altLang="en-US" sz="2400" b="1" dirty="0">
                <a:solidFill>
                  <a:srgbClr val="702F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性能明显优于</a:t>
            </a:r>
            <a:r>
              <a:rPr lang="en-US" altLang="zh-CN" sz="2400" b="1" dirty="0">
                <a:solidFill>
                  <a:srgbClr val="702F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PTQ</a:t>
            </a:r>
            <a:endParaRPr lang="en-US" altLang="zh-CN" sz="2400" b="1" dirty="0">
              <a:solidFill>
                <a:srgbClr val="702F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7595"/>
            <a:ext cx="5048885" cy="53295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56555" y="2375535"/>
            <a:ext cx="53136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代码均为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epoch=2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此时预加载后的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QAT:59.38%&gt;PTQ:52.69%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48275" y="4068445"/>
          <a:ext cx="6673215" cy="2063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4405"/>
                <a:gridCol w="1104265"/>
                <a:gridCol w="1104900"/>
                <a:gridCol w="953770"/>
                <a:gridCol w="953770"/>
                <a:gridCol w="801370"/>
                <a:gridCol w="800735"/>
              </a:tblGrid>
              <a:tr h="20637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 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Epoch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Original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PTQ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QAT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</a:tr>
              <a:tr h="61912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weights only</a:t>
                      </a:r>
                      <a:endParaRPr lang="en-US" sz="1100" kern="100" dirty="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weights and activations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original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load pre-trained data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206375">
                <a:tc row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 (%)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45.51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45.68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45.67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46.16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58.32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2063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52.62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52.75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52.69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50.76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59.58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2063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sz="1100" kern="100" dirty="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55.54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55.39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55.42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52.13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60.21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2063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59.4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59.29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59.28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53.2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60.32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2063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60.08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59.99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60.09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55.07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--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2063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61.78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61.4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61.15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55.77</a:t>
                      </a:r>
                      <a:endParaRPr lang="en-US" sz="1100" kern="10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--</a:t>
                      </a:r>
                      <a:endParaRPr lang="en-US" sz="1100" kern="100" dirty="0">
                        <a:effectLst/>
                        <a:latin typeface="Times New Roman" panose="02020603050405020304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261148" y="3731020"/>
            <a:ext cx="627476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每次测试后清空原有数据，调整训练次数后重新训练，可获得下表</a:t>
            </a:r>
            <a:r>
              <a:rPr lang="zh-CN" altLang="en-US" sz="1600" b="1" dirty="0">
                <a:latin typeface="+mj-ea"/>
                <a:ea typeface="+mj-ea"/>
              </a:rPr>
              <a:t>：</a:t>
            </a:r>
            <a:endParaRPr lang="zh-CN" altLang="en-US" sz="1600" b="1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5.2 QAT vs PTQ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607252" y="1602954"/>
            <a:ext cx="4977496" cy="3851720"/>
            <a:chOff x="3364553" y="1686843"/>
            <a:chExt cx="5446712" cy="4214812"/>
          </a:xfrm>
        </p:grpSpPr>
        <p:grpSp>
          <p:nvGrpSpPr>
            <p:cNvPr id="4" name="组合 18"/>
            <p:cNvGrpSpPr/>
            <p:nvPr/>
          </p:nvGrpSpPr>
          <p:grpSpPr bwMode="auto">
            <a:xfrm>
              <a:off x="6976115" y="1928143"/>
              <a:ext cx="1835150" cy="2368550"/>
              <a:chOff x="6816180" y="1969980"/>
              <a:chExt cx="1835901" cy="2368769"/>
            </a:xfrm>
          </p:grpSpPr>
          <p:sp>
            <p:nvSpPr>
              <p:cNvPr id="5" name="Freeform 8"/>
              <p:cNvSpPr/>
              <p:nvPr/>
            </p:nvSpPr>
            <p:spPr bwMode="auto">
              <a:xfrm>
                <a:off x="6832061" y="1969980"/>
                <a:ext cx="1786669" cy="2062353"/>
              </a:xfrm>
              <a:custGeom>
                <a:avLst/>
                <a:gdLst>
                  <a:gd name="T0" fmla="*/ 413 w 858"/>
                  <a:gd name="T1" fmla="*/ 0 h 991"/>
                  <a:gd name="T2" fmla="*/ 0 w 858"/>
                  <a:gd name="T3" fmla="*/ 991 h 991"/>
                  <a:gd name="T4" fmla="*/ 858 w 858"/>
                  <a:gd name="T5" fmla="*/ 991 h 991"/>
                  <a:gd name="T6" fmla="*/ 413 w 858"/>
                  <a:gd name="T7" fmla="*/ 0 h 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8" h="991">
                    <a:moveTo>
                      <a:pt x="413" y="0"/>
                    </a:moveTo>
                    <a:lnTo>
                      <a:pt x="0" y="991"/>
                    </a:lnTo>
                    <a:lnTo>
                      <a:pt x="858" y="991"/>
                    </a:lnTo>
                    <a:lnTo>
                      <a:pt x="413" y="0"/>
                    </a:lnTo>
                    <a:close/>
                  </a:path>
                </a:pathLst>
              </a:custGeom>
              <a:noFill/>
              <a:ln w="4" cap="flat">
                <a:solidFill>
                  <a:srgbClr val="C1C7D0"/>
                </a:solidFill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6" name="Freeform 10"/>
              <p:cNvSpPr/>
              <p:nvPr/>
            </p:nvSpPr>
            <p:spPr bwMode="auto">
              <a:xfrm>
                <a:off x="6816180" y="4038683"/>
                <a:ext cx="1835901" cy="300066"/>
              </a:xfrm>
              <a:custGeom>
                <a:avLst/>
                <a:gdLst>
                  <a:gd name="T0" fmla="*/ 0 w 972"/>
                  <a:gd name="T1" fmla="*/ 4 h 159"/>
                  <a:gd name="T2" fmla="*/ 26 w 972"/>
                  <a:gd name="T3" fmla="*/ 60 h 159"/>
                  <a:gd name="T4" fmla="*/ 150 w 972"/>
                  <a:gd name="T5" fmla="*/ 116 h 159"/>
                  <a:gd name="T6" fmla="*/ 155 w 972"/>
                  <a:gd name="T7" fmla="*/ 159 h 159"/>
                  <a:gd name="T8" fmla="*/ 821 w 972"/>
                  <a:gd name="T9" fmla="*/ 151 h 159"/>
                  <a:gd name="T10" fmla="*/ 821 w 972"/>
                  <a:gd name="T11" fmla="*/ 112 h 159"/>
                  <a:gd name="T12" fmla="*/ 946 w 972"/>
                  <a:gd name="T13" fmla="*/ 69 h 159"/>
                  <a:gd name="T14" fmla="*/ 972 w 972"/>
                  <a:gd name="T15" fmla="*/ 0 h 159"/>
                  <a:gd name="T16" fmla="*/ 0 w 972"/>
                  <a:gd name="T17" fmla="*/ 4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2" h="159">
                    <a:moveTo>
                      <a:pt x="0" y="4"/>
                    </a:moveTo>
                    <a:cubicBezTo>
                      <a:pt x="0" y="4"/>
                      <a:pt x="3" y="42"/>
                      <a:pt x="26" y="60"/>
                    </a:cubicBezTo>
                    <a:cubicBezTo>
                      <a:pt x="49" y="79"/>
                      <a:pt x="150" y="116"/>
                      <a:pt x="150" y="116"/>
                    </a:cubicBezTo>
                    <a:cubicBezTo>
                      <a:pt x="155" y="159"/>
                      <a:pt x="155" y="159"/>
                      <a:pt x="155" y="159"/>
                    </a:cubicBezTo>
                    <a:cubicBezTo>
                      <a:pt x="821" y="151"/>
                      <a:pt x="821" y="151"/>
                      <a:pt x="821" y="151"/>
                    </a:cubicBezTo>
                    <a:cubicBezTo>
                      <a:pt x="821" y="112"/>
                      <a:pt x="821" y="112"/>
                      <a:pt x="821" y="112"/>
                    </a:cubicBezTo>
                    <a:cubicBezTo>
                      <a:pt x="821" y="112"/>
                      <a:pt x="923" y="88"/>
                      <a:pt x="946" y="69"/>
                    </a:cubicBezTo>
                    <a:cubicBezTo>
                      <a:pt x="969" y="50"/>
                      <a:pt x="972" y="0"/>
                      <a:pt x="972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4" cap="flat">
                <a:noFill/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17"/>
            <p:cNvGrpSpPr/>
            <p:nvPr/>
          </p:nvGrpSpPr>
          <p:grpSpPr bwMode="auto">
            <a:xfrm>
              <a:off x="3364553" y="2877468"/>
              <a:ext cx="1835150" cy="2368550"/>
              <a:chOff x="3204743" y="2919152"/>
              <a:chExt cx="1835901" cy="2368771"/>
            </a:xfrm>
          </p:grpSpPr>
          <p:sp>
            <p:nvSpPr>
              <p:cNvPr id="8" name="Freeform 7"/>
              <p:cNvSpPr/>
              <p:nvPr/>
            </p:nvSpPr>
            <p:spPr bwMode="auto">
              <a:xfrm>
                <a:off x="3219036" y="2919152"/>
                <a:ext cx="1786669" cy="2060767"/>
              </a:xfrm>
              <a:custGeom>
                <a:avLst/>
                <a:gdLst>
                  <a:gd name="T0" fmla="*/ 415 w 858"/>
                  <a:gd name="T1" fmla="*/ 0 h 990"/>
                  <a:gd name="T2" fmla="*/ 0 w 858"/>
                  <a:gd name="T3" fmla="*/ 990 h 990"/>
                  <a:gd name="T4" fmla="*/ 858 w 858"/>
                  <a:gd name="T5" fmla="*/ 990 h 990"/>
                  <a:gd name="T6" fmla="*/ 415 w 858"/>
                  <a:gd name="T7" fmla="*/ 0 h 9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8" h="990">
                    <a:moveTo>
                      <a:pt x="415" y="0"/>
                    </a:moveTo>
                    <a:lnTo>
                      <a:pt x="0" y="990"/>
                    </a:lnTo>
                    <a:lnTo>
                      <a:pt x="858" y="990"/>
                    </a:lnTo>
                    <a:lnTo>
                      <a:pt x="415" y="0"/>
                    </a:lnTo>
                    <a:close/>
                  </a:path>
                </a:pathLst>
              </a:custGeom>
              <a:noFill/>
              <a:ln w="4" cap="flat">
                <a:solidFill>
                  <a:srgbClr val="C1C7D0"/>
                </a:solidFill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 bwMode="auto">
              <a:xfrm>
                <a:off x="3204743" y="4987857"/>
                <a:ext cx="1835901" cy="300066"/>
              </a:xfrm>
              <a:custGeom>
                <a:avLst/>
                <a:gdLst>
                  <a:gd name="T0" fmla="*/ 0 w 972"/>
                  <a:gd name="T1" fmla="*/ 4 h 159"/>
                  <a:gd name="T2" fmla="*/ 26 w 972"/>
                  <a:gd name="T3" fmla="*/ 60 h 159"/>
                  <a:gd name="T4" fmla="*/ 151 w 972"/>
                  <a:gd name="T5" fmla="*/ 116 h 159"/>
                  <a:gd name="T6" fmla="*/ 155 w 972"/>
                  <a:gd name="T7" fmla="*/ 159 h 159"/>
                  <a:gd name="T8" fmla="*/ 822 w 972"/>
                  <a:gd name="T9" fmla="*/ 150 h 159"/>
                  <a:gd name="T10" fmla="*/ 822 w 972"/>
                  <a:gd name="T11" fmla="*/ 112 h 159"/>
                  <a:gd name="T12" fmla="*/ 947 w 972"/>
                  <a:gd name="T13" fmla="*/ 69 h 159"/>
                  <a:gd name="T14" fmla="*/ 972 w 972"/>
                  <a:gd name="T15" fmla="*/ 0 h 159"/>
                  <a:gd name="T16" fmla="*/ 0 w 972"/>
                  <a:gd name="T17" fmla="*/ 4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2" h="159">
                    <a:moveTo>
                      <a:pt x="0" y="4"/>
                    </a:moveTo>
                    <a:cubicBezTo>
                      <a:pt x="0" y="4"/>
                      <a:pt x="3" y="41"/>
                      <a:pt x="26" y="60"/>
                    </a:cubicBezTo>
                    <a:cubicBezTo>
                      <a:pt x="49" y="79"/>
                      <a:pt x="151" y="116"/>
                      <a:pt x="151" y="116"/>
                    </a:cubicBezTo>
                    <a:cubicBezTo>
                      <a:pt x="155" y="159"/>
                      <a:pt x="155" y="159"/>
                      <a:pt x="155" y="159"/>
                    </a:cubicBezTo>
                    <a:cubicBezTo>
                      <a:pt x="822" y="150"/>
                      <a:pt x="822" y="150"/>
                      <a:pt x="822" y="150"/>
                    </a:cubicBezTo>
                    <a:cubicBezTo>
                      <a:pt x="822" y="112"/>
                      <a:pt x="822" y="112"/>
                      <a:pt x="822" y="112"/>
                    </a:cubicBezTo>
                    <a:cubicBezTo>
                      <a:pt x="822" y="112"/>
                      <a:pt x="924" y="87"/>
                      <a:pt x="947" y="69"/>
                    </a:cubicBezTo>
                    <a:cubicBezTo>
                      <a:pt x="970" y="50"/>
                      <a:pt x="972" y="0"/>
                      <a:pt x="972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702F73"/>
              </a:solidFill>
              <a:ln w="4" cap="flat">
                <a:noFill/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16"/>
            <p:cNvGrpSpPr/>
            <p:nvPr/>
          </p:nvGrpSpPr>
          <p:grpSpPr bwMode="auto">
            <a:xfrm>
              <a:off x="4094803" y="1686843"/>
              <a:ext cx="3894137" cy="4214812"/>
              <a:chOff x="3935356" y="1728523"/>
              <a:chExt cx="3894525" cy="4215078"/>
            </a:xfrm>
          </p:grpSpPr>
          <p:sp>
            <p:nvSpPr>
              <p:cNvPr id="11" name="Freeform 5"/>
              <p:cNvSpPr/>
              <p:nvPr/>
            </p:nvSpPr>
            <p:spPr bwMode="auto">
              <a:xfrm>
                <a:off x="3976635" y="1920622"/>
                <a:ext cx="3578582" cy="947798"/>
              </a:xfrm>
              <a:custGeom>
                <a:avLst/>
                <a:gdLst>
                  <a:gd name="T0" fmla="*/ 0 w 1719"/>
                  <a:gd name="T1" fmla="*/ 456 h 456"/>
                  <a:gd name="T2" fmla="*/ 1719 w 1719"/>
                  <a:gd name="T3" fmla="*/ 0 h 456"/>
                  <a:gd name="T4" fmla="*/ 0 w 1719"/>
                  <a:gd name="T5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19" h="456">
                    <a:moveTo>
                      <a:pt x="0" y="456"/>
                    </a:moveTo>
                    <a:lnTo>
                      <a:pt x="1719" y="0"/>
                    </a:lnTo>
                    <a:lnTo>
                      <a:pt x="0" y="456"/>
                    </a:lnTo>
                    <a:close/>
                  </a:path>
                </a:pathLst>
              </a:custGeom>
              <a:solidFill>
                <a:srgbClr val="40A7D2"/>
              </a:solidFill>
              <a:ln>
                <a:noFill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2" name="Line 6"/>
              <p:cNvSpPr>
                <a:spLocks noChangeShapeType="1"/>
              </p:cNvSpPr>
              <p:nvPr/>
            </p:nvSpPr>
            <p:spPr bwMode="auto">
              <a:xfrm flipV="1">
                <a:off x="3976635" y="1920622"/>
                <a:ext cx="3578582" cy="947798"/>
              </a:xfrm>
              <a:prstGeom prst="line">
                <a:avLst/>
              </a:prstGeom>
              <a:noFill/>
              <a:ln w="57150" cap="rnd">
                <a:solidFill>
                  <a:srgbClr val="C1C7D0"/>
                </a:solidFill>
                <a:prstDash val="solid"/>
                <a:round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3" name="Oval 9"/>
              <p:cNvSpPr>
                <a:spLocks noChangeArrowheads="1"/>
              </p:cNvSpPr>
              <p:nvPr/>
            </p:nvSpPr>
            <p:spPr bwMode="auto">
              <a:xfrm>
                <a:off x="7536165" y="1728523"/>
                <a:ext cx="293716" cy="292118"/>
              </a:xfrm>
              <a:prstGeom prst="ellipse">
                <a:avLst/>
              </a:prstGeom>
              <a:solidFill>
                <a:srgbClr val="C1C7D0"/>
              </a:solidFill>
              <a:ln w="4" cap="flat">
                <a:noFill/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4" name="Oval 12"/>
              <p:cNvSpPr>
                <a:spLocks noChangeArrowheads="1"/>
              </p:cNvSpPr>
              <p:nvPr/>
            </p:nvSpPr>
            <p:spPr bwMode="auto">
              <a:xfrm>
                <a:off x="3935356" y="2719186"/>
                <a:ext cx="303242" cy="304819"/>
              </a:xfrm>
              <a:prstGeom prst="ellipse">
                <a:avLst/>
              </a:prstGeom>
              <a:solidFill>
                <a:srgbClr val="C1C7D0"/>
              </a:solidFill>
              <a:ln w="4" cap="flat">
                <a:noFill/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13"/>
              <p:cNvSpPr/>
              <p:nvPr/>
            </p:nvSpPr>
            <p:spPr bwMode="auto">
              <a:xfrm>
                <a:off x="4813330" y="1876169"/>
                <a:ext cx="2171916" cy="4067432"/>
              </a:xfrm>
              <a:custGeom>
                <a:avLst/>
                <a:gdLst>
                  <a:gd name="T0" fmla="*/ 1130 w 1150"/>
                  <a:gd name="T1" fmla="*/ 1860 h 2153"/>
                  <a:gd name="T2" fmla="*/ 1081 w 1150"/>
                  <a:gd name="T3" fmla="*/ 1835 h 2153"/>
                  <a:gd name="T4" fmla="*/ 737 w 1150"/>
                  <a:gd name="T5" fmla="*/ 1763 h 2153"/>
                  <a:gd name="T6" fmla="*/ 737 w 1150"/>
                  <a:gd name="T7" fmla="*/ 1459 h 2153"/>
                  <a:gd name="T8" fmla="*/ 685 w 1150"/>
                  <a:gd name="T9" fmla="*/ 1459 h 2153"/>
                  <a:gd name="T10" fmla="*/ 685 w 1150"/>
                  <a:gd name="T11" fmla="*/ 1433 h 2153"/>
                  <a:gd name="T12" fmla="*/ 657 w 1150"/>
                  <a:gd name="T13" fmla="*/ 1433 h 2153"/>
                  <a:gd name="T14" fmla="*/ 657 w 1150"/>
                  <a:gd name="T15" fmla="*/ 1215 h 2153"/>
                  <a:gd name="T16" fmla="*/ 634 w 1150"/>
                  <a:gd name="T17" fmla="*/ 1215 h 2153"/>
                  <a:gd name="T18" fmla="*/ 634 w 1150"/>
                  <a:gd name="T19" fmla="*/ 484 h 2153"/>
                  <a:gd name="T20" fmla="*/ 672 w 1150"/>
                  <a:gd name="T21" fmla="*/ 484 h 2153"/>
                  <a:gd name="T22" fmla="*/ 728 w 1150"/>
                  <a:gd name="T23" fmla="*/ 441 h 2153"/>
                  <a:gd name="T24" fmla="*/ 672 w 1150"/>
                  <a:gd name="T25" fmla="*/ 398 h 2153"/>
                  <a:gd name="T26" fmla="*/ 634 w 1150"/>
                  <a:gd name="T27" fmla="*/ 398 h 2153"/>
                  <a:gd name="T28" fmla="*/ 634 w 1150"/>
                  <a:gd name="T29" fmla="*/ 125 h 2153"/>
                  <a:gd name="T30" fmla="*/ 654 w 1150"/>
                  <a:gd name="T31" fmla="*/ 74 h 2153"/>
                  <a:gd name="T32" fmla="*/ 579 w 1150"/>
                  <a:gd name="T33" fmla="*/ 0 h 2153"/>
                  <a:gd name="T34" fmla="*/ 505 w 1150"/>
                  <a:gd name="T35" fmla="*/ 74 h 2153"/>
                  <a:gd name="T36" fmla="*/ 527 w 1150"/>
                  <a:gd name="T37" fmla="*/ 128 h 2153"/>
                  <a:gd name="T38" fmla="*/ 525 w 1150"/>
                  <a:gd name="T39" fmla="*/ 128 h 2153"/>
                  <a:gd name="T40" fmla="*/ 525 w 1150"/>
                  <a:gd name="T41" fmla="*/ 398 h 2153"/>
                  <a:gd name="T42" fmla="*/ 492 w 1150"/>
                  <a:gd name="T43" fmla="*/ 398 h 2153"/>
                  <a:gd name="T44" fmla="*/ 436 w 1150"/>
                  <a:gd name="T45" fmla="*/ 441 h 2153"/>
                  <a:gd name="T46" fmla="*/ 492 w 1150"/>
                  <a:gd name="T47" fmla="*/ 484 h 2153"/>
                  <a:gd name="T48" fmla="*/ 525 w 1150"/>
                  <a:gd name="T49" fmla="*/ 484 h 2153"/>
                  <a:gd name="T50" fmla="*/ 525 w 1150"/>
                  <a:gd name="T51" fmla="*/ 1218 h 2153"/>
                  <a:gd name="T52" fmla="*/ 502 w 1150"/>
                  <a:gd name="T53" fmla="*/ 1218 h 2153"/>
                  <a:gd name="T54" fmla="*/ 502 w 1150"/>
                  <a:gd name="T55" fmla="*/ 1439 h 2153"/>
                  <a:gd name="T56" fmla="*/ 470 w 1150"/>
                  <a:gd name="T57" fmla="*/ 1439 h 2153"/>
                  <a:gd name="T58" fmla="*/ 470 w 1150"/>
                  <a:gd name="T59" fmla="*/ 1465 h 2153"/>
                  <a:gd name="T60" fmla="*/ 424 w 1150"/>
                  <a:gd name="T61" fmla="*/ 1465 h 2153"/>
                  <a:gd name="T62" fmla="*/ 424 w 1150"/>
                  <a:gd name="T63" fmla="*/ 1749 h 2153"/>
                  <a:gd name="T64" fmla="*/ 83 w 1150"/>
                  <a:gd name="T65" fmla="*/ 1823 h 2153"/>
                  <a:gd name="T66" fmla="*/ 37 w 1150"/>
                  <a:gd name="T67" fmla="*/ 1843 h 2153"/>
                  <a:gd name="T68" fmla="*/ 0 w 1150"/>
                  <a:gd name="T69" fmla="*/ 1886 h 2153"/>
                  <a:gd name="T70" fmla="*/ 0 w 1150"/>
                  <a:gd name="T71" fmla="*/ 2153 h 2153"/>
                  <a:gd name="T72" fmla="*/ 1150 w 1150"/>
                  <a:gd name="T73" fmla="*/ 2153 h 2153"/>
                  <a:gd name="T74" fmla="*/ 1150 w 1150"/>
                  <a:gd name="T75" fmla="*/ 1881 h 2153"/>
                  <a:gd name="T76" fmla="*/ 1130 w 1150"/>
                  <a:gd name="T77" fmla="*/ 1860 h 2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50" h="2153">
                    <a:moveTo>
                      <a:pt x="1130" y="1860"/>
                    </a:moveTo>
                    <a:cubicBezTo>
                      <a:pt x="1112" y="1840"/>
                      <a:pt x="1081" y="1835"/>
                      <a:pt x="1081" y="1835"/>
                    </a:cubicBezTo>
                    <a:cubicBezTo>
                      <a:pt x="737" y="1763"/>
                      <a:pt x="737" y="1763"/>
                      <a:pt x="737" y="1763"/>
                    </a:cubicBezTo>
                    <a:cubicBezTo>
                      <a:pt x="737" y="1459"/>
                      <a:pt x="737" y="1459"/>
                      <a:pt x="737" y="1459"/>
                    </a:cubicBezTo>
                    <a:cubicBezTo>
                      <a:pt x="685" y="1459"/>
                      <a:pt x="685" y="1459"/>
                      <a:pt x="685" y="1459"/>
                    </a:cubicBezTo>
                    <a:cubicBezTo>
                      <a:pt x="685" y="1433"/>
                      <a:pt x="685" y="1433"/>
                      <a:pt x="685" y="1433"/>
                    </a:cubicBezTo>
                    <a:cubicBezTo>
                      <a:pt x="657" y="1433"/>
                      <a:pt x="657" y="1433"/>
                      <a:pt x="657" y="1433"/>
                    </a:cubicBezTo>
                    <a:cubicBezTo>
                      <a:pt x="657" y="1215"/>
                      <a:pt x="657" y="1215"/>
                      <a:pt x="657" y="1215"/>
                    </a:cubicBezTo>
                    <a:cubicBezTo>
                      <a:pt x="634" y="1215"/>
                      <a:pt x="634" y="1215"/>
                      <a:pt x="634" y="1215"/>
                    </a:cubicBezTo>
                    <a:cubicBezTo>
                      <a:pt x="634" y="484"/>
                      <a:pt x="634" y="484"/>
                      <a:pt x="634" y="484"/>
                    </a:cubicBezTo>
                    <a:cubicBezTo>
                      <a:pt x="672" y="484"/>
                      <a:pt x="672" y="484"/>
                      <a:pt x="672" y="484"/>
                    </a:cubicBezTo>
                    <a:cubicBezTo>
                      <a:pt x="703" y="484"/>
                      <a:pt x="728" y="465"/>
                      <a:pt x="728" y="441"/>
                    </a:cubicBezTo>
                    <a:cubicBezTo>
                      <a:pt x="728" y="417"/>
                      <a:pt x="703" y="398"/>
                      <a:pt x="672" y="398"/>
                    </a:cubicBezTo>
                    <a:cubicBezTo>
                      <a:pt x="634" y="398"/>
                      <a:pt x="634" y="398"/>
                      <a:pt x="634" y="398"/>
                    </a:cubicBezTo>
                    <a:cubicBezTo>
                      <a:pt x="634" y="125"/>
                      <a:pt x="634" y="125"/>
                      <a:pt x="634" y="125"/>
                    </a:cubicBezTo>
                    <a:cubicBezTo>
                      <a:pt x="646" y="112"/>
                      <a:pt x="654" y="94"/>
                      <a:pt x="654" y="74"/>
                    </a:cubicBezTo>
                    <a:cubicBezTo>
                      <a:pt x="654" y="33"/>
                      <a:pt x="620" y="0"/>
                      <a:pt x="579" y="0"/>
                    </a:cubicBezTo>
                    <a:cubicBezTo>
                      <a:pt x="538" y="0"/>
                      <a:pt x="505" y="33"/>
                      <a:pt x="505" y="74"/>
                    </a:cubicBezTo>
                    <a:cubicBezTo>
                      <a:pt x="505" y="95"/>
                      <a:pt x="513" y="114"/>
                      <a:pt x="527" y="128"/>
                    </a:cubicBezTo>
                    <a:cubicBezTo>
                      <a:pt x="525" y="128"/>
                      <a:pt x="525" y="128"/>
                      <a:pt x="525" y="128"/>
                    </a:cubicBezTo>
                    <a:cubicBezTo>
                      <a:pt x="525" y="398"/>
                      <a:pt x="525" y="398"/>
                      <a:pt x="525" y="398"/>
                    </a:cubicBezTo>
                    <a:cubicBezTo>
                      <a:pt x="492" y="398"/>
                      <a:pt x="492" y="398"/>
                      <a:pt x="492" y="398"/>
                    </a:cubicBezTo>
                    <a:cubicBezTo>
                      <a:pt x="461" y="398"/>
                      <a:pt x="436" y="417"/>
                      <a:pt x="436" y="441"/>
                    </a:cubicBezTo>
                    <a:cubicBezTo>
                      <a:pt x="436" y="465"/>
                      <a:pt x="461" y="484"/>
                      <a:pt x="492" y="484"/>
                    </a:cubicBezTo>
                    <a:cubicBezTo>
                      <a:pt x="525" y="484"/>
                      <a:pt x="525" y="484"/>
                      <a:pt x="525" y="484"/>
                    </a:cubicBezTo>
                    <a:cubicBezTo>
                      <a:pt x="525" y="1218"/>
                      <a:pt x="525" y="1218"/>
                      <a:pt x="525" y="1218"/>
                    </a:cubicBezTo>
                    <a:cubicBezTo>
                      <a:pt x="502" y="1218"/>
                      <a:pt x="502" y="1218"/>
                      <a:pt x="502" y="1218"/>
                    </a:cubicBezTo>
                    <a:cubicBezTo>
                      <a:pt x="502" y="1439"/>
                      <a:pt x="502" y="1439"/>
                      <a:pt x="502" y="1439"/>
                    </a:cubicBezTo>
                    <a:cubicBezTo>
                      <a:pt x="470" y="1439"/>
                      <a:pt x="470" y="1439"/>
                      <a:pt x="470" y="1439"/>
                    </a:cubicBezTo>
                    <a:cubicBezTo>
                      <a:pt x="470" y="1465"/>
                      <a:pt x="470" y="1465"/>
                      <a:pt x="470" y="1465"/>
                    </a:cubicBezTo>
                    <a:cubicBezTo>
                      <a:pt x="424" y="1465"/>
                      <a:pt x="424" y="1465"/>
                      <a:pt x="424" y="1465"/>
                    </a:cubicBezTo>
                    <a:cubicBezTo>
                      <a:pt x="424" y="1749"/>
                      <a:pt x="424" y="1749"/>
                      <a:pt x="424" y="1749"/>
                    </a:cubicBezTo>
                    <a:cubicBezTo>
                      <a:pt x="83" y="1823"/>
                      <a:pt x="83" y="1823"/>
                      <a:pt x="83" y="1823"/>
                    </a:cubicBezTo>
                    <a:cubicBezTo>
                      <a:pt x="83" y="1823"/>
                      <a:pt x="54" y="1832"/>
                      <a:pt x="37" y="1843"/>
                    </a:cubicBezTo>
                    <a:cubicBezTo>
                      <a:pt x="20" y="1855"/>
                      <a:pt x="0" y="1886"/>
                      <a:pt x="0" y="1886"/>
                    </a:cubicBezTo>
                    <a:cubicBezTo>
                      <a:pt x="0" y="2153"/>
                      <a:pt x="0" y="2153"/>
                      <a:pt x="0" y="2153"/>
                    </a:cubicBezTo>
                    <a:cubicBezTo>
                      <a:pt x="1150" y="2153"/>
                      <a:pt x="1150" y="2153"/>
                      <a:pt x="1150" y="2153"/>
                    </a:cubicBezTo>
                    <a:cubicBezTo>
                      <a:pt x="1150" y="1881"/>
                      <a:pt x="1150" y="1881"/>
                      <a:pt x="1150" y="1881"/>
                    </a:cubicBezTo>
                    <a:cubicBezTo>
                      <a:pt x="1150" y="1881"/>
                      <a:pt x="1147" y="1881"/>
                      <a:pt x="1130" y="1860"/>
                    </a:cubicBezTo>
                    <a:close/>
                  </a:path>
                </a:pathLst>
              </a:custGeom>
              <a:solidFill>
                <a:srgbClr val="C1C7D0"/>
              </a:solidFill>
              <a:ln w="4" cap="flat">
                <a:noFill/>
                <a:prstDash val="solid"/>
                <a:miter lim="800000"/>
              </a:ln>
            </p:spPr>
            <p:txBody>
              <a:bodyPr lIns="121920" tIns="60960" rIns="121920" bIns="60960"/>
              <a:lstStyle/>
              <a:p>
                <a:pPr defTabSz="9137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kern="0">
                  <a:solidFill>
                    <a:prstClr val="black"/>
                  </a:solidFill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6" name="组合 19"/>
          <p:cNvGrpSpPr/>
          <p:nvPr/>
        </p:nvGrpSpPr>
        <p:grpSpPr bwMode="auto">
          <a:xfrm>
            <a:off x="836537" y="3199765"/>
            <a:ext cx="2625483" cy="2162485"/>
            <a:chOff x="891806" y="3331336"/>
            <a:chExt cx="2333999" cy="1848853"/>
          </a:xfrm>
        </p:grpSpPr>
        <p:sp>
          <p:nvSpPr>
            <p:cNvPr id="17" name="TextBox 71"/>
            <p:cNvSpPr txBox="1"/>
            <p:nvPr/>
          </p:nvSpPr>
          <p:spPr>
            <a:xfrm>
              <a:off x="937316" y="4391893"/>
              <a:ext cx="1450678" cy="7882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5400" b="1" kern="0" dirty="0">
                  <a:solidFill>
                    <a:srgbClr val="702F73"/>
                  </a:solidFill>
                  <a:sym typeface="Arial" panose="020B0604020202020204" pitchFamily="34" charset="0"/>
                </a:rPr>
                <a:t>pros</a:t>
              </a:r>
              <a:endParaRPr lang="id-ID" sz="5400" b="1" kern="0" dirty="0">
                <a:solidFill>
                  <a:srgbClr val="702F73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" name="TextBox 13"/>
            <p:cNvSpPr txBox="1">
              <a:spLocks noChangeArrowheads="1"/>
            </p:cNvSpPr>
            <p:nvPr/>
          </p:nvSpPr>
          <p:spPr bwMode="auto">
            <a:xfrm>
              <a:off x="891806" y="3331336"/>
              <a:ext cx="2233572" cy="6313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>
              <a:spAutoFit/>
            </a:bodyPr>
            <a:lstStyle/>
            <a:p>
              <a:pPr defTabSz="1216025" eaLnBrk="1" hangingPunct="1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量化后精度损失小</a:t>
              </a:r>
              <a:endParaRPr lang="zh-CN" altLang="en-US" sz="2400" b="1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TextBox 13"/>
            <p:cNvSpPr txBox="1">
              <a:spLocks noChangeArrowheads="1"/>
            </p:cNvSpPr>
            <p:nvPr/>
          </p:nvSpPr>
          <p:spPr bwMode="auto">
            <a:xfrm>
              <a:off x="891806" y="3718026"/>
              <a:ext cx="2333999" cy="6313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lvl="0" indent="0"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在训练中模拟量化误差，模型能自适应低精度表示</a:t>
              </a:r>
              <a:endPara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21"/>
          <p:cNvGrpSpPr/>
          <p:nvPr/>
        </p:nvGrpSpPr>
        <p:grpSpPr bwMode="auto">
          <a:xfrm>
            <a:off x="8675370" y="1870710"/>
            <a:ext cx="3369310" cy="1938494"/>
            <a:chOff x="8746522" y="2187322"/>
            <a:chExt cx="2924162" cy="1576464"/>
          </a:xfrm>
        </p:grpSpPr>
        <p:sp>
          <p:nvSpPr>
            <p:cNvPr id="21" name="TextBox 74"/>
            <p:cNvSpPr txBox="1"/>
            <p:nvPr/>
          </p:nvSpPr>
          <p:spPr>
            <a:xfrm>
              <a:off x="8924712" y="3088840"/>
              <a:ext cx="1610308" cy="6749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4800" b="1" kern="0" dirty="0">
                  <a:solidFill>
                    <a:srgbClr val="9DC3E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cons</a:t>
              </a:r>
              <a:endParaRPr lang="id-ID" sz="4800" b="1" kern="0" dirty="0">
                <a:solidFill>
                  <a:srgbClr val="9DC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TextBox 13"/>
            <p:cNvSpPr txBox="1">
              <a:spLocks noChangeArrowheads="1"/>
            </p:cNvSpPr>
            <p:nvPr/>
          </p:nvSpPr>
          <p:spPr bwMode="auto">
            <a:xfrm>
              <a:off x="8746522" y="2187322"/>
              <a:ext cx="2924162" cy="3000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>
              <a:spAutoFit/>
            </a:bodyPr>
            <a:lstStyle/>
            <a:p>
              <a:pPr defTabSz="1216025" eaLnBrk="1" hangingPunct="1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计算成本、实现复杂度高</a:t>
              </a:r>
              <a:endParaRPr lang="zh-CN" altLang="en-US" sz="2400" b="1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TextBox 13"/>
            <p:cNvSpPr txBox="1">
              <a:spLocks noChangeArrowheads="1"/>
            </p:cNvSpPr>
            <p:nvPr/>
          </p:nvSpPr>
          <p:spPr bwMode="auto">
            <a:xfrm>
              <a:off x="8794468" y="2548696"/>
              <a:ext cx="2876216" cy="5401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>
              <a:spAutoFit/>
            </a:bodyPr>
            <a:lstStyle/>
            <a:p>
              <a:pPr lvl="0" indent="0"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训练需通过大量计算微调模型；</a:t>
              </a:r>
              <a:endParaRPr lang="en-US" altLang="zh-CN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lvl="0" indent="0"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编程需修改训练流程</a:t>
              </a:r>
              <a:endPara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   </a:t>
            </a:r>
            <a:r>
              <a:rPr lang="en-US" altLang="zh-CN" dirty="0"/>
              <a:t>/30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更换激活函数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97407" y="1694986"/>
          <a:ext cx="10604089" cy="3915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205"/>
                <a:gridCol w="2082221"/>
                <a:gridCol w="2082221"/>
                <a:gridCol w="2082221"/>
                <a:gridCol w="2082221"/>
              </a:tblGrid>
              <a:tr h="581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          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    </a:t>
                      </a:r>
                      <a:r>
                        <a:rPr lang="zh-CN" altLang="en-US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激活函数</a:t>
                      </a:r>
                      <a:endParaRPr lang="zh-CN" altLang="en-US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err="1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ReLU</a:t>
                      </a:r>
                      <a:endParaRPr lang="en-US" altLang="zh-CN" dirty="0" err="1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err="1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LeakyReLU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α=0.01</a:t>
                      </a:r>
                      <a:endParaRPr lang="zh-CN" altLang="en-US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ReLU6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ELU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α=1.0/0.02</a:t>
                      </a:r>
                      <a:endParaRPr lang="zh-CN" altLang="en-US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81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未量化</a:t>
                      </a:r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52.96%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53.82%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52.62%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56.73%/53.71%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81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量化权重</a:t>
                      </a:r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53.01%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53.78%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28.91%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27.58%/53.46%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81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量化权重、激活</a:t>
                      </a:r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52.95%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53.88%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10.00%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27.50%/53.33%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81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未量化、偏置</a:t>
                      </a:r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55.75%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56.14%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53.06%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56.42%/53.78%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81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量化权重</a:t>
                      </a:r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51.90%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51.67%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26.89%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32.74%/51.86%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量化权重、激活、偏置</a:t>
                      </a:r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zh-CN" altLang="en-US" sz="1600" dirty="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52.05%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51.42%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10.00%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32.57%/51.74%</a:t>
                      </a:r>
                      <a:endParaRPr lang="en-US" altLang="zh-CN" dirty="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235" y="1088390"/>
            <a:ext cx="2134870" cy="5461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84" y="1325168"/>
            <a:ext cx="1538830" cy="30310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979" y="1332959"/>
            <a:ext cx="1927301" cy="29531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388728"/>
            <a:ext cx="1421598" cy="242318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055077" y="1957754"/>
            <a:ext cx="121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准确率</a:t>
            </a:r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5.3.1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结果分析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643284" y="841371"/>
            <a:ext cx="1076327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1.ReLU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在训练阶段通过单侧激活特性（输出范围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[0, +∞)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）能够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快速收敛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，其权重分布因稀疏性而相对均匀。量化过程中，这种均匀分布使权重参数更易适应离散化映射，量化误差对模型性能影响较小。此外，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的线性正区间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无梯度饱和问题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，进一步降低了量化噪声对梯度传播的干扰。</a:t>
            </a:r>
            <a:endParaRPr lang="en-US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2.LeakyReLU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在负区间引入微小斜率（如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0.01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），其输出范围扩展至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(-∞, +∞)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。这一设计避免了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ReLU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的神经元死亡问题，同时保持了权重分布的均匀性。量化时，负区间的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连续梯度特性使得权重更新方向更稳定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，即使量化分辨率有限，模型仍能保留关键特征表达能力。</a:t>
            </a:r>
            <a:endParaRPr lang="en-US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3.ReLU6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通过硬截断将输出限制在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[0, 6]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区间，导致权重分布偏向该区间的高密度区域（如接近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6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的值较多）。当权重和激活同时量化时，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[0, 6]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的有限动态范围需被压缩至低比特，这种粗粒度映射导致相邻激活值差异被合并，尤其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在接近</a:t>
            </a:r>
            <a:r>
              <a:rPr lang="en-US" altLang="zh-CN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6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的饱和区域，信息丢失显著，模型退化为随机分类器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en-US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4.ELU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α=1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，量化时需覆盖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[-1, +∞)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的宽动态范围，导致负区域仅分配到少量量化级别。负区域的指数计算对输入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x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的微小变化敏感，但低分辨率量化会抹平这些差异，造成特征混淆。负区域的梯度敏感，量化误差通过反向传播累积，破坏权重更新方向。 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α=0.02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，负区域的微小范围只需少量量化级别即可覆盖，分辨率足够。负区域的梯度降至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0.02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量级，量化误差在反向传播中被自然抑制，避免权重更新偏差。当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α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趋近于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0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时，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负区域接近线性函数，其量化行为与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LeakyReLU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类似，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模型对噪声的容忍度显著提升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en-US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5.3.2</a:t>
            </a:r>
            <a:r>
              <a:rPr lang="zh-CN" altLang="en-US" dirty="0">
                <a:sym typeface="+mn-ea"/>
              </a:rPr>
              <a:t> 低比特量化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07045" y="1343549"/>
          <a:ext cx="9177909" cy="30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9303"/>
                <a:gridCol w="3059303"/>
                <a:gridCol w="3059303"/>
              </a:tblGrid>
              <a:tr h="507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权重量化比特数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激活值量化比特数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模型精确度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7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57.24%</a:t>
                      </a:r>
                      <a:endParaRPr lang="zh-CN" altLang="en-US" dirty="0"/>
                    </a:p>
                  </a:txBody>
                  <a:tcPr/>
                </a:tc>
              </a:tr>
              <a:tr h="507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30.71%</a:t>
                      </a:r>
                      <a:endParaRPr lang="zh-CN" altLang="en-US" dirty="0"/>
                    </a:p>
                  </a:txBody>
                  <a:tcPr/>
                </a:tc>
              </a:tr>
              <a:tr h="507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30.14%</a:t>
                      </a:r>
                      <a:endParaRPr lang="zh-CN" altLang="en-US" dirty="0"/>
                    </a:p>
                  </a:txBody>
                  <a:tcPr/>
                </a:tc>
              </a:tr>
              <a:tr h="507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40.26%</a:t>
                      </a:r>
                      <a:endParaRPr lang="zh-CN" altLang="en-US" dirty="0"/>
                    </a:p>
                  </a:txBody>
                  <a:tcPr/>
                </a:tc>
              </a:tr>
              <a:tr h="507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10.0%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: 圆角 4"/>
          <p:cNvSpPr/>
          <p:nvPr/>
        </p:nvSpPr>
        <p:spPr>
          <a:xfrm>
            <a:off x="1416424" y="2223247"/>
            <a:ext cx="9386047" cy="1586753"/>
          </a:xfrm>
          <a:prstGeom prst="roundRect">
            <a:avLst/>
          </a:prstGeom>
          <a:noFill/>
          <a:ln w="38100">
            <a:solidFill>
              <a:srgbClr val="7E438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1416424" y="4718483"/>
            <a:ext cx="1783977" cy="549176"/>
          </a:xfrm>
          <a:prstGeom prst="roundRect">
            <a:avLst/>
          </a:prstGeom>
          <a:solidFill>
            <a:srgbClr val="7E43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比特数减少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200401" y="5136776"/>
            <a:ext cx="5700576" cy="0"/>
          </a:xfrm>
          <a:prstGeom prst="straightConnector1">
            <a:avLst/>
          </a:prstGeom>
          <a:ln w="25400">
            <a:solidFill>
              <a:srgbClr val="7E43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/>
        </p:nvSpPr>
        <p:spPr>
          <a:xfrm>
            <a:off x="8900977" y="4718483"/>
            <a:ext cx="1783977" cy="549176"/>
          </a:xfrm>
          <a:prstGeom prst="roundRect">
            <a:avLst/>
          </a:prstGeom>
          <a:solidFill>
            <a:srgbClr val="7E43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精确度降低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51559" y="4642147"/>
            <a:ext cx="399825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部分精度信息丢失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219200" y="5885592"/>
            <a:ext cx="2178424" cy="549176"/>
          </a:xfrm>
          <a:prstGeom prst="roundRect">
            <a:avLst/>
          </a:prstGeom>
          <a:solidFill>
            <a:srgbClr val="7E43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混合位数量化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1325801" y="5267659"/>
            <a:ext cx="780905" cy="617933"/>
          </a:xfrm>
          <a:prstGeom prst="line">
            <a:avLst/>
          </a:prstGeom>
          <a:ln>
            <a:solidFill>
              <a:srgbClr val="7E43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74259" y="5267659"/>
            <a:ext cx="816765" cy="617933"/>
          </a:xfrm>
          <a:prstGeom prst="line">
            <a:avLst/>
          </a:prstGeom>
          <a:ln>
            <a:solidFill>
              <a:srgbClr val="7E43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397624" y="6300366"/>
            <a:ext cx="6490447" cy="0"/>
          </a:xfrm>
          <a:prstGeom prst="line">
            <a:avLst/>
          </a:prstGeom>
          <a:ln w="25400">
            <a:solidFill>
              <a:srgbClr val="7E43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9906000" y="5267659"/>
            <a:ext cx="0" cy="1032707"/>
          </a:xfrm>
          <a:prstGeom prst="straightConnector1">
            <a:avLst/>
          </a:prstGeom>
          <a:ln w="25400">
            <a:solidFill>
              <a:srgbClr val="7E43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4026129" y="5497960"/>
            <a:ext cx="458895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①宽位数产生的精细误差被低位数放大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②反量化时可能出现溢出或精度损失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5.3.2</a:t>
            </a:r>
            <a:r>
              <a:rPr lang="zh-CN" altLang="en-US" dirty="0">
                <a:sym typeface="+mn-ea"/>
              </a:rPr>
              <a:t> 低比特量化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矩形: 圆角 5"/>
          <p:cNvSpPr/>
          <p:nvPr/>
        </p:nvSpPr>
        <p:spPr>
          <a:xfrm>
            <a:off x="1757083" y="1114026"/>
            <a:ext cx="2447365" cy="549275"/>
          </a:xfrm>
          <a:prstGeom prst="roundRect">
            <a:avLst/>
          </a:prstGeom>
          <a:solidFill>
            <a:srgbClr val="7E4381"/>
          </a:solidFill>
          <a:ln>
            <a:solidFill>
              <a:srgbClr val="7E43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Binary Connect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87" y="2510244"/>
            <a:ext cx="5013953" cy="242398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48551" y="1763607"/>
            <a:ext cx="4464424" cy="646331"/>
          </a:xfrm>
          <a:prstGeom prst="rect">
            <a:avLst/>
          </a:prstGeom>
          <a:noFill/>
          <a:ln>
            <a:solidFill>
              <a:srgbClr val="7E438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effectLst/>
                <a:latin typeface="Times New Roman" panose="02020603050405020304" charset="0"/>
                <a:ea typeface="等线" panose="02010600030101010101" charset="-122"/>
              </a:rPr>
              <a:t> Training a DNN with binary weights during the forward and backward propagations</a:t>
            </a:r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473710" y="5073650"/>
            <a:ext cx="5013960" cy="1507490"/>
          </a:xfrm>
          <a:prstGeom prst="roundRect">
            <a:avLst/>
          </a:prstGeom>
          <a:solidFill>
            <a:srgbClr val="7E4381"/>
          </a:solidFill>
          <a:ln>
            <a:solidFill>
              <a:srgbClr val="7E43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altLang="zh-CN" sz="2400" b="1" dirty="0"/>
              <a:t>Removing about 2/3 </a:t>
            </a:r>
            <a:r>
              <a:rPr lang="en-US" altLang="zh-CN" sz="2400" b="1" dirty="0">
                <a:effectLst/>
                <a:latin typeface="Times New Roman" panose="02020603050405020304" charset="0"/>
                <a:ea typeface="等线" panose="02010600030101010101" charset="-122"/>
              </a:rPr>
              <a:t>multiplications</a:t>
            </a:r>
            <a:endParaRPr lang="en-US" altLang="zh-CN" sz="2400" b="1" dirty="0">
              <a:effectLst/>
              <a:latin typeface="Times New Roman" panose="02020603050405020304" charset="0"/>
              <a:ea typeface="等线" panose="02010600030101010101" charset="-122"/>
            </a:endParaRPr>
          </a:p>
          <a:p>
            <a:pPr marL="342900" indent="-342900" algn="ctr">
              <a:buAutoNum type="arabicPeriod"/>
            </a:pPr>
            <a:r>
              <a:rPr lang="en-US" altLang="zh-CN" sz="2400" b="1" dirty="0">
                <a:effectLst/>
                <a:latin typeface="Times New Roman" panose="02020603050405020304" charset="0"/>
                <a:ea typeface="等线" panose="02010600030101010101" charset="-122"/>
              </a:rPr>
              <a:t>reducing by a factor of at least 16 the memory requirement</a:t>
            </a:r>
            <a:endParaRPr lang="en-US" altLang="zh-CN" sz="2400" b="1" dirty="0">
              <a:effectLst/>
              <a:latin typeface="Times New Roman" panose="02020603050405020304" charset="0"/>
              <a:ea typeface="等线" panose="02010600030101010101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619998" y="1114025"/>
            <a:ext cx="2814919" cy="549275"/>
          </a:xfrm>
          <a:prstGeom prst="roundRect">
            <a:avLst/>
          </a:prstGeom>
          <a:solidFill>
            <a:srgbClr val="7E4381"/>
          </a:solidFill>
          <a:ln>
            <a:solidFill>
              <a:srgbClr val="7E43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/>
                <a:latin typeface="Times New Roman" panose="02020603050405020304" charset="0"/>
                <a:ea typeface="等线" panose="02010600030101010101" charset="-122"/>
              </a:rPr>
              <a:t>Network Sketching</a:t>
            </a:r>
            <a:endParaRPr lang="zh-CN" altLang="en-US" sz="32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6405279" y="1872386"/>
            <a:ext cx="5244355" cy="923330"/>
          </a:xfrm>
          <a:prstGeom prst="rect">
            <a:avLst/>
          </a:prstGeom>
          <a:noFill/>
          <a:ln>
            <a:solidFill>
              <a:srgbClr val="7E438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effectLst/>
                <a:latin typeface="Times New Roman" panose="02020603050405020304" charset="0"/>
                <a:ea typeface="等线" panose="02010600030101010101" charset="-122"/>
              </a:rPr>
              <a:t>as a new way of pursuing binary-weight CNNs, where the binary structures are exploited in pre-trained models rather than being trained from scratch.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34" y="3088113"/>
            <a:ext cx="3333377" cy="184611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681" y="3061038"/>
            <a:ext cx="3491811" cy="1876364"/>
          </a:xfrm>
          <a:prstGeom prst="rect">
            <a:avLst/>
          </a:prstGeom>
        </p:spPr>
      </p:pic>
      <p:sp>
        <p:nvSpPr>
          <p:cNvPr id="19" name="矩形: 圆角 18"/>
          <p:cNvSpPr/>
          <p:nvPr/>
        </p:nvSpPr>
        <p:spPr>
          <a:xfrm>
            <a:off x="6520180" y="5074285"/>
            <a:ext cx="5013960" cy="1506855"/>
          </a:xfrm>
          <a:prstGeom prst="roundRect">
            <a:avLst/>
          </a:prstGeom>
          <a:solidFill>
            <a:srgbClr val="7E4381"/>
          </a:solidFill>
          <a:ln>
            <a:solidFill>
              <a:srgbClr val="7E43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b="1" kern="100" dirty="0"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2000" b="1" kern="100" dirty="0"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E</a:t>
            </a:r>
            <a:r>
              <a:rPr lang="en-US" altLang="zh-CN" sz="2000" b="1" kern="100" dirty="0">
                <a:effectLst/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nable researchers and engineers to regulate the precision of generated sketches and get better trade-off between the model efficiency and accuracy</a:t>
            </a:r>
            <a:endParaRPr lang="zh-CN" altLang="zh-CN" sz="2000" b="1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  <a:p>
            <a:pPr algn="ctr"/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</a:t>
            </a:r>
            <a:r>
              <a:rPr lang="en-US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更换网络</a:t>
            </a:r>
            <a:r>
              <a:rPr lang="zh-CN" altLang="en-US" dirty="0">
                <a:sym typeface="+mn-ea"/>
              </a:rPr>
              <a:t>结构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5330" y="963930"/>
            <a:ext cx="585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手动更换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层卷积层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池化层</a:t>
            </a:r>
            <a:r>
              <a:rPr lang="en-US" altLang="zh-CN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+2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层全连接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层</a:t>
            </a:r>
            <a:endParaRPr lang="zh-CN" altLang="en-US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epoch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，采用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PTQ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7264"/>
          <a:stretch>
            <a:fillRect/>
          </a:stretch>
        </p:blipFill>
        <p:spPr>
          <a:xfrm>
            <a:off x="365760" y="1587500"/>
            <a:ext cx="5361305" cy="18326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6217920" y="514350"/>
            <a:ext cx="0" cy="60102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47415"/>
            <a:ext cx="5360670" cy="341122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970280"/>
            <a:ext cx="5589905" cy="3619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1876425"/>
            <a:ext cx="5589270" cy="35306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1417320"/>
            <a:ext cx="5599430" cy="37401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323465"/>
            <a:ext cx="5629275" cy="34544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762885"/>
            <a:ext cx="5589270" cy="347345"/>
          </a:xfrm>
          <a:prstGeom prst="rect">
            <a:avLst/>
          </a:prstGeom>
        </p:spPr>
      </p:pic>
      <p:graphicFrame>
        <p:nvGraphicFramePr>
          <p:cNvPr id="30" name="表格 29"/>
          <p:cNvGraphicFramePr/>
          <p:nvPr>
            <p:custDataLst>
              <p:tags r:id="rId8"/>
            </p:custDataLst>
          </p:nvPr>
        </p:nvGraphicFramePr>
        <p:xfrm>
          <a:off x="7376160" y="3220720"/>
          <a:ext cx="3437890" cy="3636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</a:tblGrid>
              <a:tr h="372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模型精度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原始模型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68.07%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仅量化权重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67.79%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量化激活值和权重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67.73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带偏置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70.01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量化偏置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69.79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</a:t>
            </a:r>
            <a:r>
              <a:rPr lang="en-US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更换网络</a:t>
            </a:r>
            <a:r>
              <a:rPr lang="zh-CN" altLang="en-US" dirty="0">
                <a:sym typeface="+mn-ea"/>
              </a:rPr>
              <a:t>结构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2900" y="1190625"/>
            <a:ext cx="585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ResNet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层卷积层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层池化层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层全连接层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460490" y="514350"/>
            <a:ext cx="0" cy="60102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2323465"/>
            <a:ext cx="6014720" cy="251460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35330" y="5423535"/>
            <a:ext cx="5033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由于输入图像的尺寸（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32x32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）较小，这个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ResNet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的结构没有做到像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34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层这样的深度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965" y="410210"/>
            <a:ext cx="3482975" cy="34226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965" y="3832860"/>
            <a:ext cx="3483610" cy="2903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</a:t>
            </a:r>
            <a:r>
              <a:rPr lang="en-US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更换网络</a:t>
            </a:r>
            <a:r>
              <a:rPr lang="zh-CN" altLang="en-US" dirty="0">
                <a:sym typeface="+mn-ea"/>
              </a:rPr>
              <a:t>结构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2900" y="1190625"/>
            <a:ext cx="585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ResNet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层卷积层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层池化层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层全连接层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3320" y="1864360"/>
            <a:ext cx="4034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PTQ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方法时，将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Conv2d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BN2d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层融合，训练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epoch=4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" y="3105150"/>
            <a:ext cx="5033645" cy="323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3751580"/>
            <a:ext cx="5034280" cy="304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4378960"/>
            <a:ext cx="5034280" cy="285750"/>
          </a:xfrm>
          <a:prstGeom prst="rect">
            <a:avLst/>
          </a:prstGeom>
        </p:spPr>
      </p:pic>
      <p:graphicFrame>
        <p:nvGraphicFramePr>
          <p:cNvPr id="30" name="表格 29"/>
          <p:cNvGraphicFramePr/>
          <p:nvPr>
            <p:custDataLst>
              <p:tags r:id="rId4"/>
            </p:custDataLst>
          </p:nvPr>
        </p:nvGraphicFramePr>
        <p:xfrm>
          <a:off x="7679055" y="1448435"/>
          <a:ext cx="3437890" cy="3636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</a:tblGrid>
              <a:tr h="372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模型精度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原始模型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77.8%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仅量化权重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77.5%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量化激活值和权重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64.81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带偏置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74.48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52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量化偏置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74.62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" y="4987290"/>
            <a:ext cx="5034280" cy="3086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" y="5648960"/>
            <a:ext cx="7867650" cy="30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</a:t>
            </a:r>
            <a:r>
              <a:rPr lang="en-US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更换网络</a:t>
            </a:r>
            <a:r>
              <a:rPr lang="zh-CN" altLang="en-US" dirty="0">
                <a:sym typeface="+mn-ea"/>
              </a:rPr>
              <a:t>结构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2900" y="1190625"/>
            <a:ext cx="585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ResNet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层卷积层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层池化层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层全连接层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5345" y="1864360"/>
            <a:ext cx="4831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QAT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一个周期训练时间长，加上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ResNet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的网络深度大，这里设置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epoch=2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2719070"/>
            <a:ext cx="5071745" cy="3732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815" y="3822700"/>
            <a:ext cx="5365115" cy="886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</a:t>
            </a:r>
            <a:r>
              <a:rPr lang="en-US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更换网络</a:t>
            </a:r>
            <a:r>
              <a:rPr lang="zh-CN" altLang="en-US" dirty="0">
                <a:sym typeface="+mn-ea"/>
              </a:rPr>
              <a:t>结构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94055" y="1190625"/>
            <a:ext cx="6482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VGGNet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层卷积层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层池化层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层全连接层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55" y="1693545"/>
            <a:ext cx="10556875" cy="4972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5.3.</a:t>
            </a:r>
            <a:r>
              <a:rPr lang="en-US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更换网络</a:t>
            </a:r>
            <a:r>
              <a:rPr lang="zh-CN" altLang="en-US" dirty="0">
                <a:sym typeface="+mn-ea"/>
              </a:rPr>
              <a:t>结构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2900" y="1190625"/>
            <a:ext cx="6482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VGGNet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层卷积层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层池化层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层全连接层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285" y="1664970"/>
            <a:ext cx="9458325" cy="1895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4285" y="3808730"/>
            <a:ext cx="8927465" cy="1079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出现问题：使用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PTQ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直接对所有层的权重做量化会导致网络精度直接降低到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10%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左右，模型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breakdown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了。猜测其原因可能是因为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VGGNet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的网络深度较大，多层卷积层的量化误差不断累加，并且网络结构中没有定义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BN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层，最终导致整个模型无法工作。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0640" y="5225415"/>
            <a:ext cx="8537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在每个卷积层后面加入BN层之后，经过2个echo后精确度达到71.28%，量化后精度为71.38%，前述breakdown问题得到了很好的解决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25" y="5972810"/>
            <a:ext cx="8861425" cy="572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7445" y="2220429"/>
            <a:ext cx="75713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感谢您的聆听，请批评指导</a:t>
            </a:r>
            <a:endParaRPr lang="zh-CN" altLang="zh-C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9730" y="3141980"/>
            <a:ext cx="7194550" cy="4168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小组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分工：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陈天乐：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更换网络结构，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整合，统筹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冯冠杰：更换网络结构，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整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合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梁方岳：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1.1-2.2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高雨菲：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3.1-4.1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林子昂：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5.1-5.2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单伟浩：低比特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刘烈云：更换激活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12.39220472440942,&quot;left&quot;:425.6429133858268,&quot;top&quot;:126.88881889763779,&quot;width&quot;:358.95}"/>
</p:tagLst>
</file>

<file path=ppt/tags/tag2.xml><?xml version="1.0" encoding="utf-8"?>
<p:tagLst xmlns:p="http://schemas.openxmlformats.org/presentationml/2006/main">
  <p:tag name="KSO_WM_DIAGRAM_VIRTUALLY_FRAME" val="{&quot;height&quot;:212.39220472440942,&quot;left&quot;:425.6429133858268,&quot;top&quot;:126.88881889763779,&quot;width&quot;:358.95}"/>
</p:tagLst>
</file>

<file path=ppt/tags/tag3.xml><?xml version="1.0" encoding="utf-8"?>
<p:tagLst xmlns:p="http://schemas.openxmlformats.org/presentationml/2006/main">
  <p:tag name="KSO_WM_DIAGRAM_VIRTUALLY_FRAME" val="{&quot;height&quot;:212.39220472440942,&quot;left&quot;:425.6429133858268,&quot;top&quot;:126.88881889763779,&quot;width&quot;:358.95}"/>
</p:tagLst>
</file>

<file path=ppt/tags/tag4.xml><?xml version="1.0" encoding="utf-8"?>
<p:tagLst xmlns:p="http://schemas.openxmlformats.org/presentationml/2006/main">
  <p:tag name="KSO_WM_DIAGRAM_VIRTUALLY_FRAME" val="{&quot;height&quot;:212.39220472440942,&quot;left&quot;:425.6429133858268,&quot;top&quot;:126.88881889763779,&quot;width&quot;:358.95}"/>
</p:tagLst>
</file>

<file path=ppt/tags/tag5.xml><?xml version="1.0" encoding="utf-8"?>
<p:tagLst xmlns:p="http://schemas.openxmlformats.org/presentationml/2006/main">
  <p:tag name="KSO_WM_DIAGRAM_VIRTUALLY_FRAME" val="{&quot;height&quot;:212.39220472440942,&quot;left&quot;:425.6429133858268,&quot;top&quot;:126.88881889763779,&quot;width&quot;:358.95}"/>
</p:tagLst>
</file>

<file path=ppt/tags/tag6.xml><?xml version="1.0" encoding="utf-8"?>
<p:tagLst xmlns:p="http://schemas.openxmlformats.org/presentationml/2006/main">
  <p:tag name="KSO_WM_DIAGRAM_VIRTUALLY_FRAME" val="{&quot;height&quot;:212.39220472440942,&quot;left&quot;:425.6429133858268,&quot;top&quot;:126.88881889763779,&quot;width&quot;:358.95}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TABLE_ENDDRAG_ORIGIN_RECT" val="453*196"/>
  <p:tag name="TABLE_ENDDRAG_RECT" val="64*89*453*196"/>
  <p:tag name="TABLE_AUTOADJUST_FLAG" val="1"/>
</p:tagLst>
</file>

<file path=ppt/tags/tag10.xml><?xml version="1.0" encoding="utf-8"?>
<p:tagLst xmlns:p="http://schemas.openxmlformats.org/presentationml/2006/main">
  <p:tag name="KSO_WM_DIAGRAM_VIRTUALLY_FRAME" val="{&quot;height&quot;:349.8008661417323,&quot;left&quot;:11.2,&quot;top&quot;:89.29913385826771,&quot;width&quot;:967.5759055118109}"/>
</p:tagLst>
</file>

<file path=ppt/tags/tag11.xml><?xml version="1.0" encoding="utf-8"?>
<p:tagLst xmlns:p="http://schemas.openxmlformats.org/presentationml/2006/main">
  <p:tag name="KSO_WM_DIAGRAM_VIRTUALLY_FRAME" val="{&quot;height&quot;:349.8008661417323,&quot;left&quot;:11.2,&quot;top&quot;:89.29913385826771,&quot;width&quot;:967.5759055118109}"/>
</p:tagLst>
</file>

<file path=ppt/tags/tag12.xml><?xml version="1.0" encoding="utf-8"?>
<p:tagLst xmlns:p="http://schemas.openxmlformats.org/presentationml/2006/main">
  <p:tag name="KSO_WM_DIAGRAM_VIRTUALLY_FRAME" val="{&quot;height&quot;:349.8008661417323,&quot;left&quot;:11.2,&quot;top&quot;:89.29913385826771,&quot;width&quot;:967.5759055118109}"/>
</p:tagLst>
</file>

<file path=ppt/tags/tag13.xml><?xml version="1.0" encoding="utf-8"?>
<p:tagLst xmlns:p="http://schemas.openxmlformats.org/presentationml/2006/main">
  <p:tag name="KSO_WM_DIAGRAM_VIRTUALLY_FRAME" val="{&quot;height&quot;:349.8008661417323,&quot;left&quot;:11.2,&quot;top&quot;:89.29913385826771,&quot;width&quot;:967.5759055118109}"/>
</p:tagLst>
</file>

<file path=ppt/tags/tag14.xml><?xml version="1.0" encoding="utf-8"?>
<p:tagLst xmlns:p="http://schemas.openxmlformats.org/presentationml/2006/main">
  <p:tag name="KSO_WM_DIAGRAM_VIRTUALLY_FRAME" val="{&quot;height&quot;:349.8008661417323,&quot;left&quot;:11.2,&quot;top&quot;:89.29913385826771,&quot;width&quot;:967.5759055118109}"/>
</p:tagLst>
</file>

<file path=ppt/tags/tag15.xml><?xml version="1.0" encoding="utf-8"?>
<p:tagLst xmlns:p="http://schemas.openxmlformats.org/presentationml/2006/main">
  <p:tag name="KSO_WM_DIAGRAM_VIRTUALLY_FRAME" val="{&quot;height&quot;:349.8008661417323,&quot;left&quot;:11.2,&quot;top&quot;:89.29913385826771,&quot;width&quot;:967.5759055118109}"/>
</p:tagLst>
</file>

<file path=ppt/tags/tag16.xml><?xml version="1.0" encoding="utf-8"?>
<p:tagLst xmlns:p="http://schemas.openxmlformats.org/presentationml/2006/main">
  <p:tag name="KSO_WM_DIAGRAM_VIRTUALLY_FRAME" val="{&quot;height&quot;:339.0008661417323,&quot;left&quot;:13,&quot;top&quot;:92.09913385826772,&quot;width&quot;:954.2292913385827}"/>
</p:tagLst>
</file>

<file path=ppt/tags/tag17.xml><?xml version="1.0" encoding="utf-8"?>
<p:tagLst xmlns:p="http://schemas.openxmlformats.org/presentationml/2006/main">
  <p:tag name="KSO_WM_DIAGRAM_VIRTUALLY_FRAME" val="{&quot;height&quot;:339.0008661417323,&quot;left&quot;:13,&quot;top&quot;:92.09913385826772,&quot;width&quot;:954.2292913385827}"/>
</p:tagLst>
</file>

<file path=ppt/tags/tag18.xml><?xml version="1.0" encoding="utf-8"?>
<p:tagLst xmlns:p="http://schemas.openxmlformats.org/presentationml/2006/main">
  <p:tag name="KSO_WM_DIAGRAM_VIRTUALLY_FRAME" val="{&quot;height&quot;:339.0008661417323,&quot;left&quot;:13,&quot;top&quot;:92.09913385826772,&quot;width&quot;:954.2292913385827}"/>
</p:tagLst>
</file>

<file path=ppt/tags/tag19.xml><?xml version="1.0" encoding="utf-8"?>
<p:tagLst xmlns:p="http://schemas.openxmlformats.org/presentationml/2006/main">
  <p:tag name="KSO_WM_DIAGRAM_VIRTUALLY_FRAME" val="{&quot;height&quot;:339.0008661417323,&quot;left&quot;:13,&quot;top&quot;:92.09913385826772,&quot;width&quot;:954.2292913385827}"/>
</p:tagLst>
</file>

<file path=ppt/tags/tag20.xml><?xml version="1.0" encoding="utf-8"?>
<p:tagLst xmlns:p="http://schemas.openxmlformats.org/presentationml/2006/main">
  <p:tag name="KSO_WM_DIAGRAM_VIRTUALLY_FRAME" val="{&quot;height&quot;:339.0008661417323,&quot;left&quot;:13,&quot;top&quot;:92.09913385826772,&quot;width&quot;:954.2292913385827}"/>
</p:tagLst>
</file>

<file path=ppt/tags/tag21.xml><?xml version="1.0" encoding="utf-8"?>
<p:tagLst xmlns:p="http://schemas.openxmlformats.org/presentationml/2006/main">
  <p:tag name="KSO_WM_DIAGRAM_VIRTUALLY_FRAME" val="{&quot;height&quot;:339.0008661417323,&quot;left&quot;:13,&quot;top&quot;:92.09913385826772,&quot;width&quot;:954.2292913385827}"/>
</p:tagLst>
</file>

<file path=ppt/tags/tag22.xml><?xml version="1.0" encoding="utf-8"?>
<p:tagLst xmlns:p="http://schemas.openxmlformats.org/presentationml/2006/main">
  <p:tag name="TABLE_ENDDRAG_ORIGIN_RECT" val="525*162"/>
  <p:tag name="TABLE_ENDDRAG_RECT" val="413*320*525*162"/>
</p:tagLst>
</file>

<file path=ppt/tags/tag23.xml><?xml version="1.0" encoding="utf-8"?>
<p:tagLst xmlns:p="http://schemas.openxmlformats.org/presentationml/2006/main">
  <p:tag name="TABLE_ENDDRAG_ORIGIN_RECT" val="270*286"/>
  <p:tag name="TABLE_ENDDRAG_RECT" val="580*253*270*286"/>
</p:tagLst>
</file>

<file path=ppt/tags/tag24.xml><?xml version="1.0" encoding="utf-8"?>
<p:tagLst xmlns:p="http://schemas.openxmlformats.org/presentationml/2006/main">
  <p:tag name="TABLE_ENDDRAG_ORIGIN_RECT" val="270*286"/>
  <p:tag name="TABLE_ENDDRAG_RECT" val="580*253*270*28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5861</Words>
  <Application>WPS 演示</Application>
  <PresentationFormat>宽屏</PresentationFormat>
  <Paragraphs>581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方正综艺简体</vt:lpstr>
      <vt:lpstr>Wingdings</vt:lpstr>
      <vt:lpstr>Times New Roman</vt:lpstr>
      <vt:lpstr>Calibri</vt:lpstr>
      <vt:lpstr>Cambria Math</vt:lpstr>
      <vt:lpstr>MS Mincho</vt:lpstr>
      <vt:lpstr>Segoe Print</vt:lpstr>
      <vt:lpstr>Arial Unicode MS</vt:lpstr>
      <vt:lpstr>Calibri Light</vt:lpstr>
      <vt:lpstr>等线</vt:lpstr>
      <vt:lpstr>Office 主题</vt:lpstr>
      <vt:lpstr>PowerPoint 演示文稿</vt:lpstr>
      <vt:lpstr>PowerPoint 演示文稿</vt:lpstr>
      <vt:lpstr>1 可视化权重分布--Weight分析</vt:lpstr>
      <vt:lpstr>1 可视化权重分布--方法选择</vt:lpstr>
      <vt:lpstr>2 量化网络权重--Range </vt:lpstr>
      <vt:lpstr>2 量化网络权重--分析</vt:lpstr>
      <vt:lpstr>3 激活层可视化</vt:lpstr>
      <vt:lpstr>3 激活层可视化</vt:lpstr>
      <vt:lpstr>3 激活层可视化</vt:lpstr>
      <vt:lpstr>4 量化激活层</vt:lpstr>
      <vt:lpstr>5.1 量化bias</vt:lpstr>
      <vt:lpstr>5.1 量化bias</vt:lpstr>
      <vt:lpstr>5.2 QAT vs PTQ</vt:lpstr>
      <vt:lpstr>5.2 QAT vs PTQ</vt:lpstr>
      <vt:lpstr>5.3.1 更换激活函数</vt:lpstr>
      <vt:lpstr>5.3.1 结果分析</vt:lpstr>
      <vt:lpstr>5.3.2 低比特量化</vt:lpstr>
      <vt:lpstr>5.3.2 低比特量化</vt:lpstr>
      <vt:lpstr>5.3.3 更换网络结构</vt:lpstr>
      <vt:lpstr>5.3.3 更换网络结构</vt:lpstr>
      <vt:lpstr>5.3.3 更换网络结构</vt:lpstr>
      <vt:lpstr>5.3.3 更换网络结构</vt:lpstr>
      <vt:lpstr>5.3.3 更换网络结构</vt:lpstr>
      <vt:lpstr>5.3.3 更换网络结构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Public copy</dc:creator>
  <cp:lastModifiedBy>Public copy</cp:lastModifiedBy>
  <cp:revision>36</cp:revision>
  <dcterms:created xsi:type="dcterms:W3CDTF">2015-05-05T08:02:00Z</dcterms:created>
  <dcterms:modified xsi:type="dcterms:W3CDTF">2025-04-01T04:35:21Z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F29B5F3E534149B8AB410BED0C335150_12</vt:lpwstr>
  </property>
</Properties>
</file>