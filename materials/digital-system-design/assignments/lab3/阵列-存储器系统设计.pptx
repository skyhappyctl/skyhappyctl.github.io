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97" r:id="rId4"/>
    <p:sldId id="296" r:id="rId5"/>
    <p:sldId id="287" r:id="rId6"/>
    <p:sldId id="289" r:id="rId7"/>
    <p:sldId id="288" r:id="rId8"/>
    <p:sldId id="290" r:id="rId9"/>
    <p:sldId id="294" r:id="rId10"/>
    <p:sldId id="295" r:id="rId11"/>
    <p:sldId id="291" r:id="rId12"/>
    <p:sldId id="292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B074"/>
    <a:srgbClr val="78C1D4"/>
    <a:srgbClr val="A08BB9"/>
    <a:srgbClr val="B4CC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08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[student ID removed]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8131C-009B-08EA-ACE8-9D45A5C8A3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/>
              <a:t>Lab-3 </a:t>
            </a:r>
            <a:r>
              <a:rPr lang="zh-CN" altLang="en-US" sz="4800" dirty="0"/>
              <a:t>阵列</a:t>
            </a:r>
            <a:r>
              <a:rPr lang="en-US" altLang="zh-CN" sz="4800" dirty="0"/>
              <a:t>+</a:t>
            </a:r>
            <a:r>
              <a:rPr lang="zh-CN" altLang="en-US" sz="4800" dirty="0"/>
              <a:t>存储器系统设计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41DF69-3D68-9DF6-5564-C6F3C17339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数字系统设计</a:t>
            </a:r>
          </a:p>
        </p:txBody>
      </p:sp>
    </p:spTree>
    <p:extLst>
      <p:ext uri="{BB962C8B-B14F-4D97-AF65-F5344CB8AC3E}">
        <p14:creationId xmlns:p14="http://schemas.microsoft.com/office/powerpoint/2010/main" val="725624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33AD7-6AE5-9EA2-53F7-83C146BC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70" y="205791"/>
            <a:ext cx="10515600" cy="950491"/>
          </a:xfrm>
        </p:spPr>
        <p:txBody>
          <a:bodyPr/>
          <a:lstStyle/>
          <a:p>
            <a:r>
              <a:rPr lang="zh-CN" altLang="en-US" dirty="0"/>
              <a:t>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F52C28-3D44-375E-1A46-462C2C26C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070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Lab2</a:t>
            </a:r>
            <a:r>
              <a:rPr lang="zh-CN" altLang="en-US" dirty="0"/>
              <a:t>的数据搬运控制和</a:t>
            </a:r>
            <a:r>
              <a:rPr lang="en-US" altLang="zh-CN" dirty="0"/>
              <a:t>mapping</a:t>
            </a:r>
            <a:r>
              <a:rPr lang="zh-CN" altLang="en-US" dirty="0"/>
              <a:t>的逻辑，是在</a:t>
            </a:r>
            <a:r>
              <a:rPr lang="en-US" altLang="zh-CN" dirty="0"/>
              <a:t>testbench</a:t>
            </a:r>
            <a:r>
              <a:rPr lang="zh-CN" altLang="en-US" dirty="0"/>
              <a:t>里通过软件的方式完成的。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请利用</a:t>
            </a:r>
            <a:r>
              <a:rPr lang="en-US" altLang="zh-CN" dirty="0"/>
              <a:t>Xilinx FPGA</a:t>
            </a:r>
            <a:r>
              <a:rPr lang="zh-CN" altLang="en-US" dirty="0"/>
              <a:t>自带的</a:t>
            </a:r>
            <a:r>
              <a:rPr lang="zh-CN" altLang="en-US" b="1" dirty="0"/>
              <a:t>高密度</a:t>
            </a:r>
            <a:r>
              <a:rPr lang="zh-CN" altLang="en-US" dirty="0"/>
              <a:t>存储器</a:t>
            </a:r>
            <a:r>
              <a:rPr lang="en-US" altLang="zh-CN" dirty="0"/>
              <a:t>BRAM</a:t>
            </a:r>
            <a:r>
              <a:rPr lang="zh-CN" altLang="en-US" dirty="0"/>
              <a:t>，将矩阵预存到</a:t>
            </a:r>
            <a:r>
              <a:rPr lang="en-US" altLang="zh-CN" dirty="0"/>
              <a:t>BRAM</a:t>
            </a:r>
            <a:r>
              <a:rPr lang="zh-CN" altLang="en-US" dirty="0"/>
              <a:t>存储器中，通过硬件控制，完成矩阵到阵列的</a:t>
            </a:r>
            <a:r>
              <a:rPr lang="en-US" altLang="zh-CN" dirty="0"/>
              <a:t>mapping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按照标准论文的格式，提交你的论文报告（</a:t>
            </a:r>
            <a:r>
              <a:rPr lang="en-US" altLang="zh-CN" dirty="0"/>
              <a:t>4-5</a:t>
            </a:r>
            <a:r>
              <a:rPr lang="zh-CN" altLang="en-US" dirty="0"/>
              <a:t>页，中英文皆可），对实验数据和结论进行分析。部分实验数据可以放到附录中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46337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1C8F7-BB43-2766-6CFF-CD4FC2F1C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CFD7A-7C2E-E698-D36C-DD2DF2C1D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70" y="205791"/>
            <a:ext cx="10515600" cy="950491"/>
          </a:xfrm>
        </p:spPr>
        <p:txBody>
          <a:bodyPr/>
          <a:lstStyle/>
          <a:p>
            <a:r>
              <a:rPr lang="zh-CN" altLang="en-US" dirty="0"/>
              <a:t>指标和评分标准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084563-6CEF-D023-1044-962F13652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070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大作业总分</a:t>
            </a:r>
            <a:r>
              <a:rPr lang="en-US" altLang="zh-CN" sz="2400" dirty="0"/>
              <a:t>35</a:t>
            </a:r>
            <a:r>
              <a:rPr lang="zh-CN" altLang="en-US" sz="2400" dirty="0"/>
              <a:t>分，其中报告部分占</a:t>
            </a:r>
            <a:r>
              <a:rPr lang="en-US" altLang="zh-CN" sz="2400" dirty="0"/>
              <a:t>20</a:t>
            </a:r>
            <a:r>
              <a:rPr lang="zh-CN" altLang="en-US" sz="2400" dirty="0"/>
              <a:t>分，指标实现部分占</a:t>
            </a:r>
            <a:r>
              <a:rPr lang="en-US" altLang="zh-CN" sz="2400" dirty="0"/>
              <a:t>15</a:t>
            </a:r>
            <a:r>
              <a:rPr lang="zh-CN" altLang="en-US" sz="2400" dirty="0"/>
              <a:t>分。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所有设计均需满足基本资源使用要求：</a:t>
            </a:r>
            <a:r>
              <a:rPr lang="en-US" altLang="zh-CN" sz="2400" dirty="0"/>
              <a:t>LUT ≥ 4k</a:t>
            </a:r>
            <a:r>
              <a:rPr lang="zh-CN" altLang="en-US" sz="2400" dirty="0"/>
              <a:t>，</a:t>
            </a:r>
            <a:r>
              <a:rPr lang="en-US" altLang="zh-CN" sz="2400" dirty="0"/>
              <a:t>FF ≥ 1k</a:t>
            </a:r>
            <a:r>
              <a:rPr lang="zh-CN" altLang="en-US" sz="2400" dirty="0"/>
              <a:t>，</a:t>
            </a:r>
            <a:r>
              <a:rPr lang="en-US" altLang="zh-CN" sz="2400" dirty="0"/>
              <a:t>DSP &lt; 3%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定义</a:t>
            </a:r>
            <a:r>
              <a:rPr lang="zh-CN" altLang="en-US" sz="2400" b="1" dirty="0"/>
              <a:t>性能指标</a:t>
            </a:r>
            <a:r>
              <a:rPr lang="zh-CN" altLang="en-US" sz="2400" dirty="0"/>
              <a:t> </a:t>
            </a:r>
            <a:r>
              <a:rPr lang="en-US" altLang="zh-CN" sz="2400" dirty="0"/>
              <a:t>= (1 / (FF</a:t>
            </a:r>
            <a:r>
              <a:rPr lang="zh-CN" altLang="en-US" sz="2400" dirty="0"/>
              <a:t>数量</a:t>
            </a:r>
            <a:r>
              <a:rPr lang="en-US" altLang="zh-CN" sz="2400" dirty="0"/>
              <a:t> + 0.25*LUT</a:t>
            </a:r>
            <a:r>
              <a:rPr lang="zh-CN" altLang="en-US" sz="2400" dirty="0"/>
              <a:t>数量</a:t>
            </a:r>
            <a:r>
              <a:rPr lang="en-US" altLang="zh-CN" sz="2400" dirty="0"/>
              <a:t> + 100*BRAM</a:t>
            </a:r>
            <a:r>
              <a:rPr lang="zh-CN" altLang="en-US" sz="2400" dirty="0"/>
              <a:t>数量</a:t>
            </a:r>
            <a:r>
              <a:rPr lang="en-US" altLang="zh-CN" sz="2400" dirty="0"/>
              <a:t>)) * (</a:t>
            </a:r>
            <a:r>
              <a:rPr lang="zh-CN" altLang="en-US" sz="2400" dirty="0"/>
              <a:t>综合后时钟最高频率 </a:t>
            </a:r>
            <a:r>
              <a:rPr lang="en-US" altLang="zh-CN" sz="2400" dirty="0"/>
              <a:t>/ </a:t>
            </a:r>
            <a:r>
              <a:rPr lang="zh-CN" altLang="en-US" sz="2400" dirty="0"/>
              <a:t>总计算时钟周期数</a:t>
            </a:r>
            <a:r>
              <a:rPr lang="en-US" altLang="zh-CN" sz="2400" dirty="0"/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指标实现部分的评分标准：</a:t>
            </a:r>
            <a:endParaRPr lang="en-US" altLang="zh-CN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性能指标 </a:t>
            </a:r>
            <a:r>
              <a:rPr lang="en-US" altLang="zh-CN" sz="2000" dirty="0"/>
              <a:t>[0, 0.003)</a:t>
            </a:r>
            <a:r>
              <a:rPr lang="zh-CN" altLang="en-US" sz="2000" dirty="0"/>
              <a:t>：</a:t>
            </a:r>
            <a:r>
              <a:rPr lang="en-US" altLang="zh-CN" sz="2000" dirty="0"/>
              <a:t>0~8</a:t>
            </a:r>
            <a:r>
              <a:rPr lang="zh-CN" altLang="en-US" sz="2000" dirty="0"/>
              <a:t>分；</a:t>
            </a:r>
            <a:endParaRPr lang="en-US" altLang="zh-CN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性能指标 </a:t>
            </a:r>
            <a:r>
              <a:rPr lang="en-US" altLang="zh-CN" sz="2000" dirty="0"/>
              <a:t>[0.003, 0.01)</a:t>
            </a:r>
            <a:r>
              <a:rPr lang="zh-CN" altLang="en-US" sz="2000" dirty="0"/>
              <a:t>：</a:t>
            </a:r>
            <a:r>
              <a:rPr lang="en-US" altLang="zh-CN" sz="2000" dirty="0"/>
              <a:t>9~11</a:t>
            </a:r>
            <a:r>
              <a:rPr lang="zh-CN" altLang="en-US" sz="2000" dirty="0"/>
              <a:t>分；</a:t>
            </a:r>
            <a:endParaRPr lang="en-US" altLang="zh-CN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性能指标 </a:t>
            </a:r>
            <a:r>
              <a:rPr lang="en-US" altLang="zh-CN" sz="2000" dirty="0"/>
              <a:t>[0.01, 0.015)</a:t>
            </a:r>
            <a:r>
              <a:rPr lang="zh-CN" altLang="en-US" sz="2000" dirty="0"/>
              <a:t>：</a:t>
            </a:r>
            <a:r>
              <a:rPr lang="en-US" altLang="zh-CN" sz="2000" dirty="0"/>
              <a:t>12~14</a:t>
            </a:r>
            <a:r>
              <a:rPr lang="zh-CN" altLang="en-US" sz="2000" dirty="0"/>
              <a:t>分；</a:t>
            </a:r>
            <a:endParaRPr lang="en-US" altLang="zh-CN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性能指标 </a:t>
            </a:r>
            <a:r>
              <a:rPr lang="en-US" altLang="zh-CN" sz="2000" dirty="0"/>
              <a:t>[0.015, +∞)</a:t>
            </a:r>
            <a:r>
              <a:rPr lang="zh-CN" altLang="en-US" sz="2000" dirty="0"/>
              <a:t>：</a:t>
            </a:r>
            <a:r>
              <a:rPr lang="en-US" altLang="zh-CN" sz="2000" dirty="0"/>
              <a:t>15</a:t>
            </a:r>
            <a:r>
              <a:rPr lang="zh-CN" altLang="en-US" sz="2000" dirty="0"/>
              <a:t>分；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341290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344F0-F754-4888-596B-59A9FA305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5FB77-80A2-CD6C-BFA4-2ED0CCAA4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70" y="205791"/>
            <a:ext cx="10515600" cy="950491"/>
          </a:xfrm>
        </p:spPr>
        <p:txBody>
          <a:bodyPr/>
          <a:lstStyle/>
          <a:p>
            <a:r>
              <a:rPr lang="zh-CN" altLang="en-US" dirty="0"/>
              <a:t>指标和评分标准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BFF7E7-D2F1-319B-C8BD-4BC32CF60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070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示例：性能指标的计算</a:t>
            </a:r>
            <a:endParaRPr lang="en-US" altLang="zh-CN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0E84CEB-6B42-3BEF-AB79-C633CC8D6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359" y="2109464"/>
            <a:ext cx="5373787" cy="1780406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10A46C01-560F-0CC0-33D6-00CC6EB6FFCD}"/>
              </a:ext>
            </a:extLst>
          </p:cNvPr>
          <p:cNvSpPr txBox="1">
            <a:spLocks/>
          </p:cNvSpPr>
          <p:nvPr/>
        </p:nvSpPr>
        <p:spPr>
          <a:xfrm>
            <a:off x="1370610" y="3846457"/>
            <a:ext cx="9261764" cy="2614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如图所示的一个设计，最高频率</a:t>
            </a:r>
            <a:r>
              <a:rPr lang="en-US" altLang="zh-CN" sz="2400" dirty="0"/>
              <a:t>100MHz</a:t>
            </a:r>
            <a:r>
              <a:rPr lang="zh-CN" altLang="en-US" sz="2400" dirty="0"/>
              <a:t>，进行一次完整的计算耗时</a:t>
            </a:r>
            <a:r>
              <a:rPr lang="en-US" altLang="zh-CN" sz="2400" dirty="0"/>
              <a:t>397102</a:t>
            </a:r>
            <a:r>
              <a:rPr lang="zh-CN" altLang="en-US" sz="2400" dirty="0"/>
              <a:t>个周期，性能指标的计算方式如下：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性能指标</a:t>
            </a:r>
            <a:r>
              <a:rPr lang="en-US" altLang="zh-CN" sz="2000" dirty="0"/>
              <a:t>= (1 / (16440 + 0.25*26179 + 100*192)) * (100MHz</a:t>
            </a:r>
            <a:r>
              <a:rPr lang="zh-CN" altLang="en-US" sz="2000" dirty="0"/>
              <a:t> </a:t>
            </a:r>
            <a:r>
              <a:rPr lang="en-US" altLang="zh-CN" sz="2000" dirty="0"/>
              <a:t>/ 397102) = 0.00597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需在报告中进行计算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082300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33AD7-6AE5-9EA2-53F7-83C146BC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70" y="205791"/>
            <a:ext cx="10515600" cy="950491"/>
          </a:xfrm>
        </p:spPr>
        <p:txBody>
          <a:bodyPr/>
          <a:lstStyle/>
          <a:p>
            <a:r>
              <a:rPr lang="en-US" altLang="zh-CN" dirty="0"/>
              <a:t>BRAM</a:t>
            </a:r>
            <a:r>
              <a:rPr lang="zh-CN" altLang="en-US" dirty="0"/>
              <a:t>的生成与使用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E266AE5-604B-9A40-42FE-AE082608E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34" y="1156282"/>
            <a:ext cx="11016496" cy="4965182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583EC41-2592-4E61-8072-1656BB5DAEFD}"/>
              </a:ext>
            </a:extLst>
          </p:cNvPr>
          <p:cNvSpPr/>
          <p:nvPr/>
        </p:nvSpPr>
        <p:spPr>
          <a:xfrm>
            <a:off x="886408" y="2230016"/>
            <a:ext cx="802433" cy="2239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C5DFE8-AC77-5E70-C814-6B4139A14548}"/>
              </a:ext>
            </a:extLst>
          </p:cNvPr>
          <p:cNvSpPr txBox="1"/>
          <p:nvPr/>
        </p:nvSpPr>
        <p:spPr>
          <a:xfrm>
            <a:off x="388336" y="210677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E0B884-78B6-2F84-AD92-BA6CBD7CE890}"/>
              </a:ext>
            </a:extLst>
          </p:cNvPr>
          <p:cNvSpPr txBox="1"/>
          <p:nvPr/>
        </p:nvSpPr>
        <p:spPr>
          <a:xfrm>
            <a:off x="4175372" y="400088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85B6D9-4ABB-D0E0-8007-9C2BD94AD664}"/>
              </a:ext>
            </a:extLst>
          </p:cNvPr>
          <p:cNvSpPr/>
          <p:nvPr/>
        </p:nvSpPr>
        <p:spPr>
          <a:xfrm>
            <a:off x="3156857" y="3760238"/>
            <a:ext cx="1434013" cy="26864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33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33AD7-6AE5-9EA2-53F7-83C146BC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70" y="205791"/>
            <a:ext cx="10515600" cy="950491"/>
          </a:xfrm>
        </p:spPr>
        <p:txBody>
          <a:bodyPr/>
          <a:lstStyle/>
          <a:p>
            <a:r>
              <a:rPr lang="en-US" altLang="zh-CN" dirty="0"/>
              <a:t>BRAM</a:t>
            </a:r>
            <a:r>
              <a:rPr lang="zh-CN" altLang="en-US" dirty="0"/>
              <a:t>的生成与使用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9CA8B9-7448-6CF3-92F3-43F02A794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2976"/>
            <a:ext cx="10515600" cy="950491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Port A Options</a:t>
            </a:r>
            <a:r>
              <a:rPr lang="zh-CN" altLang="en-US" dirty="0"/>
              <a:t>中可以修改</a:t>
            </a:r>
            <a:r>
              <a:rPr lang="en-US" altLang="zh-CN" dirty="0"/>
              <a:t>BRAM</a:t>
            </a:r>
            <a:r>
              <a:rPr lang="zh-CN" altLang="en-US" dirty="0"/>
              <a:t>的读写规则，读写位宽和存储深度</a:t>
            </a:r>
          </a:p>
        </p:txBody>
      </p:sp>
      <p:sp>
        <p:nvSpPr>
          <p:cNvPr id="14" name="内容占位符 3">
            <a:extLst>
              <a:ext uri="{FF2B5EF4-FFF2-40B4-BE49-F238E27FC236}">
                <a16:creationId xmlns:a16="http://schemas.microsoft.com/office/drawing/2014/main" id="{FEB612E9-9BE5-5CFB-9C6F-6FC1BB509484}"/>
              </a:ext>
            </a:extLst>
          </p:cNvPr>
          <p:cNvSpPr txBox="1">
            <a:spLocks/>
          </p:cNvSpPr>
          <p:nvPr/>
        </p:nvSpPr>
        <p:spPr>
          <a:xfrm>
            <a:off x="838200" y="5262464"/>
            <a:ext cx="10834396" cy="1595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/>
              <a:t>请自行设置读写位宽（</a:t>
            </a:r>
            <a:r>
              <a:rPr lang="en-US" altLang="zh-CN" dirty="0"/>
              <a:t>width</a:t>
            </a:r>
            <a:r>
              <a:rPr lang="zh-CN" altLang="en-US" dirty="0"/>
              <a:t>）和读写深度（</a:t>
            </a:r>
            <a:r>
              <a:rPr lang="en-US" altLang="zh-CN" dirty="0"/>
              <a:t>depth</a:t>
            </a:r>
            <a:r>
              <a:rPr lang="zh-CN" altLang="en-US" dirty="0"/>
              <a:t>）以满足你的设计要求。读写深度</a:t>
            </a:r>
            <a:r>
              <a:rPr lang="en-US" altLang="zh-CN" dirty="0"/>
              <a:t>*</a:t>
            </a:r>
            <a:r>
              <a:rPr lang="zh-CN" altLang="en-US" dirty="0"/>
              <a:t>读写位宽即这个存储器可以存储的数据量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86BE89-1339-DD2E-1F56-D24172CB0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33" y="1668627"/>
            <a:ext cx="10082134" cy="35207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BEA4475-7DBB-9C00-500F-EEB3B4814F84}"/>
              </a:ext>
            </a:extLst>
          </p:cNvPr>
          <p:cNvSpPr/>
          <p:nvPr/>
        </p:nvSpPr>
        <p:spPr>
          <a:xfrm>
            <a:off x="4254759" y="3806890"/>
            <a:ext cx="1950098" cy="3545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EA460E-CA74-738A-6200-81C85180A35B}"/>
              </a:ext>
            </a:extLst>
          </p:cNvPr>
          <p:cNvSpPr/>
          <p:nvPr/>
        </p:nvSpPr>
        <p:spPr>
          <a:xfrm>
            <a:off x="4475480" y="4465320"/>
            <a:ext cx="1620520" cy="30178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71D88A-546E-E267-F330-BAF375E6E876}"/>
              </a:ext>
            </a:extLst>
          </p:cNvPr>
          <p:cNvSpPr txBox="1"/>
          <p:nvPr/>
        </p:nvSpPr>
        <p:spPr>
          <a:xfrm>
            <a:off x="2491273" y="3345225"/>
            <a:ext cx="17634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可以换成其他模式，读写行为略有不同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BC4364-02D3-6E12-9F11-410F10C16347}"/>
              </a:ext>
            </a:extLst>
          </p:cNvPr>
          <p:cNvSpPr txBox="1"/>
          <p:nvPr/>
        </p:nvSpPr>
        <p:spPr>
          <a:xfrm>
            <a:off x="3500431" y="4767104"/>
            <a:ext cx="1950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对读写数据打一拍，可以去掉</a:t>
            </a:r>
          </a:p>
        </p:txBody>
      </p:sp>
    </p:spTree>
    <p:extLst>
      <p:ext uri="{BB962C8B-B14F-4D97-AF65-F5344CB8AC3E}">
        <p14:creationId xmlns:p14="http://schemas.microsoft.com/office/powerpoint/2010/main" val="2387659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33AD7-6AE5-9EA2-53F7-83C146BC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70" y="205791"/>
            <a:ext cx="10515600" cy="950491"/>
          </a:xfrm>
        </p:spPr>
        <p:txBody>
          <a:bodyPr/>
          <a:lstStyle/>
          <a:p>
            <a:r>
              <a:rPr lang="en-US" altLang="zh-CN" dirty="0"/>
              <a:t>BRAM</a:t>
            </a:r>
            <a:r>
              <a:rPr lang="zh-CN" altLang="en-US" dirty="0"/>
              <a:t>的生成与使用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9CA8B9-7448-6CF3-92F3-43F02A794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2976"/>
            <a:ext cx="10515600" cy="950491"/>
          </a:xfrm>
        </p:spPr>
        <p:txBody>
          <a:bodyPr/>
          <a:lstStyle/>
          <a:p>
            <a:r>
              <a:rPr lang="zh-CN" altLang="en-US" dirty="0"/>
              <a:t>点击</a:t>
            </a:r>
            <a:r>
              <a:rPr lang="en-US" altLang="zh-CN" dirty="0"/>
              <a:t>ok</a:t>
            </a:r>
            <a:r>
              <a:rPr lang="zh-CN" altLang="en-US" dirty="0"/>
              <a:t>后，点击</a:t>
            </a:r>
            <a:r>
              <a:rPr lang="en-US" altLang="zh-CN" dirty="0"/>
              <a:t>generate</a:t>
            </a:r>
            <a:r>
              <a:rPr lang="zh-CN" altLang="en-US" dirty="0"/>
              <a:t>。这时，可以在</a:t>
            </a:r>
            <a:r>
              <a:rPr lang="en-US" altLang="zh-CN" dirty="0"/>
              <a:t>sources</a:t>
            </a:r>
            <a:r>
              <a:rPr lang="zh-CN" altLang="en-US" dirty="0"/>
              <a:t>列表中看到生成的</a:t>
            </a:r>
            <a:r>
              <a:rPr lang="en-US" altLang="zh-CN" dirty="0"/>
              <a:t>BRAM</a:t>
            </a:r>
            <a:r>
              <a:rPr lang="zh-CN" altLang="en-US" dirty="0"/>
              <a:t>及其例化方式。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4CC755E-81B6-91D5-9DA3-50154B322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242" y="2013467"/>
            <a:ext cx="8569801" cy="4762287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BD04EE13-6224-0879-037D-B1E14281B81B}"/>
              </a:ext>
            </a:extLst>
          </p:cNvPr>
          <p:cNvSpPr/>
          <p:nvPr/>
        </p:nvSpPr>
        <p:spPr>
          <a:xfrm>
            <a:off x="1810138" y="2062064"/>
            <a:ext cx="802433" cy="2239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3E700E0-BDF7-C1AC-3641-D43171D34FEA}"/>
              </a:ext>
            </a:extLst>
          </p:cNvPr>
          <p:cNvSpPr/>
          <p:nvPr/>
        </p:nvSpPr>
        <p:spPr>
          <a:xfrm>
            <a:off x="2335141" y="6494521"/>
            <a:ext cx="692540" cy="2239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FDCBDE-E899-8DD6-6396-B99CB978157A}"/>
              </a:ext>
            </a:extLst>
          </p:cNvPr>
          <p:cNvSpPr/>
          <p:nvPr/>
        </p:nvSpPr>
        <p:spPr>
          <a:xfrm>
            <a:off x="5749730" y="4507101"/>
            <a:ext cx="2507862" cy="11192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113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33AD7-6AE5-9EA2-53F7-83C146BC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70" y="205791"/>
            <a:ext cx="10515600" cy="950491"/>
          </a:xfrm>
        </p:spPr>
        <p:txBody>
          <a:bodyPr/>
          <a:lstStyle/>
          <a:p>
            <a:r>
              <a:rPr lang="en-US" altLang="zh-CN" dirty="0"/>
              <a:t>BRAM</a:t>
            </a:r>
            <a:r>
              <a:rPr lang="zh-CN" altLang="en-US" dirty="0"/>
              <a:t>的生成与使用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9CA8B9-7448-6CF3-92F3-43F02A794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670" y="1259275"/>
            <a:ext cx="10515600" cy="5272153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/>
              <a:t>BRAM</a:t>
            </a:r>
            <a:r>
              <a:rPr lang="zh-CN" altLang="en-US" dirty="0"/>
              <a:t>端口解释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en-US" altLang="zh-CN" dirty="0"/>
              <a:t>clock</a:t>
            </a:r>
            <a:r>
              <a:rPr lang="zh-CN" altLang="en-US" dirty="0"/>
              <a:t>为时钟端口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en-US" altLang="zh-CN" dirty="0" err="1"/>
              <a:t>ena</a:t>
            </a:r>
            <a:r>
              <a:rPr lang="zh-CN" altLang="en-US" dirty="0"/>
              <a:t>为使能端口，读写时请保持高电平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en-US" altLang="zh-CN" dirty="0"/>
              <a:t>wea</a:t>
            </a:r>
            <a:r>
              <a:rPr lang="zh-CN" altLang="en-US" dirty="0"/>
              <a:t>为写使能，写数据时请保持高电平，低电平为读数模式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en-US" altLang="zh-CN" dirty="0" err="1"/>
              <a:t>Addr</a:t>
            </a:r>
            <a:r>
              <a:rPr lang="zh-CN" altLang="en-US" dirty="0"/>
              <a:t>为地址端口，根据地址读写数据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en-US" altLang="zh-CN" dirty="0"/>
              <a:t>Din</a:t>
            </a:r>
            <a:r>
              <a:rPr lang="zh-CN" altLang="en-US" dirty="0"/>
              <a:t>为写数据，根据</a:t>
            </a:r>
            <a:r>
              <a:rPr lang="en-US" altLang="zh-CN" dirty="0" err="1"/>
              <a:t>addr</a:t>
            </a:r>
            <a:r>
              <a:rPr lang="zh-CN" altLang="en-US" dirty="0"/>
              <a:t>在指定深度写入数据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en-US" altLang="zh-CN" dirty="0" err="1"/>
              <a:t>Dout</a:t>
            </a:r>
            <a:r>
              <a:rPr lang="zh-CN" altLang="en-US" dirty="0"/>
              <a:t>为读数据，根据</a:t>
            </a:r>
            <a:r>
              <a:rPr lang="en-US" altLang="zh-CN" dirty="0" err="1"/>
              <a:t>addr</a:t>
            </a:r>
            <a:r>
              <a:rPr lang="zh-CN" altLang="en-US" dirty="0"/>
              <a:t>在指定深度读出数据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dirty="0"/>
              <a:t>如果想使用</a:t>
            </a:r>
            <a:r>
              <a:rPr lang="en-US" altLang="zh-CN" dirty="0"/>
              <a:t>dual port memory</a:t>
            </a:r>
            <a:r>
              <a:rPr lang="zh-CN" altLang="en-US" dirty="0"/>
              <a:t>模式，或者其他</a:t>
            </a:r>
            <a:r>
              <a:rPr lang="en-US" altLang="zh-CN" dirty="0"/>
              <a:t>operating mode</a:t>
            </a:r>
            <a:r>
              <a:rPr lang="zh-CN" altLang="en-US" dirty="0"/>
              <a:t>，与</a:t>
            </a:r>
            <a:r>
              <a:rPr lang="en-US" altLang="zh-CN" dirty="0"/>
              <a:t>single port memory</a:t>
            </a:r>
            <a:r>
              <a:rPr lang="zh-CN" altLang="en-US" dirty="0"/>
              <a:t>的使用类似，请自行查阅相关资料。</a:t>
            </a:r>
          </a:p>
        </p:txBody>
      </p:sp>
    </p:spTree>
    <p:extLst>
      <p:ext uri="{BB962C8B-B14F-4D97-AF65-F5344CB8AC3E}">
        <p14:creationId xmlns:p14="http://schemas.microsoft.com/office/powerpoint/2010/main" val="2744308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BEDD7-AA04-F390-A9EB-002F8A54B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1EAE4-B8AE-1B00-42CF-15BFEA91F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70" y="205791"/>
            <a:ext cx="10515600" cy="950491"/>
          </a:xfrm>
        </p:spPr>
        <p:txBody>
          <a:bodyPr/>
          <a:lstStyle/>
          <a:p>
            <a:r>
              <a:rPr lang="en-US" altLang="zh-CN" dirty="0"/>
              <a:t>BRAM</a:t>
            </a:r>
            <a:r>
              <a:rPr lang="zh-CN" altLang="en-US" dirty="0"/>
              <a:t>的</a:t>
            </a:r>
            <a:r>
              <a:rPr lang="en-US" altLang="zh-CN" dirty="0"/>
              <a:t>operating mode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F4CF4E-E874-7004-6843-C127780E3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40" y="1062976"/>
            <a:ext cx="10515600" cy="95049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change</a:t>
            </a:r>
            <a:r>
              <a:rPr lang="zh-CN" altLang="en-US" dirty="0"/>
              <a:t>模式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9F331F-53EE-E900-3D20-8DBBBE47B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49" y="1458084"/>
            <a:ext cx="4861981" cy="227857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3A2AF86-62CE-6C2D-B162-352DD943F942}"/>
              </a:ext>
            </a:extLst>
          </p:cNvPr>
          <p:cNvSpPr txBox="1"/>
          <p:nvPr/>
        </p:nvSpPr>
        <p:spPr>
          <a:xfrm>
            <a:off x="7958030" y="2128494"/>
            <a:ext cx="41050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/>
              <a:t>No change </a:t>
            </a:r>
            <a:r>
              <a:rPr lang="zh-CN" altLang="en-US" sz="1800" dirty="0"/>
              <a:t>模式，写数据时，读端口（</a:t>
            </a:r>
            <a:r>
              <a:rPr lang="en-US" altLang="zh-CN" sz="1800" dirty="0"/>
              <a:t>DOUTA</a:t>
            </a:r>
            <a:r>
              <a:rPr lang="zh-CN" altLang="en-US" sz="1800" dirty="0"/>
              <a:t>）保持上一次读要求时（</a:t>
            </a:r>
            <a:r>
              <a:rPr lang="en-US" altLang="zh-CN" sz="1800" dirty="0"/>
              <a:t>WEA</a:t>
            </a:r>
            <a:r>
              <a:rPr lang="zh-CN" altLang="en-US" sz="1800" dirty="0"/>
              <a:t>低电平）数据的内容（</a:t>
            </a:r>
            <a:r>
              <a:rPr lang="en-US" altLang="zh-CN" sz="1800" dirty="0"/>
              <a:t>MEM(aa)</a:t>
            </a:r>
            <a:r>
              <a:rPr lang="zh-CN" altLang="en-US" sz="1800" dirty="0"/>
              <a:t>）</a:t>
            </a:r>
          </a:p>
        </p:txBody>
      </p:sp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AF7BD0C2-6696-479C-D2B2-CD7EDBF78B15}"/>
              </a:ext>
            </a:extLst>
          </p:cNvPr>
          <p:cNvSpPr txBox="1">
            <a:spLocks/>
          </p:cNvSpPr>
          <p:nvPr/>
        </p:nvSpPr>
        <p:spPr>
          <a:xfrm>
            <a:off x="269240" y="3806176"/>
            <a:ext cx="10515600" cy="950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/>
              <a:t>Write first</a:t>
            </a:r>
            <a:r>
              <a:rPr lang="zh-CN" altLang="en-US" dirty="0"/>
              <a:t>模式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49ED08A-615E-E6E1-B15C-9D4B4C4CE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289" y="4038463"/>
            <a:ext cx="4861981" cy="229977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4950939E-EBFE-8DCF-6BAD-592E1D84054F}"/>
              </a:ext>
            </a:extLst>
          </p:cNvPr>
          <p:cNvSpPr txBox="1"/>
          <p:nvPr/>
        </p:nvSpPr>
        <p:spPr>
          <a:xfrm>
            <a:off x="7958030" y="4708873"/>
            <a:ext cx="41050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/>
              <a:t>Write first</a:t>
            </a:r>
            <a:r>
              <a:rPr lang="zh-CN" altLang="en-US" sz="1800" dirty="0"/>
              <a:t>模式，写数据时，读端口（</a:t>
            </a:r>
            <a:r>
              <a:rPr lang="en-US" altLang="zh-CN" sz="1800" dirty="0"/>
              <a:t>DOUTA</a:t>
            </a:r>
            <a:r>
              <a:rPr lang="zh-CN" altLang="en-US" sz="1800" dirty="0"/>
              <a:t>）保持上一次</a:t>
            </a:r>
            <a:r>
              <a:rPr lang="zh-CN" altLang="en-US" dirty="0"/>
              <a:t>写</a:t>
            </a:r>
            <a:r>
              <a:rPr lang="zh-CN" altLang="en-US" sz="1800" dirty="0"/>
              <a:t>要求时（</a:t>
            </a:r>
            <a:r>
              <a:rPr lang="en-US" altLang="zh-CN" sz="1800" dirty="0"/>
              <a:t>WEA</a:t>
            </a:r>
            <a:r>
              <a:rPr lang="zh-CN" altLang="en-US" dirty="0"/>
              <a:t>高</a:t>
            </a:r>
            <a:r>
              <a:rPr lang="zh-CN" altLang="en-US" sz="1800" dirty="0"/>
              <a:t>电平）</a:t>
            </a:r>
            <a:r>
              <a:rPr lang="zh-CN" altLang="en-US" dirty="0"/>
              <a:t>写端口（</a:t>
            </a:r>
            <a:r>
              <a:rPr lang="en-US" altLang="zh-CN" dirty="0"/>
              <a:t>DINA</a:t>
            </a:r>
            <a:r>
              <a:rPr lang="zh-CN" altLang="en-US" dirty="0"/>
              <a:t>）</a:t>
            </a:r>
            <a:r>
              <a:rPr lang="zh-CN" altLang="en-US" sz="1800" dirty="0"/>
              <a:t>数据的内容</a:t>
            </a:r>
          </a:p>
        </p:txBody>
      </p:sp>
    </p:spTree>
    <p:extLst>
      <p:ext uri="{BB962C8B-B14F-4D97-AF65-F5344CB8AC3E}">
        <p14:creationId xmlns:p14="http://schemas.microsoft.com/office/powerpoint/2010/main" val="2868571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AEC65-1806-DDB1-BEB8-83FEC9F89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59350E-E7A5-4A6A-241E-658A2D704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70" y="205791"/>
            <a:ext cx="10515600" cy="950491"/>
          </a:xfrm>
        </p:spPr>
        <p:txBody>
          <a:bodyPr/>
          <a:lstStyle/>
          <a:p>
            <a:r>
              <a:rPr lang="en-US" altLang="zh-CN" dirty="0"/>
              <a:t>BRAM</a:t>
            </a:r>
            <a:r>
              <a:rPr lang="zh-CN" altLang="en-US" dirty="0"/>
              <a:t>的</a:t>
            </a:r>
            <a:r>
              <a:rPr lang="en-US" altLang="zh-CN" dirty="0"/>
              <a:t>operating mode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D867AE-F542-183D-59C1-5C133D2AA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40" y="1062976"/>
            <a:ext cx="10515600" cy="95049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Read first</a:t>
            </a:r>
            <a:r>
              <a:rPr lang="zh-CN" altLang="en-US" dirty="0"/>
              <a:t>模式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0747BDF-FBCE-FF13-7AC9-1E7D53A31BB0}"/>
              </a:ext>
            </a:extLst>
          </p:cNvPr>
          <p:cNvSpPr txBox="1"/>
          <p:nvPr/>
        </p:nvSpPr>
        <p:spPr>
          <a:xfrm>
            <a:off x="8120590" y="2270487"/>
            <a:ext cx="35532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/>
              <a:t>Read First</a:t>
            </a:r>
            <a:r>
              <a:rPr lang="zh-CN" altLang="en-US" sz="1800" dirty="0"/>
              <a:t>模式，读端口（</a:t>
            </a:r>
            <a:r>
              <a:rPr lang="en-US" altLang="zh-CN" sz="1800" dirty="0"/>
              <a:t>DOUTA</a:t>
            </a:r>
            <a:r>
              <a:rPr lang="zh-CN" altLang="en-US" sz="1800" dirty="0"/>
              <a:t>）</a:t>
            </a:r>
            <a:r>
              <a:rPr lang="zh-CN" altLang="en-US" dirty="0"/>
              <a:t>永远输出上一个时钟周期地址（</a:t>
            </a:r>
            <a:r>
              <a:rPr lang="en-US" altLang="zh-CN" dirty="0"/>
              <a:t>ADDRA</a:t>
            </a:r>
            <a:r>
              <a:rPr lang="zh-CN" altLang="en-US" dirty="0"/>
              <a:t>）所对应的</a:t>
            </a:r>
            <a:r>
              <a:rPr lang="en-US" altLang="zh-CN" dirty="0"/>
              <a:t>MEM</a:t>
            </a:r>
            <a:r>
              <a:rPr lang="zh-CN" altLang="en-US" dirty="0"/>
              <a:t>位置的内容（写入前的旧数据）</a:t>
            </a:r>
            <a:endParaRPr lang="zh-CN" altLang="en-US" sz="1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85D4EBE-8C5F-BB83-940B-67CA8091F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619" y="1602309"/>
            <a:ext cx="4861981" cy="2536686"/>
          </a:xfrm>
          <a:prstGeom prst="rect">
            <a:avLst/>
          </a:prstGeom>
        </p:spPr>
      </p:pic>
      <p:sp>
        <p:nvSpPr>
          <p:cNvPr id="7" name="内容占位符 3">
            <a:extLst>
              <a:ext uri="{FF2B5EF4-FFF2-40B4-BE49-F238E27FC236}">
                <a16:creationId xmlns:a16="http://schemas.microsoft.com/office/drawing/2014/main" id="{2BB6C0D2-BA2D-2707-2514-4990D0325A7E}"/>
              </a:ext>
            </a:extLst>
          </p:cNvPr>
          <p:cNvSpPr txBox="1">
            <a:spLocks/>
          </p:cNvSpPr>
          <p:nvPr/>
        </p:nvSpPr>
        <p:spPr>
          <a:xfrm>
            <a:off x="269240" y="4035381"/>
            <a:ext cx="10515600" cy="24356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/>
              <a:t>Primitives output register</a:t>
            </a:r>
            <a:r>
              <a:rPr lang="zh-CN" altLang="en-US" dirty="0"/>
              <a:t>（影响读数据的行为）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如果勾选，则</a:t>
            </a:r>
            <a:r>
              <a:rPr lang="en-US" altLang="zh-CN" dirty="0"/>
              <a:t>DOUTA</a:t>
            </a:r>
            <a:r>
              <a:rPr lang="zh-CN" altLang="en-US" dirty="0"/>
              <a:t>在两个周期后输出</a:t>
            </a:r>
            <a:r>
              <a:rPr lang="en-US" altLang="zh-CN" dirty="0"/>
              <a:t>ADDRA</a:t>
            </a:r>
            <a:r>
              <a:rPr lang="zh-CN" altLang="en-US" dirty="0"/>
              <a:t>要求位置的内容，优点是有更强的驱动能力（更高的读写时钟频率）。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如果不勾选，则是在</a:t>
            </a:r>
            <a:r>
              <a:rPr lang="en-US" altLang="zh-CN" dirty="0"/>
              <a:t>ADDRA</a:t>
            </a:r>
            <a:r>
              <a:rPr lang="zh-CN" altLang="en-US" dirty="0"/>
              <a:t>信号一个周期后输出，与上述时序图一致。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64281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33AD7-6AE5-9EA2-53F7-83C146BC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70" y="205791"/>
            <a:ext cx="10515600" cy="950491"/>
          </a:xfrm>
        </p:spPr>
        <p:txBody>
          <a:bodyPr/>
          <a:lstStyle/>
          <a:p>
            <a:r>
              <a:rPr lang="en-US" altLang="zh-CN" dirty="0"/>
              <a:t>BRAM</a:t>
            </a:r>
            <a:r>
              <a:rPr lang="zh-CN" altLang="en-US" dirty="0"/>
              <a:t>的生成与使用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9CA8B9-7448-6CF3-92F3-43F02A794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669" y="1259275"/>
            <a:ext cx="11295611" cy="4886881"/>
          </a:xfrm>
        </p:spPr>
        <p:txBody>
          <a:bodyPr>
            <a:normAutofit fontScale="92500"/>
          </a:bodyPr>
          <a:lstStyle/>
          <a:p>
            <a:pPr>
              <a:lnSpc>
                <a:spcPct val="130000"/>
              </a:lnSpc>
            </a:pPr>
            <a:r>
              <a:rPr lang="en-US" altLang="zh-CN" dirty="0"/>
              <a:t>TIPS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通过</a:t>
            </a:r>
            <a:r>
              <a:rPr lang="en-US" altLang="zh-CN" dirty="0"/>
              <a:t>testbench</a:t>
            </a:r>
            <a:r>
              <a:rPr lang="zh-CN" altLang="en-US" dirty="0"/>
              <a:t>将数据搬运到</a:t>
            </a:r>
            <a:r>
              <a:rPr lang="en-US" altLang="zh-CN" dirty="0"/>
              <a:t>BRAM</a:t>
            </a:r>
            <a:r>
              <a:rPr lang="zh-CN" altLang="en-US" dirty="0"/>
              <a:t>中，然后通过计算使能信号开始矩阵计算工作。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可以生成不同宽度和深度的</a:t>
            </a:r>
            <a:r>
              <a:rPr lang="en-US" altLang="zh-CN" dirty="0"/>
              <a:t>BRAM</a:t>
            </a:r>
            <a:r>
              <a:rPr lang="zh-CN" altLang="en-US" dirty="0"/>
              <a:t>一起使用。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使用多块</a:t>
            </a:r>
            <a:r>
              <a:rPr lang="en-US" altLang="zh-CN" dirty="0"/>
              <a:t>BRAM</a:t>
            </a:r>
            <a:r>
              <a:rPr lang="zh-CN" altLang="en-US" dirty="0"/>
              <a:t>时，可以通过控制各个</a:t>
            </a:r>
            <a:r>
              <a:rPr lang="en-US" altLang="zh-CN" dirty="0"/>
              <a:t>BRAM</a:t>
            </a:r>
            <a:r>
              <a:rPr lang="zh-CN" altLang="en-US" dirty="0"/>
              <a:t>的</a:t>
            </a:r>
            <a:r>
              <a:rPr lang="en-US" altLang="zh-CN" dirty="0"/>
              <a:t>CEA</a:t>
            </a:r>
            <a:r>
              <a:rPr lang="zh-CN" altLang="en-US" dirty="0"/>
              <a:t>和</a:t>
            </a:r>
            <a:r>
              <a:rPr lang="en-US" altLang="zh-CN" dirty="0"/>
              <a:t>WEA</a:t>
            </a:r>
            <a:r>
              <a:rPr lang="zh-CN" altLang="en-US" dirty="0"/>
              <a:t>，选择读写哪一个</a:t>
            </a:r>
            <a:r>
              <a:rPr lang="en-US" altLang="zh-CN" dirty="0"/>
              <a:t>BRAM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所提供的矩阵数据是高度稀疏的，可以尝试利用，进行稀疏计算。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dirty="0"/>
              <a:t>附件中有</a:t>
            </a:r>
            <a:r>
              <a:rPr lang="en-US" altLang="zh-CN" dirty="0"/>
              <a:t>BRAM</a:t>
            </a:r>
            <a:r>
              <a:rPr lang="zh-CN" altLang="en-US" dirty="0"/>
              <a:t>的读写数据测例，可以参考学习</a:t>
            </a:r>
            <a:r>
              <a:rPr lang="en-US" altLang="zh-CN" dirty="0"/>
              <a:t>BRAM</a:t>
            </a:r>
            <a:r>
              <a:rPr lang="zh-CN" altLang="en-US" dirty="0"/>
              <a:t>的行为特性。</a:t>
            </a:r>
            <a:r>
              <a:rPr lang="en-US" altLang="zh-CN" dirty="0" err="1"/>
              <a:t>Vivado</a:t>
            </a:r>
            <a:r>
              <a:rPr lang="zh-CN" altLang="en-US" dirty="0"/>
              <a:t>工程文件是</a:t>
            </a:r>
            <a:r>
              <a:rPr lang="en-US" altLang="zh-CN" dirty="0"/>
              <a:t>2024.1</a:t>
            </a:r>
            <a:r>
              <a:rPr lang="zh-CN" altLang="en-US" dirty="0"/>
              <a:t>版本的，若版本不一致，可自行从</a:t>
            </a:r>
            <a:r>
              <a:rPr lang="pt-BR" altLang="zh-CN" dirty="0"/>
              <a:t>BRAM_rd_wr_test.srcs</a:t>
            </a:r>
            <a:r>
              <a:rPr lang="zh-CN" altLang="en-US" dirty="0"/>
              <a:t>文件夹下找到设计文件和仿真文件。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99838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33AD7-6AE5-9EA2-53F7-83C146BC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70" y="140477"/>
            <a:ext cx="10515600" cy="950491"/>
          </a:xfrm>
        </p:spPr>
        <p:txBody>
          <a:bodyPr/>
          <a:lstStyle/>
          <a:p>
            <a:r>
              <a:rPr lang="zh-CN" altLang="en-US" dirty="0"/>
              <a:t>矩阵数据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9CA8B9-7448-6CF3-92F3-43F02A794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670" y="1090968"/>
            <a:ext cx="10741090" cy="546845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数据采集自</a:t>
            </a:r>
            <a:r>
              <a:rPr lang="en-US" altLang="zh-CN" dirty="0"/>
              <a:t>VGG-16</a:t>
            </a:r>
            <a:r>
              <a:rPr lang="zh-CN" altLang="en-US" dirty="0"/>
              <a:t>网络中的第三层卷积层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/>
              <a:t>Weight.txt[</a:t>
            </a:r>
            <a:r>
              <a:rPr lang="en-US" altLang="zh-CN" dirty="0" err="1"/>
              <a:t>outch</a:t>
            </a:r>
            <a:r>
              <a:rPr lang="en-US" altLang="zh-CN" dirty="0"/>
              <a:t>, inch, k1, k2]</a:t>
            </a:r>
            <a:r>
              <a:rPr lang="zh-CN" altLang="en-US" dirty="0"/>
              <a:t>，按照</a:t>
            </a:r>
            <a:r>
              <a:rPr lang="en-US" altLang="zh-CN" dirty="0"/>
              <a:t>k2-k1-inch, </a:t>
            </a:r>
            <a:r>
              <a:rPr lang="en-US" altLang="zh-CN" dirty="0" err="1"/>
              <a:t>outch</a:t>
            </a:r>
            <a:r>
              <a:rPr lang="zh-CN" altLang="en-US" dirty="0"/>
              <a:t>的格式存储。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一共</a:t>
            </a:r>
            <a:r>
              <a:rPr lang="en-US" altLang="zh-CN" dirty="0"/>
              <a:t>128</a:t>
            </a:r>
            <a:r>
              <a:rPr lang="zh-CN" altLang="en-US" dirty="0"/>
              <a:t>行，对应</a:t>
            </a:r>
            <a:r>
              <a:rPr lang="en-US" altLang="zh-CN" dirty="0"/>
              <a:t>128</a:t>
            </a:r>
            <a:r>
              <a:rPr lang="zh-CN" altLang="en-US" dirty="0"/>
              <a:t>个</a:t>
            </a:r>
            <a:r>
              <a:rPr lang="en-US" altLang="zh-CN" dirty="0"/>
              <a:t>output channel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/>
              <a:t>Activation.txt[inch, h, w]</a:t>
            </a:r>
            <a:r>
              <a:rPr lang="zh-CN" altLang="en-US" dirty="0"/>
              <a:t>，按照</a:t>
            </a:r>
            <a:r>
              <a:rPr lang="en-US" altLang="zh-CN" dirty="0"/>
              <a:t>w-h, inch</a:t>
            </a:r>
            <a:r>
              <a:rPr lang="zh-CN" altLang="en-US" dirty="0"/>
              <a:t>的格式存储。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一共</a:t>
            </a:r>
            <a:r>
              <a:rPr lang="en-US" altLang="zh-CN" dirty="0"/>
              <a:t>64</a:t>
            </a:r>
            <a:r>
              <a:rPr lang="zh-CN" altLang="en-US" dirty="0"/>
              <a:t>行，对应</a:t>
            </a:r>
            <a:r>
              <a:rPr lang="en-US" altLang="zh-CN" dirty="0"/>
              <a:t>64</a:t>
            </a:r>
            <a:r>
              <a:rPr lang="zh-CN" altLang="en-US" dirty="0"/>
              <a:t>个</a:t>
            </a:r>
            <a:r>
              <a:rPr lang="en-US" altLang="zh-CN" dirty="0"/>
              <a:t>input channel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/>
              <a:t>Output.txt[</a:t>
            </a:r>
            <a:r>
              <a:rPr lang="en-US" altLang="zh-CN" dirty="0" err="1"/>
              <a:t>outch</a:t>
            </a:r>
            <a:r>
              <a:rPr lang="en-US" altLang="zh-CN" dirty="0"/>
              <a:t>, h, w]</a:t>
            </a:r>
            <a:r>
              <a:rPr lang="zh-CN" altLang="en-US" dirty="0"/>
              <a:t>，按照</a:t>
            </a:r>
            <a:r>
              <a:rPr lang="en-US" altLang="zh-CN" dirty="0"/>
              <a:t>w-h, </a:t>
            </a:r>
            <a:r>
              <a:rPr lang="en-US" altLang="zh-CN" dirty="0" err="1"/>
              <a:t>outch</a:t>
            </a:r>
            <a:r>
              <a:rPr lang="zh-CN" altLang="en-US" dirty="0"/>
              <a:t>的格式存储。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一共</a:t>
            </a:r>
            <a:r>
              <a:rPr lang="en-US" altLang="zh-CN" dirty="0"/>
              <a:t>128</a:t>
            </a:r>
            <a:r>
              <a:rPr lang="zh-CN" altLang="en-US" dirty="0"/>
              <a:t>行，对应</a:t>
            </a:r>
            <a:r>
              <a:rPr lang="en-US" altLang="zh-CN" dirty="0"/>
              <a:t>128</a:t>
            </a:r>
            <a:r>
              <a:rPr lang="zh-CN" altLang="en-US" dirty="0"/>
              <a:t>个</a:t>
            </a:r>
            <a:r>
              <a:rPr lang="en-US" altLang="zh-CN" dirty="0"/>
              <a:t>output channel</a:t>
            </a:r>
          </a:p>
          <a:p>
            <a:pPr>
              <a:lnSpc>
                <a:spcPct val="130000"/>
              </a:lnSpc>
            </a:pPr>
            <a:r>
              <a:rPr lang="en-US" altLang="zh-CN" dirty="0"/>
              <a:t>Activation_col.txt</a:t>
            </a:r>
            <a:r>
              <a:rPr lang="zh-CN" altLang="en-US" dirty="0"/>
              <a:t>，对</a:t>
            </a:r>
            <a:r>
              <a:rPr lang="en-US" altLang="zh-CN" dirty="0"/>
              <a:t>activation</a:t>
            </a:r>
            <a:r>
              <a:rPr lang="zh-CN" altLang="en-US" dirty="0"/>
              <a:t>进行</a:t>
            </a:r>
            <a:r>
              <a:rPr lang="en-US" altLang="zh-CN" dirty="0"/>
              <a:t>img2col</a:t>
            </a:r>
            <a:r>
              <a:rPr lang="zh-CN" altLang="en-US" dirty="0"/>
              <a:t>展开后的数据格式，为二维矩阵，大小为</a:t>
            </a:r>
            <a:r>
              <a:rPr lang="en-US" altLang="zh-CN" dirty="0"/>
              <a:t>[inch*k1*k2, h*w]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/>
              <a:t>Output_col.txt[</a:t>
            </a:r>
            <a:r>
              <a:rPr lang="en-US" altLang="zh-CN" dirty="0" err="1"/>
              <a:t>outch</a:t>
            </a:r>
            <a:r>
              <a:rPr lang="en-US" altLang="zh-CN" dirty="0"/>
              <a:t>, h*w]</a:t>
            </a:r>
            <a:r>
              <a:rPr lang="zh-CN" altLang="en-US" dirty="0"/>
              <a:t>，是</a:t>
            </a:r>
            <a:r>
              <a:rPr lang="en-US" altLang="zh-CN" dirty="0"/>
              <a:t>Weight</a:t>
            </a:r>
            <a:r>
              <a:rPr lang="zh-CN" altLang="en-US" dirty="0"/>
              <a:t>与</a:t>
            </a:r>
            <a:r>
              <a:rPr lang="en-US" altLang="zh-CN" dirty="0" err="1"/>
              <a:t>Activation_col</a:t>
            </a:r>
            <a:r>
              <a:rPr lang="zh-CN" altLang="en-US" dirty="0"/>
              <a:t>进行矩阵乘后的结果。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对</a:t>
            </a:r>
            <a:r>
              <a:rPr lang="en-US" altLang="zh-CN" dirty="0">
                <a:solidFill>
                  <a:srgbClr val="FF0000"/>
                </a:solidFill>
              </a:rPr>
              <a:t>Output</a:t>
            </a:r>
            <a:r>
              <a:rPr lang="zh-CN" altLang="en-US" dirty="0">
                <a:solidFill>
                  <a:srgbClr val="FF0000"/>
                </a:solidFill>
              </a:rPr>
              <a:t>的结果，可以自行按照</a:t>
            </a:r>
            <a:r>
              <a:rPr lang="en-US" altLang="zh-CN" dirty="0">
                <a:solidFill>
                  <a:srgbClr val="FF0000"/>
                </a:solidFill>
              </a:rPr>
              <a:t>lab2</a:t>
            </a:r>
            <a:r>
              <a:rPr lang="zh-CN" altLang="en-US" dirty="0">
                <a:solidFill>
                  <a:srgbClr val="FF0000"/>
                </a:solidFill>
              </a:rPr>
              <a:t>的方式转回</a:t>
            </a:r>
            <a:r>
              <a:rPr lang="en-US" altLang="zh-CN" dirty="0">
                <a:solidFill>
                  <a:srgbClr val="FF0000"/>
                </a:solidFill>
              </a:rPr>
              <a:t>8bit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dirty="0"/>
              <a:t>可以使用原始</a:t>
            </a:r>
            <a:r>
              <a:rPr lang="en-US" altLang="zh-CN" dirty="0"/>
              <a:t>weight</a:t>
            </a:r>
            <a:r>
              <a:rPr lang="zh-CN" altLang="en-US" dirty="0"/>
              <a:t>和</a:t>
            </a:r>
            <a:r>
              <a:rPr lang="en-US" altLang="zh-CN" dirty="0"/>
              <a:t>activation</a:t>
            </a:r>
            <a:r>
              <a:rPr lang="zh-CN" altLang="en-US" dirty="0"/>
              <a:t>数据进行卷积计算设计，也可以使用</a:t>
            </a:r>
            <a:r>
              <a:rPr lang="en-US" altLang="zh-CN" dirty="0"/>
              <a:t>weight</a:t>
            </a:r>
            <a:r>
              <a:rPr lang="zh-CN" altLang="en-US" dirty="0"/>
              <a:t>和</a:t>
            </a:r>
            <a:r>
              <a:rPr lang="en-US" altLang="zh-CN" dirty="0"/>
              <a:t>img2col</a:t>
            </a:r>
            <a:r>
              <a:rPr lang="zh-CN" altLang="en-US" dirty="0"/>
              <a:t>展开后的</a:t>
            </a:r>
            <a:r>
              <a:rPr lang="en-US" altLang="zh-CN" dirty="0" err="1"/>
              <a:t>activation_col</a:t>
            </a:r>
            <a:r>
              <a:rPr lang="zh-CN" altLang="en-US" dirty="0"/>
              <a:t>数据进行矩阵计算设计。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73014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</TotalTime>
  <Words>1023</Words>
  <Application>Microsoft Office PowerPoint</Application>
  <PresentationFormat>宽屏</PresentationFormat>
  <Paragraphs>69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主题</vt:lpstr>
      <vt:lpstr>Lab-3 阵列+存储器系统设计</vt:lpstr>
      <vt:lpstr>任务</vt:lpstr>
      <vt:lpstr>指标和评分标准</vt:lpstr>
      <vt:lpstr>指标和评分标准</vt:lpstr>
      <vt:lpstr>BRAM的生成与使用</vt:lpstr>
      <vt:lpstr>BRAM的生成与使用</vt:lpstr>
      <vt:lpstr>BRAM的生成与使用</vt:lpstr>
      <vt:lpstr>BRAM的生成与使用</vt:lpstr>
      <vt:lpstr>BRAM的operating mode</vt:lpstr>
      <vt:lpstr>BRAM的operating mode</vt:lpstr>
      <vt:lpstr>BRAM的生成与使用</vt:lpstr>
      <vt:lpstr>矩阵数据</vt:lpstr>
    </vt:vector>
  </TitlesOfParts>
  <Company>Public copy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Public copy</dc:creator>
  <cp:lastModifiedBy>Public copy</cp:lastModifiedBy>
  <cp:revision>507</cp:revision>
  <dcterms:created xsi:type="dcterms:W3CDTF">2022-12-03T02:07:06Z</dcterms:created>
  <dcterms:modified xsi:type="dcterms:W3CDTF">2026-05-23T13:30:11Z</dcterms:modified>
</cp:coreProperties>
</file>