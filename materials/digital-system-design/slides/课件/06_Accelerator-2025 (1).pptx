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autoCompressPictures="0">
  <p:sldMasterIdLst>
    <p:sldMasterId id="2147483648" r:id="rId1"/>
    <p:sldMasterId id="2147483675" r:id="rId2"/>
  </p:sldMasterIdLst>
  <p:notesMasterIdLst>
    <p:notesMasterId r:id="rId73"/>
  </p:notesMasterIdLst>
  <p:handoutMasterIdLst>
    <p:handoutMasterId r:id="rId74"/>
  </p:handoutMasterIdLst>
  <p:sldIdLst>
    <p:sldId id="273" r:id="rId3"/>
    <p:sldId id="412" r:id="rId4"/>
    <p:sldId id="413" r:id="rId5"/>
    <p:sldId id="414" r:id="rId6"/>
    <p:sldId id="415" r:id="rId7"/>
    <p:sldId id="416" r:id="rId8"/>
    <p:sldId id="417" r:id="rId9"/>
    <p:sldId id="418" r:id="rId10"/>
    <p:sldId id="294" r:id="rId11"/>
    <p:sldId id="419" r:id="rId12"/>
    <p:sldId id="420" r:id="rId13"/>
    <p:sldId id="421" r:id="rId14"/>
    <p:sldId id="422" r:id="rId15"/>
    <p:sldId id="423" r:id="rId16"/>
    <p:sldId id="278" r:id="rId17"/>
    <p:sldId id="365" r:id="rId18"/>
    <p:sldId id="366" r:id="rId19"/>
    <p:sldId id="367" r:id="rId20"/>
    <p:sldId id="368" r:id="rId21"/>
    <p:sldId id="371" r:id="rId22"/>
    <p:sldId id="372" r:id="rId23"/>
    <p:sldId id="373" r:id="rId24"/>
    <p:sldId id="374" r:id="rId25"/>
    <p:sldId id="378" r:id="rId26"/>
    <p:sldId id="406" r:id="rId27"/>
    <p:sldId id="375" r:id="rId28"/>
    <p:sldId id="376" r:id="rId29"/>
    <p:sldId id="433" r:id="rId30"/>
    <p:sldId id="434" r:id="rId31"/>
    <p:sldId id="407" r:id="rId32"/>
    <p:sldId id="377" r:id="rId33"/>
    <p:sldId id="379" r:id="rId34"/>
    <p:sldId id="380" r:id="rId35"/>
    <p:sldId id="408" r:id="rId36"/>
    <p:sldId id="381" r:id="rId37"/>
    <p:sldId id="382" r:id="rId38"/>
    <p:sldId id="383" r:id="rId39"/>
    <p:sldId id="384" r:id="rId40"/>
    <p:sldId id="385" r:id="rId41"/>
    <p:sldId id="424" r:id="rId42"/>
    <p:sldId id="386" r:id="rId43"/>
    <p:sldId id="387" r:id="rId44"/>
    <p:sldId id="388" r:id="rId45"/>
    <p:sldId id="409" r:id="rId46"/>
    <p:sldId id="389" r:id="rId47"/>
    <p:sldId id="390" r:id="rId48"/>
    <p:sldId id="391" r:id="rId49"/>
    <p:sldId id="392" r:id="rId50"/>
    <p:sldId id="410" r:id="rId51"/>
    <p:sldId id="393" r:id="rId52"/>
    <p:sldId id="432" r:id="rId53"/>
    <p:sldId id="394" r:id="rId54"/>
    <p:sldId id="395" r:id="rId55"/>
    <p:sldId id="396" r:id="rId56"/>
    <p:sldId id="397" r:id="rId57"/>
    <p:sldId id="411" r:id="rId58"/>
    <p:sldId id="399" r:id="rId59"/>
    <p:sldId id="400" r:id="rId60"/>
    <p:sldId id="401" r:id="rId61"/>
    <p:sldId id="402" r:id="rId62"/>
    <p:sldId id="403" r:id="rId63"/>
    <p:sldId id="404" r:id="rId64"/>
    <p:sldId id="405" r:id="rId65"/>
    <p:sldId id="398" r:id="rId66"/>
    <p:sldId id="426" r:id="rId67"/>
    <p:sldId id="427" r:id="rId68"/>
    <p:sldId id="428" r:id="rId69"/>
    <p:sldId id="429" r:id="rId70"/>
    <p:sldId id="430" r:id="rId71"/>
    <p:sldId id="431" r:id="rId72"/>
  </p:sldIdLst>
  <p:sldSz cx="9144000" cy="5143500" type="screen16x9"/>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orient="horz" pos="1588">
          <p15:clr>
            <a:srgbClr val="A4A3A4"/>
          </p15:clr>
        </p15:guide>
        <p15:guide id="3" pos="117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90FF"/>
    <a:srgbClr val="0000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59" autoAdjust="0"/>
    <p:restoredTop sz="83073" autoAdjust="0"/>
  </p:normalViewPr>
  <p:slideViewPr>
    <p:cSldViewPr snapToObjects="1" showGuides="1">
      <p:cViewPr varScale="1">
        <p:scale>
          <a:sx n="147" d="100"/>
          <a:sy n="147" d="100"/>
        </p:scale>
        <p:origin x="977" y="75"/>
      </p:cViewPr>
      <p:guideLst>
        <p:guide orient="horz"/>
        <p:guide orient="horz" pos="1588"/>
        <p:guide pos="1173"/>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12EA463-4263-314D-AAFB-BCFCA0D0C697}" type="datetimeFigureOut">
              <a:rPr kumimoji="1" lang="zh-CN" altLang="en-US" smtClean="0"/>
              <a:t>2025/3/25</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6A6886-E090-8745-9C15-5C513B3AC9F5}" type="slidenum">
              <a:rPr kumimoji="1" lang="zh-CN" altLang="en-US" smtClean="0"/>
              <a:t>‹#›</a:t>
            </a:fld>
            <a:endParaRPr kumimoji="1" lang="zh-CN" altLang="en-US"/>
          </a:p>
        </p:txBody>
      </p:sp>
    </p:spTree>
    <p:extLst>
      <p:ext uri="{BB962C8B-B14F-4D97-AF65-F5344CB8AC3E}">
        <p14:creationId xmlns:p14="http://schemas.microsoft.com/office/powerpoint/2010/main" val="21131807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46038D-CAD5-8642-8389-D91E6B17B86B}" type="datetimeFigureOut">
              <a:rPr kumimoji="1" lang="zh-CN" altLang="en-US" smtClean="0"/>
              <a:t>2025/3/25</a:t>
            </a:fld>
            <a:endParaRPr kumimoji="1"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C9C77A-E5B4-C34A-B2D1-C11DEEC84AD6}" type="slidenum">
              <a:rPr kumimoji="1" lang="zh-CN" altLang="en-US" smtClean="0"/>
              <a:t>‹#›</a:t>
            </a:fld>
            <a:endParaRPr kumimoji="1" lang="zh-CN" altLang="en-US"/>
          </a:p>
        </p:txBody>
      </p:sp>
    </p:spTree>
    <p:extLst>
      <p:ext uri="{BB962C8B-B14F-4D97-AF65-F5344CB8AC3E}">
        <p14:creationId xmlns:p14="http://schemas.microsoft.com/office/powerpoint/2010/main" val="59370774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C9C77A-E5B4-C34A-B2D1-C11DEEC84AD6}" type="slidenum">
              <a:rPr kumimoji="1" lang="zh-CN" altLang="en-US" smtClean="0"/>
              <a:t>0</a:t>
            </a:fld>
            <a:endParaRPr kumimoji="1" lang="zh-CN" altLang="en-US"/>
          </a:p>
        </p:txBody>
      </p:sp>
    </p:spTree>
    <p:extLst>
      <p:ext uri="{BB962C8B-B14F-4D97-AF65-F5344CB8AC3E}">
        <p14:creationId xmlns:p14="http://schemas.microsoft.com/office/powerpoint/2010/main" val="2615868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BC9C77A-E5B4-C34A-B2D1-C11DEEC84AD6}" type="slidenum">
              <a:rPr kumimoji="1" lang="zh-CN" altLang="en-US" smtClean="0"/>
              <a:t>1</a:t>
            </a:fld>
            <a:endParaRPr kumimoji="1" lang="zh-CN" altLang="en-US"/>
          </a:p>
        </p:txBody>
      </p:sp>
    </p:spTree>
    <p:extLst>
      <p:ext uri="{BB962C8B-B14F-4D97-AF65-F5344CB8AC3E}">
        <p14:creationId xmlns:p14="http://schemas.microsoft.com/office/powerpoint/2010/main" val="109264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C9C77A-E5B4-C34A-B2D1-C11DEEC84AD6}" type="slidenum">
              <a:rPr kumimoji="1" lang="zh-CN" altLang="en-US" smtClean="0"/>
              <a:t>2</a:t>
            </a:fld>
            <a:endParaRPr kumimoji="1" lang="zh-CN" altLang="en-US"/>
          </a:p>
        </p:txBody>
      </p:sp>
    </p:spTree>
    <p:extLst>
      <p:ext uri="{BB962C8B-B14F-4D97-AF65-F5344CB8AC3E}">
        <p14:creationId xmlns:p14="http://schemas.microsoft.com/office/powerpoint/2010/main" val="330271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C9C77A-E5B4-C34A-B2D1-C11DEEC84AD6}" type="slidenum">
              <a:rPr kumimoji="1" lang="zh-CN" altLang="en-US" smtClean="0"/>
              <a:t>3</a:t>
            </a:fld>
            <a:endParaRPr kumimoji="1" lang="zh-CN" altLang="en-US"/>
          </a:p>
        </p:txBody>
      </p:sp>
    </p:spTree>
    <p:extLst>
      <p:ext uri="{BB962C8B-B14F-4D97-AF65-F5344CB8AC3E}">
        <p14:creationId xmlns:p14="http://schemas.microsoft.com/office/powerpoint/2010/main" val="1431138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C9C77A-E5B4-C34A-B2D1-C11DEEC84AD6}" type="slidenum">
              <a:rPr kumimoji="1" lang="zh-CN" altLang="en-US" smtClean="0"/>
              <a:t>9</a:t>
            </a:fld>
            <a:endParaRPr kumimoji="1" lang="zh-CN" altLang="en-US"/>
          </a:p>
        </p:txBody>
      </p:sp>
    </p:spTree>
    <p:extLst>
      <p:ext uri="{BB962C8B-B14F-4D97-AF65-F5344CB8AC3E}">
        <p14:creationId xmlns:p14="http://schemas.microsoft.com/office/powerpoint/2010/main" val="2648414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C9C77A-E5B4-C34A-B2D1-C11DEEC84AD6}" type="slidenum">
              <a:rPr kumimoji="1" lang="zh-CN" altLang="en-US" smtClean="0"/>
              <a:t>13</a:t>
            </a:fld>
            <a:endParaRPr kumimoji="1" lang="zh-CN" altLang="en-US"/>
          </a:p>
        </p:txBody>
      </p:sp>
    </p:spTree>
    <p:extLst>
      <p:ext uri="{BB962C8B-B14F-4D97-AF65-F5344CB8AC3E}">
        <p14:creationId xmlns:p14="http://schemas.microsoft.com/office/powerpoint/2010/main" val="2956248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再解释一遍</a:t>
            </a:r>
            <a:r>
              <a:rPr lang="en-US" altLang="zh-CN" dirty="0"/>
              <a:t>OS</a:t>
            </a:r>
            <a:r>
              <a:rPr lang="zh-CN" altLang="en-US" dirty="0"/>
              <a:t>和</a:t>
            </a:r>
            <a:r>
              <a:rPr lang="en-US" altLang="zh-CN" dirty="0"/>
              <a:t>WS</a:t>
            </a:r>
            <a:r>
              <a:rPr lang="zh-CN" altLang="en-US" dirty="0"/>
              <a:t>的问题，什么时候应该用</a:t>
            </a:r>
            <a:r>
              <a:rPr lang="en-US" altLang="zh-CN" dirty="0"/>
              <a:t>OS</a:t>
            </a:r>
            <a:r>
              <a:rPr lang="zh-CN" altLang="en-US" dirty="0"/>
              <a:t>，什么时候应该用</a:t>
            </a:r>
            <a:r>
              <a:rPr lang="en-US" altLang="zh-CN" dirty="0"/>
              <a:t>WS</a:t>
            </a:r>
            <a:r>
              <a:rPr lang="zh-CN" altLang="en-US" dirty="0"/>
              <a:t>？</a:t>
            </a:r>
            <a:endParaRPr lang="en-US" altLang="zh-CN" dirty="0"/>
          </a:p>
          <a:p>
            <a:endParaRPr lang="en-US" altLang="zh-CN" dirty="0"/>
          </a:p>
          <a:p>
            <a:r>
              <a:rPr lang="zh-CN" altLang="en-US" dirty="0"/>
              <a:t>那些加速器是用</a:t>
            </a:r>
            <a:r>
              <a:rPr lang="en-US" altLang="zh-CN" dirty="0"/>
              <a:t>OS</a:t>
            </a:r>
            <a:r>
              <a:rPr lang="zh-CN" altLang="en-US" dirty="0"/>
              <a:t>的？那些加速器使用</a:t>
            </a:r>
            <a:r>
              <a:rPr lang="en-US" altLang="zh-CN" dirty="0"/>
              <a:t>WS</a:t>
            </a:r>
            <a:r>
              <a:rPr lang="zh-CN" altLang="en-US" dirty="0"/>
              <a:t>的？</a:t>
            </a:r>
            <a:r>
              <a:rPr lang="en-US" altLang="zh-CN" dirty="0"/>
              <a:t>Output</a:t>
            </a:r>
            <a:r>
              <a:rPr lang="zh-CN" altLang="en-US" dirty="0"/>
              <a:t>的位数一般比</a:t>
            </a:r>
            <a:r>
              <a:rPr lang="en-US" altLang="zh-CN" dirty="0"/>
              <a:t>Weight</a:t>
            </a:r>
            <a:r>
              <a:rPr lang="zh-CN" altLang="en-US" dirty="0"/>
              <a:t>和</a:t>
            </a:r>
            <a:r>
              <a:rPr lang="en-US" altLang="zh-CN" dirty="0"/>
              <a:t>Activation</a:t>
            </a:r>
            <a:r>
              <a:rPr lang="zh-CN" altLang="en-US" dirty="0"/>
              <a:t>的大。</a:t>
            </a:r>
            <a:endParaRPr lang="en-US" altLang="zh-CN" dirty="0"/>
          </a:p>
          <a:p>
            <a:endParaRPr lang="en-US" altLang="zh-CN" dirty="0"/>
          </a:p>
          <a:p>
            <a:r>
              <a:rPr lang="zh-CN" altLang="en-US" dirty="0"/>
              <a:t>应该如何选用</a:t>
            </a:r>
            <a:r>
              <a:rPr lang="en-US" altLang="zh-CN" dirty="0"/>
              <a:t>OS</a:t>
            </a:r>
            <a:r>
              <a:rPr lang="zh-CN" altLang="en-US" dirty="0"/>
              <a:t>和</a:t>
            </a:r>
            <a:r>
              <a:rPr lang="en-US" altLang="zh-CN" dirty="0"/>
              <a:t>WS</a:t>
            </a:r>
            <a:r>
              <a:rPr lang="zh-CN" altLang="en-US" dirty="0"/>
              <a:t>是一个空间优化问题，这个之后在讲（</a:t>
            </a:r>
            <a:r>
              <a:rPr lang="en-US" altLang="zh-CN" dirty="0"/>
              <a:t>mapping</a:t>
            </a:r>
            <a:r>
              <a:rPr lang="zh-CN" altLang="en-US" dirty="0"/>
              <a:t>的时候）。</a:t>
            </a:r>
            <a:endParaRPr lang="en-US" altLang="zh-CN" dirty="0"/>
          </a:p>
        </p:txBody>
      </p:sp>
      <p:sp>
        <p:nvSpPr>
          <p:cNvPr id="4" name="灯片编号占位符 3"/>
          <p:cNvSpPr>
            <a:spLocks noGrp="1"/>
          </p:cNvSpPr>
          <p:nvPr>
            <p:ph type="sldNum" sz="quarter" idx="5"/>
          </p:nvPr>
        </p:nvSpPr>
        <p:spPr/>
        <p:txBody>
          <a:bodyPr/>
          <a:lstStyle/>
          <a:p>
            <a:fld id="{FBC9C77A-E5B4-C34A-B2D1-C11DEEC84AD6}" type="slidenum">
              <a:rPr kumimoji="1" lang="zh-CN" altLang="en-US" smtClean="0"/>
              <a:t>15</a:t>
            </a:fld>
            <a:endParaRPr kumimoji="1" lang="zh-CN" altLang="en-US"/>
          </a:p>
        </p:txBody>
      </p:sp>
    </p:spTree>
    <p:extLst>
      <p:ext uri="{BB962C8B-B14F-4D97-AF65-F5344CB8AC3E}">
        <p14:creationId xmlns:p14="http://schemas.microsoft.com/office/powerpoint/2010/main" val="1100085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C9C77A-E5B4-C34A-B2D1-C11DEEC84AD6}" type="slidenum">
              <a:rPr kumimoji="1" lang="zh-CN" altLang="en-US" smtClean="0"/>
              <a:t>17</a:t>
            </a:fld>
            <a:endParaRPr kumimoji="1" lang="zh-CN" altLang="en-US"/>
          </a:p>
        </p:txBody>
      </p:sp>
    </p:spTree>
    <p:extLst>
      <p:ext uri="{BB962C8B-B14F-4D97-AF65-F5344CB8AC3E}">
        <p14:creationId xmlns:p14="http://schemas.microsoft.com/office/powerpoint/2010/main" val="11045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FBC9C77A-E5B4-C34A-B2D1-C11DEEC84AD6}" type="slidenum">
              <a:rPr kumimoji="1" lang="zh-CN" altLang="en-US" smtClean="0"/>
              <a:t>18</a:t>
            </a:fld>
            <a:endParaRPr kumimoji="1" lang="zh-CN" altLang="en-US"/>
          </a:p>
        </p:txBody>
      </p:sp>
    </p:spTree>
    <p:extLst>
      <p:ext uri="{BB962C8B-B14F-4D97-AF65-F5344CB8AC3E}">
        <p14:creationId xmlns:p14="http://schemas.microsoft.com/office/powerpoint/2010/main" val="18877184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20</a:t>
            </a:fld>
            <a:endParaRPr kumimoji="1" lang="zh-CN" altLang="en-US"/>
          </a:p>
        </p:txBody>
      </p:sp>
    </p:spTree>
    <p:extLst>
      <p:ext uri="{BB962C8B-B14F-4D97-AF65-F5344CB8AC3E}">
        <p14:creationId xmlns:p14="http://schemas.microsoft.com/office/powerpoint/2010/main" val="2214253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21</a:t>
            </a:fld>
            <a:endParaRPr kumimoji="1" lang="zh-CN" altLang="en-US"/>
          </a:p>
        </p:txBody>
      </p:sp>
    </p:spTree>
    <p:extLst>
      <p:ext uri="{BB962C8B-B14F-4D97-AF65-F5344CB8AC3E}">
        <p14:creationId xmlns:p14="http://schemas.microsoft.com/office/powerpoint/2010/main" val="1318355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22</a:t>
            </a:fld>
            <a:endParaRPr kumimoji="1" lang="zh-CN" altLang="en-US"/>
          </a:p>
        </p:txBody>
      </p:sp>
    </p:spTree>
    <p:extLst>
      <p:ext uri="{BB962C8B-B14F-4D97-AF65-F5344CB8AC3E}">
        <p14:creationId xmlns:p14="http://schemas.microsoft.com/office/powerpoint/2010/main" val="4166683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23</a:t>
            </a:fld>
            <a:endParaRPr kumimoji="1" lang="zh-CN" altLang="en-US"/>
          </a:p>
        </p:txBody>
      </p:sp>
    </p:spTree>
    <p:extLst>
      <p:ext uri="{BB962C8B-B14F-4D97-AF65-F5344CB8AC3E}">
        <p14:creationId xmlns:p14="http://schemas.microsoft.com/office/powerpoint/2010/main" val="1108362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CPU</a:t>
            </a:r>
            <a:r>
              <a:rPr lang="zh-CN" altLang="en-US" dirty="0"/>
              <a:t>使用了大量的操作来进行</a:t>
            </a:r>
            <a:r>
              <a:rPr lang="en-US" altLang="zh-CN" dirty="0"/>
              <a:t>Indexing</a:t>
            </a:r>
            <a:r>
              <a:rPr lang="zh-CN" altLang="en-US" dirty="0"/>
              <a:t>的控制。</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25</a:t>
            </a:fld>
            <a:endParaRPr kumimoji="1" lang="zh-CN" altLang="en-US"/>
          </a:p>
        </p:txBody>
      </p:sp>
    </p:spTree>
    <p:extLst>
      <p:ext uri="{BB962C8B-B14F-4D97-AF65-F5344CB8AC3E}">
        <p14:creationId xmlns:p14="http://schemas.microsoft.com/office/powerpoint/2010/main" val="35814524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26</a:t>
            </a:fld>
            <a:endParaRPr kumimoji="1" lang="zh-CN" altLang="en-US"/>
          </a:p>
        </p:txBody>
      </p:sp>
    </p:spTree>
    <p:extLst>
      <p:ext uri="{BB962C8B-B14F-4D97-AF65-F5344CB8AC3E}">
        <p14:creationId xmlns:p14="http://schemas.microsoft.com/office/powerpoint/2010/main" val="3610597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27</a:t>
            </a:fld>
            <a:endParaRPr kumimoji="1" lang="zh-CN" altLang="en-US"/>
          </a:p>
        </p:txBody>
      </p:sp>
    </p:spTree>
    <p:extLst>
      <p:ext uri="{BB962C8B-B14F-4D97-AF65-F5344CB8AC3E}">
        <p14:creationId xmlns:p14="http://schemas.microsoft.com/office/powerpoint/2010/main" val="2131011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28</a:t>
            </a:fld>
            <a:endParaRPr kumimoji="1" lang="zh-CN" altLang="en-US"/>
          </a:p>
        </p:txBody>
      </p:sp>
    </p:spTree>
    <p:extLst>
      <p:ext uri="{BB962C8B-B14F-4D97-AF65-F5344CB8AC3E}">
        <p14:creationId xmlns:p14="http://schemas.microsoft.com/office/powerpoint/2010/main" val="3034313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30</a:t>
            </a:fld>
            <a:endParaRPr kumimoji="1" lang="zh-CN" altLang="en-US"/>
          </a:p>
        </p:txBody>
      </p:sp>
    </p:spTree>
    <p:extLst>
      <p:ext uri="{BB962C8B-B14F-4D97-AF65-F5344CB8AC3E}">
        <p14:creationId xmlns:p14="http://schemas.microsoft.com/office/powerpoint/2010/main" val="2393612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31</a:t>
            </a:fld>
            <a:endParaRPr kumimoji="1" lang="zh-CN" altLang="en-US"/>
          </a:p>
        </p:txBody>
      </p:sp>
    </p:spTree>
    <p:extLst>
      <p:ext uri="{BB962C8B-B14F-4D97-AF65-F5344CB8AC3E}">
        <p14:creationId xmlns:p14="http://schemas.microsoft.com/office/powerpoint/2010/main" val="2879041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32</a:t>
            </a:fld>
            <a:endParaRPr kumimoji="1" lang="zh-CN" altLang="en-US"/>
          </a:p>
        </p:txBody>
      </p:sp>
    </p:spTree>
    <p:extLst>
      <p:ext uri="{BB962C8B-B14F-4D97-AF65-F5344CB8AC3E}">
        <p14:creationId xmlns:p14="http://schemas.microsoft.com/office/powerpoint/2010/main" val="1874557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34</a:t>
            </a:fld>
            <a:endParaRPr kumimoji="1" lang="zh-CN" altLang="en-US"/>
          </a:p>
        </p:txBody>
      </p:sp>
    </p:spTree>
    <p:extLst>
      <p:ext uri="{BB962C8B-B14F-4D97-AF65-F5344CB8AC3E}">
        <p14:creationId xmlns:p14="http://schemas.microsoft.com/office/powerpoint/2010/main" val="23111944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35</a:t>
            </a:fld>
            <a:endParaRPr kumimoji="1" lang="zh-CN" altLang="en-US"/>
          </a:p>
        </p:txBody>
      </p:sp>
    </p:spTree>
    <p:extLst>
      <p:ext uri="{BB962C8B-B14F-4D97-AF65-F5344CB8AC3E}">
        <p14:creationId xmlns:p14="http://schemas.microsoft.com/office/powerpoint/2010/main" val="22481108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36</a:t>
            </a:fld>
            <a:endParaRPr kumimoji="1" lang="zh-CN" altLang="en-US"/>
          </a:p>
        </p:txBody>
      </p:sp>
    </p:spTree>
    <p:extLst>
      <p:ext uri="{BB962C8B-B14F-4D97-AF65-F5344CB8AC3E}">
        <p14:creationId xmlns:p14="http://schemas.microsoft.com/office/powerpoint/2010/main" val="11184915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37</a:t>
            </a:fld>
            <a:endParaRPr kumimoji="1" lang="zh-CN" altLang="en-US"/>
          </a:p>
        </p:txBody>
      </p:sp>
    </p:spTree>
    <p:extLst>
      <p:ext uri="{BB962C8B-B14F-4D97-AF65-F5344CB8AC3E}">
        <p14:creationId xmlns:p14="http://schemas.microsoft.com/office/powerpoint/2010/main" val="15887450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38</a:t>
            </a:fld>
            <a:endParaRPr kumimoji="1" lang="zh-CN" altLang="en-US"/>
          </a:p>
        </p:txBody>
      </p:sp>
    </p:spTree>
    <p:extLst>
      <p:ext uri="{BB962C8B-B14F-4D97-AF65-F5344CB8AC3E}">
        <p14:creationId xmlns:p14="http://schemas.microsoft.com/office/powerpoint/2010/main" val="141561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39</a:t>
            </a:fld>
            <a:endParaRPr kumimoji="1" lang="zh-CN" altLang="en-US"/>
          </a:p>
        </p:txBody>
      </p:sp>
    </p:spTree>
    <p:extLst>
      <p:ext uri="{BB962C8B-B14F-4D97-AF65-F5344CB8AC3E}">
        <p14:creationId xmlns:p14="http://schemas.microsoft.com/office/powerpoint/2010/main" val="5104066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40</a:t>
            </a:fld>
            <a:endParaRPr kumimoji="1" lang="zh-CN" altLang="en-US"/>
          </a:p>
        </p:txBody>
      </p:sp>
    </p:spTree>
    <p:extLst>
      <p:ext uri="{BB962C8B-B14F-4D97-AF65-F5344CB8AC3E}">
        <p14:creationId xmlns:p14="http://schemas.microsoft.com/office/powerpoint/2010/main" val="14594423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41</a:t>
            </a:fld>
            <a:endParaRPr kumimoji="1" lang="zh-CN" altLang="en-US"/>
          </a:p>
        </p:txBody>
      </p:sp>
    </p:spTree>
    <p:extLst>
      <p:ext uri="{BB962C8B-B14F-4D97-AF65-F5344CB8AC3E}">
        <p14:creationId xmlns:p14="http://schemas.microsoft.com/office/powerpoint/2010/main" val="40705175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42</a:t>
            </a:fld>
            <a:endParaRPr kumimoji="1" lang="zh-CN" altLang="en-US"/>
          </a:p>
        </p:txBody>
      </p:sp>
    </p:spTree>
    <p:extLst>
      <p:ext uri="{BB962C8B-B14F-4D97-AF65-F5344CB8AC3E}">
        <p14:creationId xmlns:p14="http://schemas.microsoft.com/office/powerpoint/2010/main" val="16881266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44</a:t>
            </a:fld>
            <a:endParaRPr kumimoji="1" lang="zh-CN" altLang="en-US"/>
          </a:p>
        </p:txBody>
      </p:sp>
    </p:spTree>
    <p:extLst>
      <p:ext uri="{BB962C8B-B14F-4D97-AF65-F5344CB8AC3E}">
        <p14:creationId xmlns:p14="http://schemas.microsoft.com/office/powerpoint/2010/main" val="16293743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45</a:t>
            </a:fld>
            <a:endParaRPr kumimoji="1" lang="zh-CN" altLang="en-US"/>
          </a:p>
        </p:txBody>
      </p:sp>
    </p:spTree>
    <p:extLst>
      <p:ext uri="{BB962C8B-B14F-4D97-AF65-F5344CB8AC3E}">
        <p14:creationId xmlns:p14="http://schemas.microsoft.com/office/powerpoint/2010/main" val="37975859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46</a:t>
            </a:fld>
            <a:endParaRPr kumimoji="1" lang="zh-CN" altLang="en-US"/>
          </a:p>
        </p:txBody>
      </p:sp>
    </p:spTree>
    <p:extLst>
      <p:ext uri="{BB962C8B-B14F-4D97-AF65-F5344CB8AC3E}">
        <p14:creationId xmlns:p14="http://schemas.microsoft.com/office/powerpoint/2010/main" val="22249015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47</a:t>
            </a:fld>
            <a:endParaRPr kumimoji="1" lang="zh-CN" altLang="en-US"/>
          </a:p>
        </p:txBody>
      </p:sp>
    </p:spTree>
    <p:extLst>
      <p:ext uri="{BB962C8B-B14F-4D97-AF65-F5344CB8AC3E}">
        <p14:creationId xmlns:p14="http://schemas.microsoft.com/office/powerpoint/2010/main" val="32941322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49</a:t>
            </a:fld>
            <a:endParaRPr kumimoji="1" lang="zh-CN" altLang="en-US"/>
          </a:p>
        </p:txBody>
      </p:sp>
    </p:spTree>
    <p:extLst>
      <p:ext uri="{BB962C8B-B14F-4D97-AF65-F5344CB8AC3E}">
        <p14:creationId xmlns:p14="http://schemas.microsoft.com/office/powerpoint/2010/main" val="3342027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50</a:t>
            </a:fld>
            <a:endParaRPr kumimoji="1" lang="zh-CN" altLang="en-US"/>
          </a:p>
        </p:txBody>
      </p:sp>
    </p:spTree>
    <p:extLst>
      <p:ext uri="{BB962C8B-B14F-4D97-AF65-F5344CB8AC3E}">
        <p14:creationId xmlns:p14="http://schemas.microsoft.com/office/powerpoint/2010/main" val="8323948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51</a:t>
            </a:fld>
            <a:endParaRPr kumimoji="1" lang="zh-CN" altLang="en-US"/>
          </a:p>
        </p:txBody>
      </p:sp>
    </p:spTree>
    <p:extLst>
      <p:ext uri="{BB962C8B-B14F-4D97-AF65-F5344CB8AC3E}">
        <p14:creationId xmlns:p14="http://schemas.microsoft.com/office/powerpoint/2010/main" val="[student ID removed]"/>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52</a:t>
            </a:fld>
            <a:endParaRPr kumimoji="1" lang="zh-CN" altLang="en-US"/>
          </a:p>
        </p:txBody>
      </p:sp>
    </p:spTree>
    <p:extLst>
      <p:ext uri="{BB962C8B-B14F-4D97-AF65-F5344CB8AC3E}">
        <p14:creationId xmlns:p14="http://schemas.microsoft.com/office/powerpoint/2010/main" val="27948370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53</a:t>
            </a:fld>
            <a:endParaRPr kumimoji="1" lang="zh-CN" altLang="en-US"/>
          </a:p>
        </p:txBody>
      </p:sp>
    </p:spTree>
    <p:extLst>
      <p:ext uri="{BB962C8B-B14F-4D97-AF65-F5344CB8AC3E}">
        <p14:creationId xmlns:p14="http://schemas.microsoft.com/office/powerpoint/2010/main" val="12400716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脉动阵列的特性决定数据必须按照事先排列好的顺序依次进人，所以每次要填满 整个阵列就需要一定的启动时间，</a:t>
            </a:r>
            <a:endParaRPr lang="en-US" altLang="zh-CN" dirty="0"/>
          </a:p>
          <a:p>
            <a:r>
              <a:rPr lang="zh-CN" altLang="en-US" dirty="0"/>
              <a:t>而这段时间往往会造成硬件资源的浪费。启动时间 通常可以通过脉动阵列的“行数</a:t>
            </a:r>
            <a:r>
              <a:rPr lang="en-US" altLang="zh-CN" dirty="0"/>
              <a:t>+</a:t>
            </a:r>
            <a:r>
              <a:rPr lang="zh-CN" altLang="en-US" dirty="0"/>
              <a:t>列数一</a:t>
            </a:r>
            <a:r>
              <a:rPr lang="en-US" altLang="zh-CN" dirty="0"/>
              <a:t>1”</a:t>
            </a:r>
            <a:r>
              <a:rPr lang="zh-CN" altLang="en-US" dirty="0"/>
              <a:t>计算得到。</a:t>
            </a:r>
            <a:endParaRPr lang="en-US" altLang="zh-CN" dirty="0"/>
          </a:p>
          <a:p>
            <a:r>
              <a:rPr lang="zh-CN" altLang="en-US" dirty="0"/>
              <a:t>当度过启动时间后，整个脉动 阵列进入满载状态，可以发挥出最大的吞吐率。</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54</a:t>
            </a:fld>
            <a:endParaRPr kumimoji="1" lang="zh-CN" altLang="en-US"/>
          </a:p>
        </p:txBody>
      </p:sp>
    </p:spTree>
    <p:extLst>
      <p:ext uri="{BB962C8B-B14F-4D97-AF65-F5344CB8AC3E}">
        <p14:creationId xmlns:p14="http://schemas.microsoft.com/office/powerpoint/2010/main" val="14643364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56</a:t>
            </a:fld>
            <a:endParaRPr kumimoji="1" lang="zh-CN" altLang="en-US"/>
          </a:p>
        </p:txBody>
      </p:sp>
    </p:spTree>
    <p:extLst>
      <p:ext uri="{BB962C8B-B14F-4D97-AF65-F5344CB8AC3E}">
        <p14:creationId xmlns:p14="http://schemas.microsoft.com/office/powerpoint/2010/main" val="21480714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57</a:t>
            </a:fld>
            <a:endParaRPr kumimoji="1" lang="zh-CN" altLang="en-US"/>
          </a:p>
        </p:txBody>
      </p:sp>
    </p:spTree>
    <p:extLst>
      <p:ext uri="{BB962C8B-B14F-4D97-AF65-F5344CB8AC3E}">
        <p14:creationId xmlns:p14="http://schemas.microsoft.com/office/powerpoint/2010/main" val="18910927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58</a:t>
            </a:fld>
            <a:endParaRPr kumimoji="1" lang="zh-CN" altLang="en-US"/>
          </a:p>
        </p:txBody>
      </p:sp>
    </p:spTree>
    <p:extLst>
      <p:ext uri="{BB962C8B-B14F-4D97-AF65-F5344CB8AC3E}">
        <p14:creationId xmlns:p14="http://schemas.microsoft.com/office/powerpoint/2010/main" val="40834953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59</a:t>
            </a:fld>
            <a:endParaRPr kumimoji="1" lang="zh-CN" altLang="en-US"/>
          </a:p>
        </p:txBody>
      </p:sp>
    </p:spTree>
    <p:extLst>
      <p:ext uri="{BB962C8B-B14F-4D97-AF65-F5344CB8AC3E}">
        <p14:creationId xmlns:p14="http://schemas.microsoft.com/office/powerpoint/2010/main" val="3710746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60</a:t>
            </a:fld>
            <a:endParaRPr kumimoji="1" lang="zh-CN" altLang="en-US"/>
          </a:p>
        </p:txBody>
      </p:sp>
    </p:spTree>
    <p:extLst>
      <p:ext uri="{BB962C8B-B14F-4D97-AF65-F5344CB8AC3E}">
        <p14:creationId xmlns:p14="http://schemas.microsoft.com/office/powerpoint/2010/main" val="19136802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61</a:t>
            </a:fld>
            <a:endParaRPr kumimoji="1" lang="zh-CN" altLang="en-US"/>
          </a:p>
        </p:txBody>
      </p:sp>
    </p:spTree>
    <p:extLst>
      <p:ext uri="{BB962C8B-B14F-4D97-AF65-F5344CB8AC3E}">
        <p14:creationId xmlns:p14="http://schemas.microsoft.com/office/powerpoint/2010/main" val="33649470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17</a:t>
            </a:r>
            <a:r>
              <a:rPr lang="zh-CN" altLang="en-US" dirty="0"/>
              <a:t>：如果权重需要使用多次就固定到缓冲区中，从</a:t>
            </a:r>
            <a:r>
              <a:rPr lang="en-US" altLang="zh-CN" dirty="0"/>
              <a:t>18</a:t>
            </a:r>
            <a:r>
              <a:rPr lang="zh-CN" altLang="en-US" dirty="0"/>
              <a:t>直接输入</a:t>
            </a:r>
            <a:endParaRPr lang="en-US" altLang="zh-CN" dirty="0"/>
          </a:p>
          <a:p>
            <a:r>
              <a:rPr lang="en-US" altLang="zh-CN" dirty="0"/>
              <a:t>4.</a:t>
            </a:r>
            <a:r>
              <a:rPr lang="zh-CN" altLang="en-US" dirty="0"/>
              <a:t>：偏置值，</a:t>
            </a:r>
            <a:r>
              <a:rPr lang="en-US" altLang="zh-CN" dirty="0"/>
              <a:t>6</a:t>
            </a:r>
            <a:r>
              <a:rPr lang="zh-CN" altLang="en-US" dirty="0"/>
              <a:t>由存储转换单元将偏置数据从原始的向量格式重组成矩阵，</a:t>
            </a:r>
            <a:r>
              <a:rPr lang="en-US" altLang="zh-CN" dirty="0"/>
              <a:t>7</a:t>
            </a:r>
            <a:r>
              <a:rPr lang="zh-CN" altLang="en-US" dirty="0"/>
              <a:t>转存入输出缓冲区中，</a:t>
            </a:r>
            <a:r>
              <a:rPr lang="en-US" altLang="zh-CN" dirty="0"/>
              <a:t>9</a:t>
            </a:r>
            <a:r>
              <a:rPr lang="zh-CN" altLang="en-US" dirty="0"/>
              <a:t>存入累加寄存器</a:t>
            </a:r>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62</a:t>
            </a:fld>
            <a:endParaRPr kumimoji="1" lang="zh-CN" altLang="en-US"/>
          </a:p>
        </p:txBody>
      </p:sp>
    </p:spTree>
    <p:extLst>
      <p:ext uri="{BB962C8B-B14F-4D97-AF65-F5344CB8AC3E}">
        <p14:creationId xmlns:p14="http://schemas.microsoft.com/office/powerpoint/2010/main" val="32269022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66</a:t>
            </a:fld>
            <a:endParaRPr kumimoji="1" lang="zh-CN" altLang="en-US"/>
          </a:p>
        </p:txBody>
      </p:sp>
    </p:spTree>
    <p:extLst>
      <p:ext uri="{BB962C8B-B14F-4D97-AF65-F5344CB8AC3E}">
        <p14:creationId xmlns:p14="http://schemas.microsoft.com/office/powerpoint/2010/main" val="36105972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67</a:t>
            </a:fld>
            <a:endParaRPr kumimoji="1" lang="zh-CN" altLang="en-US"/>
          </a:p>
        </p:txBody>
      </p:sp>
    </p:spTree>
    <p:extLst>
      <p:ext uri="{BB962C8B-B14F-4D97-AF65-F5344CB8AC3E}">
        <p14:creationId xmlns:p14="http://schemas.microsoft.com/office/powerpoint/2010/main" val="28790416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68</a:t>
            </a:fld>
            <a:endParaRPr kumimoji="1" lang="zh-CN" altLang="en-US"/>
          </a:p>
        </p:txBody>
      </p:sp>
    </p:spTree>
    <p:extLst>
      <p:ext uri="{BB962C8B-B14F-4D97-AF65-F5344CB8AC3E}">
        <p14:creationId xmlns:p14="http://schemas.microsoft.com/office/powerpoint/2010/main" val="33420277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9C77A-E5B4-C34A-B2D1-C11DEEC84AD6}" type="slidenum">
              <a:rPr kumimoji="1" lang="zh-CN" altLang="en-US" smtClean="0"/>
              <a:t>69</a:t>
            </a:fld>
            <a:endParaRPr kumimoji="1" lang="zh-CN" altLang="en-US"/>
          </a:p>
        </p:txBody>
      </p:sp>
    </p:spTree>
    <p:extLst>
      <p:ext uri="{BB962C8B-B14F-4D97-AF65-F5344CB8AC3E}">
        <p14:creationId xmlns:p14="http://schemas.microsoft.com/office/powerpoint/2010/main" val="18910927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4" name="图片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2636"/>
            <a:ext cx="9143085" cy="5142728"/>
          </a:xfrm>
          <a:prstGeom prst="rect">
            <a:avLst/>
          </a:prstGeom>
        </p:spPr>
      </p:pic>
      <p:sp>
        <p:nvSpPr>
          <p:cNvPr id="2" name="标题 1"/>
          <p:cNvSpPr>
            <a:spLocks noGrp="1"/>
          </p:cNvSpPr>
          <p:nvPr>
            <p:ph type="title"/>
          </p:nvPr>
        </p:nvSpPr>
        <p:spPr>
          <a:xfrm>
            <a:off x="400000" y="1923678"/>
            <a:ext cx="7772400" cy="663392"/>
          </a:xfrm>
        </p:spPr>
        <p:txBody>
          <a:bodyPr lIns="0" tIns="0" rIns="0" bIns="0" anchor="t">
            <a:noAutofit/>
          </a:bodyPr>
          <a:lstStyle>
            <a:lvl1pPr algn="l">
              <a:defRPr sz="4200" b="0" cap="all">
                <a:solidFill>
                  <a:schemeClr val="bg1"/>
                </a:solidFill>
                <a:latin typeface="方正兰亭圆简体_准" panose="02000000000000000000" charset="-122"/>
                <a:ea typeface="方正兰亭圆简体_准" panose="02000000000000000000" charset="-122"/>
                <a:cs typeface="FZLanTingHei-DB-GBK" panose="02000000000000000000" pitchFamily="2" charset="-122"/>
              </a:defRPr>
            </a:lvl1pPr>
          </a:lstStyle>
          <a:p>
            <a:r>
              <a:rPr kumimoji="1" lang="zh-CN" altLang="en-US" dirty="0"/>
              <a:t>单击此处编辑母版标题样式</a:t>
            </a:r>
          </a:p>
        </p:txBody>
      </p:sp>
      <p:sp>
        <p:nvSpPr>
          <p:cNvPr id="3" name="文本占位符 2"/>
          <p:cNvSpPr>
            <a:spLocks noGrp="1"/>
          </p:cNvSpPr>
          <p:nvPr>
            <p:ph type="body" idx="1"/>
          </p:nvPr>
        </p:nvSpPr>
        <p:spPr>
          <a:xfrm>
            <a:off x="400000" y="2715766"/>
            <a:ext cx="7772400" cy="648072"/>
          </a:xfrm>
        </p:spPr>
        <p:txBody>
          <a:bodyPr lIns="0" tIns="0" rIns="0" bIns="0" anchor="t" anchorCtr="0">
            <a:noAutofit/>
          </a:bodyPr>
          <a:lstStyle>
            <a:lvl1pPr marL="0" indent="0">
              <a:buNone/>
              <a:defRPr sz="2700" baseline="0">
                <a:solidFill>
                  <a:srgbClr val="1190FF"/>
                </a:solidFill>
                <a:latin typeface="方正兰亭圆简体_准" panose="02000000000000000000" charset="-122"/>
                <a:ea typeface="方正兰亭圆简体_准" panose="02000000000000000000" charset="-122"/>
                <a:cs typeface="FZLanTingHei-R-GBK" panose="02000000000000000000" pitchFamily="2"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dirty="0"/>
              <a:t>单击此处编辑母版文本样式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4_节标题">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6"/>
            <a:ext cx="9151085" cy="5147227"/>
          </a:xfrm>
          <a:prstGeom prst="rect">
            <a:avLst/>
          </a:prstGeom>
        </p:spPr>
      </p:pic>
      <p:sp>
        <p:nvSpPr>
          <p:cNvPr id="2" name="标题 1"/>
          <p:cNvSpPr>
            <a:spLocks noGrp="1"/>
          </p:cNvSpPr>
          <p:nvPr>
            <p:ph type="title"/>
          </p:nvPr>
        </p:nvSpPr>
        <p:spPr>
          <a:xfrm>
            <a:off x="400000" y="1923678"/>
            <a:ext cx="7772400" cy="663392"/>
          </a:xfrm>
        </p:spPr>
        <p:txBody>
          <a:bodyPr lIns="0" tIns="0" rIns="0" bIns="0" anchor="t">
            <a:noAutofit/>
          </a:bodyPr>
          <a:lstStyle>
            <a:lvl1pPr algn="l">
              <a:defRPr sz="4200" b="0" cap="all">
                <a:solidFill>
                  <a:schemeClr val="bg1"/>
                </a:solidFill>
                <a:latin typeface="方正兰亭圆简体_准" panose="02000000000000000000" charset="-122"/>
                <a:ea typeface="方正兰亭圆简体_准" panose="02000000000000000000" charset="-122"/>
                <a:cs typeface="FZLanTingHei-DB-GBK" panose="02000000000000000000" pitchFamily="2" charset="-122"/>
              </a:defRPr>
            </a:lvl1pPr>
          </a:lstStyle>
          <a:p>
            <a:r>
              <a:rPr kumimoji="1" lang="zh-CN" altLang="en-US" dirty="0"/>
              <a:t>单击此处编辑母版标题样式</a:t>
            </a:r>
          </a:p>
        </p:txBody>
      </p:sp>
      <p:sp>
        <p:nvSpPr>
          <p:cNvPr id="3" name="文本占位符 2"/>
          <p:cNvSpPr>
            <a:spLocks noGrp="1"/>
          </p:cNvSpPr>
          <p:nvPr>
            <p:ph type="body" idx="1"/>
          </p:nvPr>
        </p:nvSpPr>
        <p:spPr>
          <a:xfrm>
            <a:off x="400000" y="2715766"/>
            <a:ext cx="7772400" cy="648072"/>
          </a:xfrm>
        </p:spPr>
        <p:txBody>
          <a:bodyPr lIns="0" tIns="0" rIns="0" bIns="0" anchor="t" anchorCtr="0">
            <a:noAutofit/>
          </a:bodyPr>
          <a:lstStyle>
            <a:lvl1pPr marL="0" indent="0">
              <a:buNone/>
              <a:defRPr sz="2700" baseline="0">
                <a:solidFill>
                  <a:srgbClr val="1190FF"/>
                </a:solidFill>
                <a:latin typeface="方正兰亭圆简体_准" panose="02000000000000000000" charset="-122"/>
                <a:ea typeface="方正兰亭圆简体_准" panose="02000000000000000000" charset="-122"/>
                <a:cs typeface="FZLanTingHei-R-GBK" panose="02000000000000000000" pitchFamily="2"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815"/>
            <a:ext cx="9155988" cy="5147239"/>
          </a:xfrm>
          <a:prstGeom prst="rect">
            <a:avLst/>
          </a:prstGeom>
        </p:spPr>
      </p:pic>
      <p:sp>
        <p:nvSpPr>
          <p:cNvPr id="2" name="标题 1"/>
          <p:cNvSpPr>
            <a:spLocks noGrp="1"/>
          </p:cNvSpPr>
          <p:nvPr>
            <p:ph type="title"/>
          </p:nvPr>
        </p:nvSpPr>
        <p:spPr>
          <a:xfrm>
            <a:off x="971600" y="1779662"/>
            <a:ext cx="7772400" cy="881080"/>
          </a:xfrm>
        </p:spPr>
        <p:txBody>
          <a:bodyPr lIns="0" tIns="0" rIns="0" bIns="0" anchor="t">
            <a:normAutofit/>
          </a:bodyPr>
          <a:lstStyle>
            <a:lvl1pPr algn="r">
              <a:defRPr sz="3400" b="0" cap="all">
                <a:solidFill>
                  <a:schemeClr val="bg1"/>
                </a:solidFill>
                <a:latin typeface="方正兰亭圆简体_准" panose="02000000000000000000" charset="-122"/>
                <a:ea typeface="方正兰亭圆简体_准" panose="02000000000000000000" charset="-122"/>
                <a:cs typeface="FZLanTingHei-DB-GBK" panose="02000000000000000000" pitchFamily="2" charset="-122"/>
              </a:defRPr>
            </a:lvl1pPr>
          </a:lstStyle>
          <a:p>
            <a:r>
              <a:rPr kumimoji="1" lang="zh-CN" altLang="en-US" dirty="0"/>
              <a:t>单击此处编辑母版标题样式</a:t>
            </a:r>
          </a:p>
        </p:txBody>
      </p:sp>
      <p:sp>
        <p:nvSpPr>
          <p:cNvPr id="3" name="文本占位符 2"/>
          <p:cNvSpPr>
            <a:spLocks noGrp="1"/>
          </p:cNvSpPr>
          <p:nvPr>
            <p:ph type="body" idx="1"/>
          </p:nvPr>
        </p:nvSpPr>
        <p:spPr>
          <a:xfrm>
            <a:off x="188757" y="2396059"/>
            <a:ext cx="3447139" cy="391715"/>
          </a:xfrm>
        </p:spPr>
        <p:txBody>
          <a:bodyPr lIns="0" tIns="0" rIns="0" bIns="0" anchor="t" anchorCtr="0">
            <a:normAutofit/>
          </a:bodyPr>
          <a:lstStyle>
            <a:lvl1pPr marL="0" indent="0">
              <a:buNone/>
              <a:defRPr sz="2000" b="1" baseline="0">
                <a:solidFill>
                  <a:srgbClr val="1190FF"/>
                </a:solidFill>
                <a:latin typeface="方正兰亭圆简体_准" panose="02000000000000000000" charset="-122"/>
                <a:ea typeface="方正兰亭圆简体_准" panose="02000000000000000000" charset="-122"/>
                <a:cs typeface="FZLanTingHei-R-GBK" panose="02000000000000000000" pitchFamily="2"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dirty="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5_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814"/>
            <a:ext cx="9155987" cy="5147238"/>
          </a:xfrm>
          <a:prstGeom prst="rect">
            <a:avLst/>
          </a:prstGeom>
        </p:spPr>
      </p:pic>
      <p:sp>
        <p:nvSpPr>
          <p:cNvPr id="2" name="标题 1"/>
          <p:cNvSpPr>
            <a:spLocks noGrp="1"/>
          </p:cNvSpPr>
          <p:nvPr>
            <p:ph type="title"/>
          </p:nvPr>
        </p:nvSpPr>
        <p:spPr>
          <a:xfrm>
            <a:off x="971600" y="1779662"/>
            <a:ext cx="7772400" cy="881080"/>
          </a:xfrm>
        </p:spPr>
        <p:txBody>
          <a:bodyPr lIns="0" tIns="0" rIns="0" bIns="0" anchor="t">
            <a:normAutofit/>
          </a:bodyPr>
          <a:lstStyle>
            <a:lvl1pPr algn="r">
              <a:defRPr sz="3400" b="0" cap="all">
                <a:solidFill>
                  <a:schemeClr val="bg1"/>
                </a:solidFill>
                <a:latin typeface="方正兰亭圆简体_准" panose="02000000000000000000" charset="-122"/>
                <a:ea typeface="方正兰亭圆简体_准" panose="02000000000000000000" charset="-122"/>
                <a:cs typeface="FZLanTingHei-DB-GBK" panose="02000000000000000000" pitchFamily="2" charset="-122"/>
              </a:defRPr>
            </a:lvl1pPr>
          </a:lstStyle>
          <a:p>
            <a:r>
              <a:rPr kumimoji="1" lang="zh-CN" altLang="en-US" dirty="0"/>
              <a:t>单击此处编辑母版标题样式</a:t>
            </a:r>
          </a:p>
        </p:txBody>
      </p:sp>
      <p:sp>
        <p:nvSpPr>
          <p:cNvPr id="3" name="文本占位符 2"/>
          <p:cNvSpPr>
            <a:spLocks noGrp="1"/>
          </p:cNvSpPr>
          <p:nvPr>
            <p:ph type="body" idx="1"/>
          </p:nvPr>
        </p:nvSpPr>
        <p:spPr>
          <a:xfrm>
            <a:off x="188757" y="2396059"/>
            <a:ext cx="3447139" cy="391715"/>
          </a:xfrm>
        </p:spPr>
        <p:txBody>
          <a:bodyPr lIns="0" tIns="0" rIns="0" bIns="0" anchor="t" anchorCtr="0">
            <a:normAutofit/>
          </a:bodyPr>
          <a:lstStyle>
            <a:lvl1pPr marL="0" indent="0">
              <a:buNone/>
              <a:defRPr sz="2000" b="1" baseline="0">
                <a:solidFill>
                  <a:srgbClr val="1190FF"/>
                </a:solidFill>
                <a:latin typeface="方正兰亭圆简体_准" panose="02000000000000000000" charset="-122"/>
                <a:ea typeface="方正兰亭圆简体_准" panose="02000000000000000000" charset="-122"/>
                <a:cs typeface="FZLanTingHei-R-GBK" panose="02000000000000000000" pitchFamily="2"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dirty="0"/>
              <a:t>单击此处编辑母版文本样式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15" name="图片 14"/>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1459"/>
            <a:ext cx="9144000" cy="5148000"/>
          </a:xfrm>
          <a:prstGeom prst="rect">
            <a:avLst/>
          </a:prstGeom>
        </p:spPr>
      </p:pic>
      <p:sp>
        <p:nvSpPr>
          <p:cNvPr id="2" name="标题 1"/>
          <p:cNvSpPr>
            <a:spLocks noGrp="1"/>
          </p:cNvSpPr>
          <p:nvPr>
            <p:ph type="title"/>
          </p:nvPr>
        </p:nvSpPr>
        <p:spPr>
          <a:xfrm>
            <a:off x="467544" y="339502"/>
            <a:ext cx="4498480" cy="569326"/>
          </a:xfrm>
        </p:spPr>
        <p:txBody>
          <a:bodyPr lIns="0" tIns="0" rIns="0" bIns="0" anchor="t" anchorCtr="0">
            <a:normAutofit/>
          </a:bodyPr>
          <a:lstStyle>
            <a:lvl1pPr algn="l">
              <a:defRPr sz="26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zh-CN" altLang="en-US" dirty="0"/>
              <a:t>单击此处编辑母版标题样式</a:t>
            </a:r>
          </a:p>
        </p:txBody>
      </p:sp>
      <p:sp>
        <p:nvSpPr>
          <p:cNvPr id="4" name="文本占位符 3"/>
          <p:cNvSpPr>
            <a:spLocks noGrp="1"/>
          </p:cNvSpPr>
          <p:nvPr>
            <p:ph type="body" sz="quarter" idx="10"/>
          </p:nvPr>
        </p:nvSpPr>
        <p:spPr>
          <a:xfrm>
            <a:off x="251520" y="1131590"/>
            <a:ext cx="8568952" cy="3672408"/>
          </a:xfrm>
        </p:spPr>
        <p:txBody>
          <a:bodyPr lIns="0" tIns="0" rIns="0" bIns="0">
            <a:normAutofit/>
          </a:bodyPr>
          <a:lstStyle>
            <a:lvl1pPr>
              <a:lnSpc>
                <a:spcPct val="120000"/>
              </a:lnSpc>
              <a:defRPr sz="1200">
                <a:latin typeface="方正兰亭圆简体_准" panose="02000000000000000000" charset="-122"/>
                <a:ea typeface="方正兰亭圆简体_准" panose="02000000000000000000" charset="-122"/>
              </a:defRPr>
            </a:lvl1pPr>
          </a:lstStyle>
          <a:p>
            <a:pPr lvl="0"/>
            <a:r>
              <a:rPr kumimoji="1" lang="zh-CN" altLang="x-none" dirty="0"/>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370"/>
            <a:ext cx="9155968" cy="51480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372"/>
            <a:ext cx="9155969" cy="514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180000"/>
            <a:ext cx="2832186" cy="2285458"/>
          </a:xfrm>
        </p:spPr>
        <p:txBody>
          <a:bodyPr lIns="0" tIns="0" rIns="0" bIns="0" anchor="t" anchorCtr="0">
            <a:noAutofit/>
          </a:bodyPr>
          <a:lstStyle>
            <a:lvl1pPr algn="l">
              <a:defRPr sz="2000" b="0" i="0" baseline="0">
                <a:latin typeface="FZLanTingHei-R-GBK" panose="02000000000000000000" pitchFamily="2" charset="-122"/>
                <a:ea typeface="FZLanTingHei-R-GBK" panose="02000000000000000000" pitchFamily="2" charset="-122"/>
                <a:cs typeface="FZLanTingHei-R-GBK" panose="02000000000000000000" pitchFamily="2" charset="-122"/>
              </a:defRPr>
            </a:lvl1pPr>
          </a:lstStyle>
          <a:p>
            <a:r>
              <a:rPr kumimoji="1" lang="zh-CN" altLang="en-US" dirty="0"/>
              <a:t>单击此处编辑母版标题样式</a:t>
            </a:r>
          </a:p>
        </p:txBody>
      </p:sp>
      <p:sp>
        <p:nvSpPr>
          <p:cNvPr id="3" name="图片占位符 2"/>
          <p:cNvSpPr>
            <a:spLocks noGrp="1"/>
          </p:cNvSpPr>
          <p:nvPr>
            <p:ph type="pic" idx="1"/>
          </p:nvPr>
        </p:nvSpPr>
        <p:spPr>
          <a:xfrm>
            <a:off x="3194581" y="180000"/>
            <a:ext cx="5773913" cy="4157399"/>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dirty="0"/>
          </a:p>
        </p:txBody>
      </p:sp>
      <p:sp>
        <p:nvSpPr>
          <p:cNvPr id="10" name="幻灯片编号占位符 4"/>
          <p:cNvSpPr txBox="1"/>
          <p:nvPr userDrawn="1"/>
        </p:nvSpPr>
        <p:spPr>
          <a:xfrm>
            <a:off x="171924" y="4746178"/>
            <a:ext cx="2133600" cy="273844"/>
          </a:xfrm>
          <a:prstGeom prst="rect">
            <a:avLst/>
          </a:prstGeom>
        </p:spPr>
        <p:txBody>
          <a:bodyPr vert="horz" lIns="0" tIns="0" rIns="0" bIns="0" rtlCol="0" anchor="ctr"/>
          <a:lstStyle>
            <a:defPPr>
              <a:defRPr lang="zh-CN"/>
            </a:defPPr>
            <a:lvl1pPr marL="0" algn="l" defTabSz="457200" rtl="0" eaLnBrk="1" latinLnBrk="0" hangingPunct="1">
              <a:defRPr sz="1000" kern="1200" baseline="0">
                <a:solidFill>
                  <a:schemeClr val="bg1"/>
                </a:solidFill>
                <a:latin typeface="Arial" panose="020B0604020202020204"/>
                <a:ea typeface="方正兰亭黑Pro_GB18030 SemiBold"/>
                <a:cs typeface="Arial" panose="020B060402020202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sz="800" b="0" dirty="0">
                <a:solidFill>
                  <a:schemeClr val="tx1"/>
                </a:solidFill>
                <a:latin typeface="FZLanTingHei-R-GBK" panose="02000000000000000000" pitchFamily="2" charset="-122"/>
                <a:ea typeface="FZLanTingHei-R-GBK" panose="02000000000000000000" pitchFamily="2" charset="-122"/>
              </a:rPr>
              <a:t>Page.</a:t>
            </a:r>
            <a:fld id="{E4284A8E-C955-1241-9771-F374C2C0C855}" type="slidenum">
              <a:rPr kumimoji="1" lang="zh-CN" altLang="en-US" sz="800" b="0" dirty="0" smtClean="0">
                <a:solidFill>
                  <a:schemeClr val="tx1"/>
                </a:solidFill>
                <a:latin typeface="FZLanTingHei-R-GBK" panose="02000000000000000000" pitchFamily="2" charset="-122"/>
                <a:ea typeface="FZLanTingHei-R-GBK" panose="02000000000000000000" pitchFamily="2" charset="-122"/>
              </a:rPr>
              <a:t>‹#›</a:t>
            </a:fld>
            <a:endParaRPr kumimoji="1" lang="zh-CN" altLang="en-US" sz="800" dirty="0">
              <a:solidFill>
                <a:schemeClr val="tx1"/>
              </a:solidFill>
              <a:latin typeface="FZLanTingHei-R-GBK" panose="02000000000000000000" pitchFamily="2" charset="-122"/>
              <a:ea typeface="FZLanTingHei-R-GBK" panose="02000000000000000000"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180000"/>
            <a:ext cx="2832186" cy="2285458"/>
          </a:xfrm>
        </p:spPr>
        <p:txBody>
          <a:bodyPr lIns="0" tIns="0" rIns="0" bIns="0" anchor="t" anchorCtr="0">
            <a:noAutofit/>
          </a:bodyPr>
          <a:lstStyle>
            <a:lvl1pPr algn="l">
              <a:defRPr sz="2000" b="0" i="0" baseline="0">
                <a:latin typeface="FZLanTingHei-R-GBK" panose="02000000000000000000" pitchFamily="2" charset="-122"/>
                <a:ea typeface="FZLanTingHei-R-GBK" panose="02000000000000000000" pitchFamily="2" charset="-122"/>
                <a:cs typeface="FZLanTingHei-R-GBK" panose="02000000000000000000" pitchFamily="2" charset="-122"/>
              </a:defRPr>
            </a:lvl1pPr>
          </a:lstStyle>
          <a:p>
            <a:r>
              <a:rPr kumimoji="1" lang="zh-CN" altLang="en-US" dirty="0"/>
              <a:t>单击此处编辑母版标题样式</a:t>
            </a:r>
          </a:p>
        </p:txBody>
      </p:sp>
      <p:sp>
        <p:nvSpPr>
          <p:cNvPr id="3" name="图片占位符 2"/>
          <p:cNvSpPr>
            <a:spLocks noGrp="1"/>
          </p:cNvSpPr>
          <p:nvPr>
            <p:ph type="pic" idx="1"/>
          </p:nvPr>
        </p:nvSpPr>
        <p:spPr>
          <a:xfrm>
            <a:off x="3194581" y="180000"/>
            <a:ext cx="5773913" cy="198797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dirty="0"/>
          </a:p>
        </p:txBody>
      </p:sp>
      <p:sp>
        <p:nvSpPr>
          <p:cNvPr id="14" name="图片占位符 2"/>
          <p:cNvSpPr>
            <a:spLocks noGrp="1"/>
          </p:cNvSpPr>
          <p:nvPr>
            <p:ph type="pic" idx="13"/>
          </p:nvPr>
        </p:nvSpPr>
        <p:spPr>
          <a:xfrm>
            <a:off x="6172960" y="2327197"/>
            <a:ext cx="2795534" cy="2003756"/>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dirty="0"/>
          </a:p>
        </p:txBody>
      </p:sp>
      <p:sp>
        <p:nvSpPr>
          <p:cNvPr id="15" name="图片占位符 2"/>
          <p:cNvSpPr>
            <a:spLocks noGrp="1"/>
          </p:cNvSpPr>
          <p:nvPr>
            <p:ph type="pic" idx="14"/>
          </p:nvPr>
        </p:nvSpPr>
        <p:spPr>
          <a:xfrm>
            <a:off x="3194581" y="2327197"/>
            <a:ext cx="2795534" cy="2003756"/>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dirty="0"/>
          </a:p>
        </p:txBody>
      </p:sp>
      <p:sp>
        <p:nvSpPr>
          <p:cNvPr id="16" name="幻灯片编号占位符 4"/>
          <p:cNvSpPr txBox="1"/>
          <p:nvPr userDrawn="1"/>
        </p:nvSpPr>
        <p:spPr>
          <a:xfrm>
            <a:off x="171924" y="4746178"/>
            <a:ext cx="2133600" cy="273844"/>
          </a:xfrm>
          <a:prstGeom prst="rect">
            <a:avLst/>
          </a:prstGeom>
        </p:spPr>
        <p:txBody>
          <a:bodyPr vert="horz" lIns="0" tIns="0" rIns="0" bIns="0" rtlCol="0" anchor="ctr"/>
          <a:lstStyle>
            <a:defPPr>
              <a:defRPr lang="zh-CN"/>
            </a:defPPr>
            <a:lvl1pPr marL="0" algn="l" defTabSz="457200" rtl="0" eaLnBrk="1" latinLnBrk="0" hangingPunct="1">
              <a:defRPr sz="1000" kern="1200" baseline="0">
                <a:solidFill>
                  <a:schemeClr val="bg1"/>
                </a:solidFill>
                <a:latin typeface="Arial" panose="020B0604020202020204"/>
                <a:ea typeface="方正兰亭黑Pro_GB18030 SemiBold"/>
                <a:cs typeface="Arial" panose="020B060402020202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sz="800" b="0" dirty="0">
                <a:solidFill>
                  <a:schemeClr val="tx1"/>
                </a:solidFill>
                <a:latin typeface="FZLanTingHei-R-GBK" panose="02000000000000000000" pitchFamily="2" charset="-122"/>
                <a:ea typeface="FZLanTingHei-R-GBK" panose="02000000000000000000" pitchFamily="2" charset="-122"/>
              </a:rPr>
              <a:t>Page.</a:t>
            </a:r>
            <a:fld id="{E4284A8E-C955-1241-9771-F374C2C0C855}" type="slidenum">
              <a:rPr kumimoji="1" lang="zh-CN" altLang="en-US" sz="800" b="0" dirty="0" smtClean="0">
                <a:solidFill>
                  <a:schemeClr val="tx1"/>
                </a:solidFill>
                <a:latin typeface="FZLanTingHei-R-GBK" panose="02000000000000000000" pitchFamily="2" charset="-122"/>
                <a:ea typeface="FZLanTingHei-R-GBK" panose="02000000000000000000" pitchFamily="2" charset="-122"/>
              </a:rPr>
              <a:t>‹#›</a:t>
            </a:fld>
            <a:endParaRPr kumimoji="1" lang="zh-CN" altLang="en-US" sz="800" dirty="0">
              <a:solidFill>
                <a:schemeClr val="tx1"/>
              </a:solidFill>
              <a:latin typeface="FZLanTingHei-R-GBK" panose="02000000000000000000" pitchFamily="2" charset="-122"/>
              <a:ea typeface="FZLanTingHei-R-GBK" panose="02000000000000000000"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180000"/>
            <a:ext cx="2820737" cy="4106346"/>
          </a:xfrm>
        </p:spPr>
        <p:txBody>
          <a:bodyPr lIns="0" tIns="0" rIns="0" bIns="0" anchor="t" anchorCtr="0">
            <a:noAutofit/>
          </a:bodyPr>
          <a:lstStyle>
            <a:lvl1pPr algn="l">
              <a:defRPr sz="2000" b="0" i="0" baseline="0">
                <a:latin typeface="FZLanTingHei-R-GBK" panose="02000000000000000000" pitchFamily="2" charset="-122"/>
                <a:ea typeface="FZLanTingHei-R-GBK" panose="02000000000000000000" pitchFamily="2" charset="-122"/>
                <a:cs typeface="FZLanTingHei-R-GBK" panose="02000000000000000000" pitchFamily="2" charset="-122"/>
              </a:defRPr>
            </a:lvl1pPr>
          </a:lstStyle>
          <a:p>
            <a:r>
              <a:rPr kumimoji="1" lang="zh-CN" altLang="en-US" dirty="0"/>
              <a:t>单击此处编辑母版标题样式</a:t>
            </a:r>
          </a:p>
        </p:txBody>
      </p:sp>
      <p:sp>
        <p:nvSpPr>
          <p:cNvPr id="4" name="文本占位符 3"/>
          <p:cNvSpPr>
            <a:spLocks noGrp="1"/>
          </p:cNvSpPr>
          <p:nvPr>
            <p:ph type="body" sz="quarter" idx="13"/>
          </p:nvPr>
        </p:nvSpPr>
        <p:spPr>
          <a:xfrm>
            <a:off x="3175000" y="180000"/>
            <a:ext cx="2793427" cy="4106862"/>
          </a:xfrm>
        </p:spPr>
        <p:txBody>
          <a:bodyPr lIns="0" tIns="0" rIns="0" bIns="0"/>
          <a:lstStyle>
            <a:lvl1pPr>
              <a:defRPr sz="2000">
                <a:latin typeface="FZLanTingHei-R-GBK" panose="02000000000000000000" pitchFamily="2" charset="-122"/>
                <a:ea typeface="FZLanTingHei-R-GBK" panose="02000000000000000000" pitchFamily="2" charset="-122"/>
              </a:defRPr>
            </a:lvl1pPr>
          </a:lstStyle>
          <a:p>
            <a:pPr lvl="0"/>
            <a:r>
              <a:rPr kumimoji="1" lang="zh-CN" altLang="en-US" dirty="0"/>
              <a:t>单击此处编辑母版文本样式</a:t>
            </a:r>
          </a:p>
        </p:txBody>
      </p:sp>
      <p:sp>
        <p:nvSpPr>
          <p:cNvPr id="6" name="文本占位符 5"/>
          <p:cNvSpPr>
            <a:spLocks noGrp="1"/>
          </p:cNvSpPr>
          <p:nvPr>
            <p:ph type="body" sz="quarter" idx="14"/>
          </p:nvPr>
        </p:nvSpPr>
        <p:spPr>
          <a:xfrm>
            <a:off x="6172960" y="180000"/>
            <a:ext cx="2793240" cy="4106863"/>
          </a:xfrm>
        </p:spPr>
        <p:txBody>
          <a:bodyPr lIns="0" tIns="0" rIns="0" bIns="0"/>
          <a:lstStyle>
            <a:lvl1pPr>
              <a:defRPr sz="2000"/>
            </a:lvl1pPr>
          </a:lstStyle>
          <a:p>
            <a:pPr lvl="0"/>
            <a:r>
              <a:rPr kumimoji="1" lang="zh-CN" altLang="en-US" dirty="0"/>
              <a:t>单击此处编辑母版文本样式</a:t>
            </a:r>
          </a:p>
        </p:txBody>
      </p:sp>
      <p:sp>
        <p:nvSpPr>
          <p:cNvPr id="10" name="幻灯片编号占位符 4"/>
          <p:cNvSpPr txBox="1"/>
          <p:nvPr userDrawn="1"/>
        </p:nvSpPr>
        <p:spPr>
          <a:xfrm>
            <a:off x="171924" y="4746178"/>
            <a:ext cx="2133600" cy="273844"/>
          </a:xfrm>
          <a:prstGeom prst="rect">
            <a:avLst/>
          </a:prstGeom>
        </p:spPr>
        <p:txBody>
          <a:bodyPr vert="horz" lIns="0" tIns="0" rIns="0" bIns="0" rtlCol="0" anchor="ctr"/>
          <a:lstStyle>
            <a:defPPr>
              <a:defRPr lang="zh-CN"/>
            </a:defPPr>
            <a:lvl1pPr marL="0" algn="l" defTabSz="457200" rtl="0" eaLnBrk="1" latinLnBrk="0" hangingPunct="1">
              <a:defRPr sz="1000" kern="1200" baseline="0">
                <a:solidFill>
                  <a:schemeClr val="bg1"/>
                </a:solidFill>
                <a:latin typeface="Arial" panose="020B0604020202020204"/>
                <a:ea typeface="方正兰亭黑Pro_GB18030 SemiBold"/>
                <a:cs typeface="Arial" panose="020B060402020202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sz="800" b="0" dirty="0">
                <a:solidFill>
                  <a:schemeClr val="tx1"/>
                </a:solidFill>
                <a:latin typeface="FZLanTingHei-R-GBK" panose="02000000000000000000" pitchFamily="2" charset="-122"/>
                <a:ea typeface="FZLanTingHei-R-GBK" panose="02000000000000000000" pitchFamily="2" charset="-122"/>
              </a:rPr>
              <a:t>Page.</a:t>
            </a:r>
            <a:fld id="{E4284A8E-C955-1241-9771-F374C2C0C855}" type="slidenum">
              <a:rPr kumimoji="1" lang="zh-CN" altLang="en-US" sz="800" b="0" dirty="0" smtClean="0">
                <a:solidFill>
                  <a:schemeClr val="tx1"/>
                </a:solidFill>
                <a:latin typeface="FZLanTingHei-R-GBK" panose="02000000000000000000" pitchFamily="2" charset="-122"/>
                <a:ea typeface="FZLanTingHei-R-GBK" panose="02000000000000000000" pitchFamily="2" charset="-122"/>
              </a:rPr>
              <a:t>‹#›</a:t>
            </a:fld>
            <a:endParaRPr kumimoji="1" lang="zh-CN" altLang="en-US" sz="800" dirty="0">
              <a:solidFill>
                <a:schemeClr val="tx1"/>
              </a:solidFill>
              <a:latin typeface="FZLanTingHei-R-GBK" panose="02000000000000000000" pitchFamily="2" charset="-122"/>
              <a:ea typeface="FZLanTingHei-R-GBK" panose="02000000000000000000"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1125" y="299345"/>
            <a:ext cx="2409675" cy="1190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1" name="文本占位符 2"/>
          <p:cNvSpPr>
            <a:spLocks noGrp="1"/>
          </p:cNvSpPr>
          <p:nvPr>
            <p:ph type="body" idx="13"/>
          </p:nvPr>
        </p:nvSpPr>
        <p:spPr>
          <a:xfrm>
            <a:off x="3124200" y="299345"/>
            <a:ext cx="5096933" cy="1952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2" name="文本占位符 2"/>
          <p:cNvSpPr>
            <a:spLocks noGrp="1"/>
          </p:cNvSpPr>
          <p:nvPr>
            <p:ph type="body" idx="14"/>
          </p:nvPr>
        </p:nvSpPr>
        <p:spPr>
          <a:xfrm>
            <a:off x="181125" y="2890145"/>
            <a:ext cx="2409675" cy="1190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3" name="文本占位符 2"/>
          <p:cNvSpPr>
            <a:spLocks noGrp="1"/>
          </p:cNvSpPr>
          <p:nvPr>
            <p:ph type="body" idx="15"/>
          </p:nvPr>
        </p:nvSpPr>
        <p:spPr>
          <a:xfrm>
            <a:off x="3124200" y="2884690"/>
            <a:ext cx="5096933" cy="1196243"/>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9" name="幻灯片编号占位符 4"/>
          <p:cNvSpPr txBox="1"/>
          <p:nvPr userDrawn="1"/>
        </p:nvSpPr>
        <p:spPr>
          <a:xfrm>
            <a:off x="171924" y="4746178"/>
            <a:ext cx="2133600" cy="273844"/>
          </a:xfrm>
          <a:prstGeom prst="rect">
            <a:avLst/>
          </a:prstGeom>
        </p:spPr>
        <p:txBody>
          <a:bodyPr vert="horz" lIns="0" tIns="0" rIns="0" bIns="0" rtlCol="0" anchor="ctr"/>
          <a:lstStyle>
            <a:defPPr>
              <a:defRPr lang="zh-CN"/>
            </a:defPPr>
            <a:lvl1pPr marL="0" algn="l" defTabSz="457200" rtl="0" eaLnBrk="1" latinLnBrk="0" hangingPunct="1">
              <a:defRPr sz="1000" kern="1200" baseline="0">
                <a:solidFill>
                  <a:schemeClr val="bg1"/>
                </a:solidFill>
                <a:latin typeface="Arial" panose="020B0604020202020204"/>
                <a:ea typeface="方正兰亭黑Pro_GB18030 SemiBold"/>
                <a:cs typeface="Arial" panose="020B060402020202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sz="800" b="0" dirty="0">
                <a:solidFill>
                  <a:schemeClr val="tx1"/>
                </a:solidFill>
                <a:latin typeface="FZLanTingHei-R-GBK" panose="02000000000000000000" pitchFamily="2" charset="-122"/>
                <a:ea typeface="FZLanTingHei-R-GBK" panose="02000000000000000000" pitchFamily="2" charset="-122"/>
              </a:rPr>
              <a:t>Page.</a:t>
            </a:r>
            <a:fld id="{E4284A8E-C955-1241-9771-F374C2C0C855}" type="slidenum">
              <a:rPr kumimoji="1" lang="zh-CN" altLang="en-US" sz="800" b="0" dirty="0" smtClean="0">
                <a:solidFill>
                  <a:schemeClr val="tx1"/>
                </a:solidFill>
                <a:latin typeface="FZLanTingHei-R-GBK" panose="02000000000000000000" pitchFamily="2" charset="-122"/>
                <a:ea typeface="FZLanTingHei-R-GBK" panose="02000000000000000000" pitchFamily="2" charset="-122"/>
              </a:rPr>
              <a:t>‹#›</a:t>
            </a:fld>
            <a:endParaRPr kumimoji="1" lang="zh-CN" altLang="en-US" sz="800" dirty="0">
              <a:solidFill>
                <a:schemeClr val="tx1"/>
              </a:solidFill>
              <a:latin typeface="FZLanTingHei-R-GBK" panose="02000000000000000000" pitchFamily="2" charset="-122"/>
              <a:ea typeface="FZLanTingHei-R-GBK" panose="02000000000000000000"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6_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1969" cy="5143499"/>
          </a:xfrm>
          <a:prstGeom prst="rect">
            <a:avLst/>
          </a:prstGeom>
        </p:spPr>
      </p:pic>
      <p:sp>
        <p:nvSpPr>
          <p:cNvPr id="2" name="标题 1"/>
          <p:cNvSpPr>
            <a:spLocks noGrp="1"/>
          </p:cNvSpPr>
          <p:nvPr>
            <p:ph type="title"/>
          </p:nvPr>
        </p:nvSpPr>
        <p:spPr>
          <a:xfrm>
            <a:off x="188757" y="1114606"/>
            <a:ext cx="7772400" cy="447368"/>
          </a:xfrm>
        </p:spPr>
        <p:txBody>
          <a:bodyPr lIns="0" tIns="0" rIns="0" bIns="0" anchor="t">
            <a:normAutofit/>
          </a:bodyPr>
          <a:lstStyle>
            <a:lvl1pPr algn="l">
              <a:defRPr sz="2800" b="0" cap="all">
                <a:solidFill>
                  <a:schemeClr val="bg1"/>
                </a:solidFill>
                <a:latin typeface="方正兰亭黑Pro_GB18030"/>
                <a:ea typeface="方正兰亭黑Pro_GB18030"/>
                <a:cs typeface="方正兰亭黑Pro_GB18030"/>
              </a:defRPr>
            </a:lvl1pPr>
          </a:lstStyle>
          <a:p>
            <a:r>
              <a:rPr kumimoji="1" lang="zh-CN" altLang="en-US" dirty="0"/>
              <a:t>单击此处编辑母版标题样式</a:t>
            </a:r>
          </a:p>
        </p:txBody>
      </p:sp>
      <p:sp>
        <p:nvSpPr>
          <p:cNvPr id="3" name="文本占位符 2"/>
          <p:cNvSpPr>
            <a:spLocks noGrp="1"/>
          </p:cNvSpPr>
          <p:nvPr>
            <p:ph type="body" idx="1"/>
          </p:nvPr>
        </p:nvSpPr>
        <p:spPr>
          <a:xfrm>
            <a:off x="188757" y="1726156"/>
            <a:ext cx="7772400" cy="391715"/>
          </a:xfrm>
        </p:spPr>
        <p:txBody>
          <a:bodyPr lIns="0" tIns="0" rIns="0" bIns="0" anchor="t" anchorCtr="0">
            <a:normAutofit/>
          </a:bodyPr>
          <a:lstStyle>
            <a:lvl1pPr marL="0" indent="0">
              <a:buNone/>
              <a:defRPr sz="2000" baseline="0">
                <a:solidFill>
                  <a:schemeClr val="bg1"/>
                </a:solidFill>
                <a:latin typeface="方正兰亭黑Pro_GB18030"/>
                <a:ea typeface="方正兰亭黑Pro_GB18030"/>
                <a:cs typeface="方正兰亭黑Pro_GB1803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dirty="0"/>
              <a:t>单击此处编辑母版文本样式</a:t>
            </a:r>
          </a:p>
        </p:txBody>
      </p:sp>
      <p:sp>
        <p:nvSpPr>
          <p:cNvPr id="11" name="幻灯片编号占位符 4"/>
          <p:cNvSpPr>
            <a:spLocks noGrp="1"/>
          </p:cNvSpPr>
          <p:nvPr>
            <p:ph type="sldNum" sz="quarter" idx="12"/>
          </p:nvPr>
        </p:nvSpPr>
        <p:spPr>
          <a:xfrm>
            <a:off x="171924" y="4746178"/>
            <a:ext cx="2133600" cy="273844"/>
          </a:xfrm>
        </p:spPr>
        <p:txBody>
          <a:bodyPr lIns="0" tIns="0" rIns="0" bIns="0"/>
          <a:lstStyle>
            <a:lvl1pPr algn="l">
              <a:defRPr sz="1000" baseline="0">
                <a:solidFill>
                  <a:schemeClr val="bg1"/>
                </a:solidFill>
                <a:latin typeface="Arial" panose="020B0604020202020204"/>
                <a:ea typeface="方正兰亭黑Pro_GB18030 SemiBold"/>
                <a:cs typeface="Arial" panose="020B0604020202020204"/>
              </a:defRPr>
            </a:lvl1pPr>
          </a:lstStyle>
          <a:p>
            <a:r>
              <a:rPr kumimoji="1" lang="en-US" altLang="zh-CN" sz="900" b="1" dirty="0"/>
              <a:t>Page</a:t>
            </a:r>
            <a:r>
              <a:rPr kumimoji="1" lang="en-US" altLang="zh-CN" b="1" dirty="0"/>
              <a:t>.</a:t>
            </a:r>
            <a:fld id="{E4284A8E-C955-1241-9771-F374C2C0C855}" type="slidenum">
              <a:rPr kumimoji="1" lang="zh-CN" altLang="en-US" b="1" dirty="0" smtClean="0"/>
              <a:t>‹#›</a:t>
            </a:fld>
            <a:endParaRPr kumimoji="1" lang="zh-CN" altLang="en-US" dirty="0"/>
          </a:p>
        </p:txBody>
      </p:sp>
      <p:cxnSp>
        <p:nvCxnSpPr>
          <p:cNvPr id="6" name="直线连接符 5"/>
          <p:cNvCxnSpPr/>
          <p:nvPr userDrawn="1"/>
        </p:nvCxnSpPr>
        <p:spPr>
          <a:xfrm>
            <a:off x="188757" y="2335080"/>
            <a:ext cx="8763962"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7888"/>
            <a:ext cx="9155986" cy="5151385"/>
          </a:xfrm>
          <a:prstGeom prst="rect">
            <a:avLst/>
          </a:prstGeom>
        </p:spPr>
      </p:pic>
      <p:sp>
        <p:nvSpPr>
          <p:cNvPr id="3" name="文本占位符 2"/>
          <p:cNvSpPr>
            <a:spLocks noGrp="1"/>
          </p:cNvSpPr>
          <p:nvPr>
            <p:ph type="body" idx="1"/>
          </p:nvPr>
        </p:nvSpPr>
        <p:spPr>
          <a:xfrm>
            <a:off x="181125" y="299345"/>
            <a:ext cx="2409675" cy="1190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1" name="文本占位符 2"/>
          <p:cNvSpPr>
            <a:spLocks noGrp="1"/>
          </p:cNvSpPr>
          <p:nvPr>
            <p:ph type="body" idx="13"/>
          </p:nvPr>
        </p:nvSpPr>
        <p:spPr>
          <a:xfrm>
            <a:off x="3124200" y="299345"/>
            <a:ext cx="5096933" cy="1952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2" name="文本占位符 2"/>
          <p:cNvSpPr>
            <a:spLocks noGrp="1"/>
          </p:cNvSpPr>
          <p:nvPr>
            <p:ph type="body" idx="14"/>
          </p:nvPr>
        </p:nvSpPr>
        <p:spPr>
          <a:xfrm>
            <a:off x="181125" y="2890145"/>
            <a:ext cx="2409675" cy="1190788"/>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3" name="文本占位符 2"/>
          <p:cNvSpPr>
            <a:spLocks noGrp="1"/>
          </p:cNvSpPr>
          <p:nvPr>
            <p:ph type="body" idx="15"/>
          </p:nvPr>
        </p:nvSpPr>
        <p:spPr>
          <a:xfrm>
            <a:off x="3124200" y="2884690"/>
            <a:ext cx="5096933" cy="1196243"/>
          </a:xfrm>
        </p:spPr>
        <p:txBody>
          <a:bodyPr lIns="0" tIns="0" rIns="0" bIns="0" anchor="t" anchorCtr="0">
            <a:normAutofit/>
          </a:bodyPr>
          <a:lstStyle>
            <a:lvl1pPr marL="0" indent="0">
              <a:buNone/>
              <a:defRPr sz="2000" b="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19" name="幻灯片编号占位符 4"/>
          <p:cNvSpPr txBox="1"/>
          <p:nvPr userDrawn="1"/>
        </p:nvSpPr>
        <p:spPr>
          <a:xfrm>
            <a:off x="171924" y="4746178"/>
            <a:ext cx="2133600" cy="273844"/>
          </a:xfrm>
          <a:prstGeom prst="rect">
            <a:avLst/>
          </a:prstGeom>
        </p:spPr>
        <p:txBody>
          <a:bodyPr vert="horz" lIns="0" tIns="0" rIns="0" bIns="0" rtlCol="0" anchor="ctr"/>
          <a:lstStyle>
            <a:defPPr>
              <a:defRPr lang="zh-CN"/>
            </a:defPPr>
            <a:lvl1pPr marL="0" algn="l" defTabSz="457200" rtl="0" eaLnBrk="1" latinLnBrk="0" hangingPunct="1">
              <a:defRPr sz="1000" kern="1200" baseline="0">
                <a:solidFill>
                  <a:schemeClr val="bg1"/>
                </a:solidFill>
                <a:latin typeface="Arial" panose="020B0604020202020204"/>
                <a:ea typeface="方正兰亭黑Pro_GB18030 SemiBold"/>
                <a:cs typeface="Arial" panose="020B060402020202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sz="900" b="1" dirty="0">
                <a:solidFill>
                  <a:schemeClr val="tx1"/>
                </a:solidFill>
              </a:rPr>
              <a:t>Page</a:t>
            </a:r>
            <a:r>
              <a:rPr kumimoji="1" lang="en-US" altLang="zh-CN" b="1" dirty="0">
                <a:solidFill>
                  <a:schemeClr val="tx1"/>
                </a:solidFill>
              </a:rPr>
              <a:t>.</a:t>
            </a:r>
            <a:fld id="{E4284A8E-C955-1241-9771-F374C2C0C855}" type="slidenum">
              <a:rPr kumimoji="1" lang="zh-CN" altLang="en-US" b="1" dirty="0" smtClean="0">
                <a:solidFill>
                  <a:schemeClr val="tx1"/>
                </a:solidFill>
              </a:rPr>
              <a:t>‹#›</a:t>
            </a:fld>
            <a:endParaRPr kumimoji="1" lang="zh-CN" altLang="en-US" dirty="0">
              <a:solidFill>
                <a:schemeClr val="tx1"/>
              </a:solidFill>
            </a:endParaRPr>
          </a:p>
        </p:txBody>
      </p:sp>
      <p:cxnSp>
        <p:nvCxnSpPr>
          <p:cNvPr id="8" name="直线连接符 7"/>
          <p:cNvCxnSpPr/>
          <p:nvPr userDrawn="1"/>
        </p:nvCxnSpPr>
        <p:spPr>
          <a:xfrm>
            <a:off x="188757" y="2326207"/>
            <a:ext cx="8763962" cy="0"/>
          </a:xfrm>
          <a:prstGeom prst="line">
            <a:avLst/>
          </a:prstGeom>
          <a:ln w="6350">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t="84691" r="41097" b="5679"/>
          <a:stretch>
            <a:fillRect/>
          </a:stretch>
        </p:blipFill>
        <p:spPr>
          <a:xfrm>
            <a:off x="339" y="4610101"/>
            <a:ext cx="5384461" cy="495300"/>
          </a:xfrm>
          <a:prstGeom prst="rect">
            <a:avLst/>
          </a:prstGeom>
        </p:spPr>
      </p:pic>
      <p:sp>
        <p:nvSpPr>
          <p:cNvPr id="6" name="标题 1"/>
          <p:cNvSpPr txBox="1"/>
          <p:nvPr userDrawn="1"/>
        </p:nvSpPr>
        <p:spPr>
          <a:xfrm>
            <a:off x="188757" y="1931339"/>
            <a:ext cx="7772400" cy="447368"/>
          </a:xfrm>
          <a:prstGeom prst="rect">
            <a:avLst/>
          </a:prstGeom>
        </p:spPr>
        <p:txBody>
          <a:bodyPr vert="horz" lIns="0" tIns="0" rIns="0" bIns="0" rtlCol="0" anchor="t">
            <a:normAutofit/>
          </a:bodyPr>
          <a:lstStyle>
            <a:lvl1pPr algn="l" defTabSz="457200" rtl="0" eaLnBrk="1" latinLnBrk="0" hangingPunct="1">
              <a:spcBef>
                <a:spcPct val="0"/>
              </a:spcBef>
              <a:buNone/>
              <a:defRPr sz="2800" b="0" i="0" kern="1200" cap="all">
                <a:solidFill>
                  <a:srgbClr val="0000A8"/>
                </a:solidFill>
                <a:latin typeface="方正兰亭黑Pro_GB18030 DemiBold"/>
                <a:ea typeface="方正兰亭黑Pro_GB18030 DemiBold"/>
                <a:cs typeface="方正兰亭黑Pro_GB18030 DemiBold"/>
              </a:defRPr>
            </a:lvl1pPr>
          </a:lstStyle>
          <a:p>
            <a:r>
              <a:rPr kumimoji="1" lang="zh-CN" altLang="en-US" sz="2400" dirty="0"/>
              <a:t>感谢观看</a:t>
            </a:r>
          </a:p>
        </p:txBody>
      </p: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65747" t="84715"/>
          <a:stretch>
            <a:fillRect/>
          </a:stretch>
        </p:blipFill>
        <p:spPr>
          <a:xfrm>
            <a:off x="6019800" y="4356100"/>
            <a:ext cx="3136188" cy="787397"/>
          </a:xfrm>
          <a:prstGeom prst="rect">
            <a:avLst/>
          </a:prstGeom>
        </p:spPr>
      </p:pic>
      <p:cxnSp>
        <p:nvCxnSpPr>
          <p:cNvPr id="5" name="直线连接符 4"/>
          <p:cNvCxnSpPr/>
          <p:nvPr userDrawn="1"/>
        </p:nvCxnSpPr>
        <p:spPr>
          <a:xfrm>
            <a:off x="188757" y="2571750"/>
            <a:ext cx="8763962" cy="0"/>
          </a:xfrm>
          <a:prstGeom prst="line">
            <a:avLst/>
          </a:prstGeom>
          <a:ln w="6350">
            <a:solidFill>
              <a:srgbClr val="0000A8"/>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kumimoji="1"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kumimoji="1"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457200" y="154781"/>
            <a:ext cx="6019800" cy="329088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E4284A8E-C955-1241-9771-F374C2C0C855}" type="slidenum">
              <a:rPr kumimoji="1" lang="zh-CN" altLang="en-US" smtClean="0"/>
              <a:t>‹#›</a:t>
            </a:fld>
            <a:endParaRPr kumimoji="1"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71499"/>
          </a:xfrm>
          <a:prstGeom prst="rect">
            <a:avLst/>
          </a:prstGeom>
        </p:spPr>
        <p:txBody>
          <a:bodyPr/>
          <a:lstStyle>
            <a:lvl1pPr>
              <a:defRPr sz="3000">
                <a:latin typeface="Arial" charset="0"/>
                <a:ea typeface="Arial" charset="0"/>
                <a:cs typeface="Arial" charset="0"/>
              </a:defRPr>
            </a:lvl1pPr>
          </a:lstStyle>
          <a:p>
            <a:r>
              <a:rPr lang="en-US" dirty="0"/>
              <a:t>Click to edit Master title style</a:t>
            </a:r>
          </a:p>
        </p:txBody>
      </p:sp>
      <p:cxnSp>
        <p:nvCxnSpPr>
          <p:cNvPr id="4" name="直接连接符 3"/>
          <p:cNvCxnSpPr/>
          <p:nvPr userDrawn="1"/>
        </p:nvCxnSpPr>
        <p:spPr>
          <a:xfrm>
            <a:off x="0" y="571499"/>
            <a:ext cx="9144000" cy="0"/>
          </a:xfrm>
          <a:prstGeom prst="line">
            <a:avLst/>
          </a:prstGeom>
          <a:ln w="38100">
            <a:solidFill>
              <a:srgbClr val="660874"/>
            </a:solidFill>
          </a:ln>
        </p:spPr>
        <p:style>
          <a:lnRef idx="1">
            <a:schemeClr val="accent1"/>
          </a:lnRef>
          <a:fillRef idx="0">
            <a:schemeClr val="accent1"/>
          </a:fillRef>
          <a:effectRef idx="0">
            <a:schemeClr val="accent1"/>
          </a:effectRef>
          <a:fontRef idx="minor">
            <a:schemeClr val="tx1"/>
          </a:fontRef>
        </p:style>
      </p:cxnSp>
      <p:sp>
        <p:nvSpPr>
          <p:cNvPr id="5" name="矩形 4"/>
          <p:cNvSpPr/>
          <p:nvPr userDrawn="1"/>
        </p:nvSpPr>
        <p:spPr>
          <a:xfrm>
            <a:off x="0" y="4868154"/>
            <a:ext cx="9144000" cy="275347"/>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7" name="TextBox 8"/>
          <p:cNvSpPr txBox="1">
            <a:spLocks noChangeArrowheads="1"/>
          </p:cNvSpPr>
          <p:nvPr userDrawn="1"/>
        </p:nvSpPr>
        <p:spPr bwMode="auto">
          <a:xfrm>
            <a:off x="-1" y="4870309"/>
            <a:ext cx="2590800" cy="2855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indent="0" algn="l" defTabSz="685800" rtl="1" eaLnBrk="1" fontAlgn="base" latinLnBrk="0" hangingPunct="1">
              <a:lnSpc>
                <a:spcPct val="93000"/>
              </a:lnSpc>
              <a:spcBef>
                <a:spcPct val="0"/>
              </a:spcBef>
              <a:spcAft>
                <a:spcPct val="0"/>
              </a:spcAft>
              <a:buClr>
                <a:srgbClr val="000000"/>
              </a:buClr>
              <a:buSzPct val="100000"/>
              <a:buFont typeface="Times New Roman" pitchFamily="18" charset="0"/>
              <a:buNone/>
              <a:tabLst/>
              <a:defRPr/>
            </a:pPr>
            <a:r>
              <a:rPr kumimoji="1" lang="en-US" altLang="zh-CN" sz="1350" b="1" dirty="0">
                <a:solidFill>
                  <a:schemeClr val="bg1"/>
                </a:solidFill>
                <a:latin typeface="Arial" pitchFamily="34" charset="0"/>
                <a:cs typeface="Arial" pitchFamily="34" charset="0"/>
              </a:rPr>
              <a:t>Tsinghua University</a:t>
            </a:r>
            <a:endParaRPr kumimoji="1" lang="en-US" sz="1350" b="1" dirty="0">
              <a:solidFill>
                <a:schemeClr val="bg1"/>
              </a:solidFill>
              <a:latin typeface="Arial" pitchFamily="34" charset="0"/>
              <a:cs typeface="Arial" pitchFamily="34" charset="0"/>
            </a:endParaRPr>
          </a:p>
        </p:txBody>
      </p:sp>
      <p:sp>
        <p:nvSpPr>
          <p:cNvPr id="8" name="Slide Number Placeholder 1"/>
          <p:cNvSpPr txBox="1">
            <a:spLocks/>
          </p:cNvSpPr>
          <p:nvPr userDrawn="1"/>
        </p:nvSpPr>
        <p:spPr bwMode="auto">
          <a:xfrm>
            <a:off x="7845426" y="4868154"/>
            <a:ext cx="1298575" cy="2753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lgn="r" rtl="1" eaLnBrk="1" hangingPunct="1">
              <a:lnSpc>
                <a:spcPct val="93000"/>
              </a:lnSpc>
              <a:buClr>
                <a:srgbClr val="000000"/>
              </a:buClr>
              <a:buSzPct val="100000"/>
              <a:buFont typeface="Times New Roman" pitchFamily="18" charset="0"/>
              <a:buNone/>
            </a:pPr>
            <a:fld id="{2F4D2785-A076-4F3E-A175-152D0C56177B}" type="slidenum">
              <a:rPr kumimoji="1" lang="en-US" sz="1350" b="1" i="1" smtClean="0">
                <a:solidFill>
                  <a:schemeClr val="bg1"/>
                </a:solidFill>
                <a:latin typeface="Arial" pitchFamily="34" charset="0"/>
                <a:ea typeface="HY헤드라인M"/>
                <a:cs typeface="Arial" pitchFamily="34" charset="0"/>
              </a:rPr>
              <a:pPr algn="r" rtl="1" eaLnBrk="1" hangingPunct="1">
                <a:lnSpc>
                  <a:spcPct val="93000"/>
                </a:lnSpc>
                <a:buClr>
                  <a:srgbClr val="000000"/>
                </a:buClr>
                <a:buSzPct val="100000"/>
                <a:buFont typeface="Times New Roman" pitchFamily="18" charset="0"/>
                <a:buNone/>
              </a:pPr>
              <a:t>‹#›</a:t>
            </a:fld>
            <a:r>
              <a:rPr kumimoji="1" lang="en-US" sz="1350" b="1" i="1" baseline="0" dirty="0">
                <a:solidFill>
                  <a:schemeClr val="bg1"/>
                </a:solidFill>
                <a:latin typeface="Arial" pitchFamily="34" charset="0"/>
                <a:ea typeface="HY헤드라인M"/>
                <a:cs typeface="Arial" pitchFamily="34" charset="0"/>
              </a:rPr>
              <a:t>   </a:t>
            </a:r>
            <a:endParaRPr kumimoji="1" lang="en-US" sz="1350" b="1" i="1" dirty="0">
              <a:solidFill>
                <a:schemeClr val="bg1"/>
              </a:solidFill>
              <a:latin typeface="Arial" pitchFamily="34" charset="0"/>
              <a:ea typeface="HY헤드라인M"/>
              <a:cs typeface="Arial" pitchFamily="34" charset="0"/>
            </a:endParaRPr>
          </a:p>
        </p:txBody>
      </p:sp>
    </p:spTree>
    <p:extLst>
      <p:ext uri="{BB962C8B-B14F-4D97-AF65-F5344CB8AC3E}">
        <p14:creationId xmlns:p14="http://schemas.microsoft.com/office/powerpoint/2010/main" val="19413005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kumimoji="1"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r>
              <a:rPr kumimoji="1" lang="zh-CN" altLang="en-US"/>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1" lang="zh-CN" altLang="en-US"/>
              <a:t>单击此处编辑母版标题样式</a:t>
            </a:r>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p:spPr>
        <p:txBody>
          <a:bodyPr anchor="b"/>
          <a:lstStyle>
            <a:lvl1pPr algn="l">
              <a:defRPr sz="2000" b="1"/>
            </a:lvl1pPr>
          </a:lstStyle>
          <a:p>
            <a:r>
              <a:rPr kumimoji="1" lang="zh-CN" altLang="en-US"/>
              <a:t>单击此处编辑母版标题样式</a:t>
            </a:r>
          </a:p>
        </p:txBody>
      </p:sp>
      <p:sp>
        <p:nvSpPr>
          <p:cNvPr id="3" name="内容占位符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p:spPr>
        <p:txBody>
          <a:bodyPr anchor="b"/>
          <a:lstStyle>
            <a:lvl1pPr algn="l">
              <a:defRPr sz="2000" b="1"/>
            </a:lvl1pPr>
          </a:lstStyle>
          <a:p>
            <a:r>
              <a:rPr kumimoji="1" lang="zh-CN" altLang="en-US"/>
              <a:t>单击此处编辑母版标题样式</a:t>
            </a:r>
          </a:p>
        </p:txBody>
      </p:sp>
      <p:sp>
        <p:nvSpPr>
          <p:cNvPr id="3" name="图片占位符 2"/>
          <p:cNvSpPr>
            <a:spLocks noGrp="1"/>
          </p:cNvSpPr>
          <p:nvPr>
            <p:ph type="pic" idx="1"/>
          </p:nvPr>
        </p:nvSpPr>
        <p:spPr>
          <a:xfrm>
            <a:off x="1792288" y="46037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457200" y="206375"/>
            <a:ext cx="6019800" cy="4387850"/>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063C8DC4-18BC-0D4D-A11F-7E4BCE236F69}"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2.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4284A8E-C955-1241-9771-F374C2C0C855}"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87" r:id="rId27"/>
  </p:sldLayoutIdLst>
  <p:hf hdr="0" ftr="0" dt="0"/>
  <p:txStyles>
    <p:titleStyle>
      <a:lvl1pPr algn="ctr" defTabSz="457200" rtl="0" eaLnBrk="1" latinLnBrk="0" hangingPunct="1">
        <a:spcBef>
          <a:spcPct val="0"/>
        </a:spcBef>
        <a:buNone/>
        <a:defRPr sz="2800" kern="1200">
          <a:solidFill>
            <a:schemeClr val="tx1"/>
          </a:solidFill>
          <a:latin typeface="方正兰亭圆简体_准" panose="02000000000000000000" charset="-122"/>
          <a:ea typeface="方正兰亭圆简体_准" panose="02000000000000000000" charset="-122"/>
          <a:cs typeface="FZLanTingHei-R-GBK" panose="02000000000000000000" pitchFamily="2" charset="-122"/>
        </a:defRPr>
      </a:lvl1pPr>
    </p:titleStyle>
    <p:bodyStyle>
      <a:lvl1pPr marL="0" indent="0" algn="l" defTabSz="457200" rtl="0" eaLnBrk="1" latinLnBrk="0" hangingPunct="1">
        <a:spcBef>
          <a:spcPct val="20000"/>
        </a:spcBef>
        <a:buFont typeface="Arial" panose="020B0604020202020204"/>
        <a:buNone/>
        <a:defRPr sz="3200" b="0" i="0" kern="1200">
          <a:solidFill>
            <a:schemeClr val="tx1"/>
          </a:solidFill>
          <a:latin typeface="方正兰亭圆简体_准" panose="02000000000000000000" charset="-122"/>
          <a:ea typeface="方正兰亭圆简体_准" panose="02000000000000000000" charset="-122"/>
          <a:cs typeface="+mn-cs"/>
        </a:defRPr>
      </a:lvl1pPr>
      <a:lvl2pPr marL="457200" indent="0" algn="l" defTabSz="457200" rtl="0" eaLnBrk="1" latinLnBrk="0" hangingPunct="1">
        <a:spcBef>
          <a:spcPct val="20000"/>
        </a:spcBef>
        <a:buFont typeface="Arial" panose="020B0604020202020204"/>
        <a:buNone/>
        <a:defRPr sz="2800" b="0" i="0" kern="1200">
          <a:solidFill>
            <a:schemeClr val="tx1"/>
          </a:solidFill>
          <a:latin typeface="方正兰亭圆简体_准" panose="02000000000000000000" charset="-122"/>
          <a:ea typeface="方正兰亭圆简体_准" panose="02000000000000000000" charset="-122"/>
          <a:cs typeface="+mn-cs"/>
        </a:defRPr>
      </a:lvl2pPr>
      <a:lvl3pPr marL="914400" indent="0" algn="l" defTabSz="457200" rtl="0" eaLnBrk="1" latinLnBrk="0" hangingPunct="1">
        <a:spcBef>
          <a:spcPct val="20000"/>
        </a:spcBef>
        <a:buFont typeface="Arial" panose="020B0604020202020204"/>
        <a:buNone/>
        <a:defRPr sz="2400" b="0" i="0" kern="1200">
          <a:solidFill>
            <a:schemeClr val="tx1"/>
          </a:solidFill>
          <a:latin typeface="方正兰亭圆简体_准" panose="02000000000000000000" charset="-122"/>
          <a:ea typeface="方正兰亭圆简体_准" panose="02000000000000000000" charset="-122"/>
          <a:cs typeface="+mn-cs"/>
        </a:defRPr>
      </a:lvl3pPr>
      <a:lvl4pPr marL="1371600" indent="0" algn="l" defTabSz="457200" rtl="0" eaLnBrk="1" latinLnBrk="0" hangingPunct="1">
        <a:spcBef>
          <a:spcPct val="20000"/>
        </a:spcBef>
        <a:buFont typeface="Arial" panose="020B0604020202020204"/>
        <a:buNone/>
        <a:defRPr sz="2000" b="0" i="0" kern="1200">
          <a:solidFill>
            <a:schemeClr val="tx1"/>
          </a:solidFill>
          <a:latin typeface="方正兰亭圆简体_准" panose="02000000000000000000" charset="-122"/>
          <a:ea typeface="方正兰亭圆简体_准" panose="02000000000000000000" charset="-122"/>
          <a:cs typeface="+mn-cs"/>
        </a:defRPr>
      </a:lvl4pPr>
      <a:lvl5pPr marL="1828800" indent="0" algn="l" defTabSz="457200" rtl="0" eaLnBrk="1" latinLnBrk="0" hangingPunct="1">
        <a:spcBef>
          <a:spcPct val="20000"/>
        </a:spcBef>
        <a:buFont typeface="Arial" panose="020B0604020202020204"/>
        <a:buNone/>
        <a:defRPr sz="2000" b="0" i="0" kern="1200">
          <a:solidFill>
            <a:schemeClr val="tx1"/>
          </a:solidFill>
          <a:latin typeface="方正兰亭圆简体_准" panose="02000000000000000000" charset="-122"/>
          <a:ea typeface="方正兰亭圆简体_准" panose="02000000000000000000" charset="-122"/>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zh-CN" altLang="en-US"/>
          </a:p>
        </p:txBody>
      </p:sp>
      <p:sp>
        <p:nvSpPr>
          <p:cNvPr id="5" name="页脚占位符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063C8DC4-18BC-0D4D-A11F-7E4BCE236F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15.emf"/><Relationship Id="rId4" Type="http://schemas.openxmlformats.org/officeDocument/2006/relationships/image" Target="../media/image14.tmp"/></Relationships>
</file>

<file path=ppt/slides/_rels/slide4.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3.tmp"/><Relationship Id="rId1" Type="http://schemas.openxmlformats.org/officeDocument/2006/relationships/slideLayout" Target="../slideLayouts/slideLayout5.xml"/><Relationship Id="rId4" Type="http://schemas.openxmlformats.org/officeDocument/2006/relationships/image" Target="../media/image18.emf"/></Relationships>
</file>

<file path=ppt/slides/_rels/slide6.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tmp"/><Relationship Id="rId1" Type="http://schemas.openxmlformats.org/officeDocument/2006/relationships/slideLayout" Target="../slideLayouts/slideLayout5.xml"/><Relationship Id="rId4" Type="http://schemas.openxmlformats.org/officeDocument/2006/relationships/image" Target="../media/image21.emf"/></Relationships>
</file>

<file path=ppt/slides/_rels/slide7.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55.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73.tmp"/><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76.png"/></Relationships>
</file>

<file path=ppt/slides/_rels/slide5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78.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83.png"/></Relationships>
</file>

<file path=ppt/slides/_rels/slide6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5.xml"/><Relationship Id="rId1" Type="http://schemas.openxmlformats.org/officeDocument/2006/relationships/slideLayout" Target="../slideLayouts/slideLayout5.xml"/><Relationship Id="rId5" Type="http://schemas.openxmlformats.org/officeDocument/2006/relationships/image" Target="../media/image87.png"/><Relationship Id="rId4" Type="http://schemas.openxmlformats.org/officeDocument/2006/relationships/image" Target="../media/image86.png"/></Relationships>
</file>

<file path=ppt/slides/_rels/slide6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b="1" dirty="0">
                <a:latin typeface="Times New Roman" charset="0"/>
              </a:rPr>
              <a:t>数字系统设计</a:t>
            </a:r>
            <a:endParaRPr kumimoji="1" lang="zh-CN" altLang="en-US" dirty="0"/>
          </a:p>
        </p:txBody>
      </p:sp>
      <p:sp>
        <p:nvSpPr>
          <p:cNvPr id="3" name="文本占位符 2"/>
          <p:cNvSpPr>
            <a:spLocks noGrp="1"/>
          </p:cNvSpPr>
          <p:nvPr>
            <p:ph type="body" idx="1"/>
          </p:nvPr>
        </p:nvSpPr>
        <p:spPr/>
        <p:txBody>
          <a:bodyPr/>
          <a:lstStyle/>
          <a:p>
            <a:r>
              <a:rPr kumimoji="1" lang="en-US" altLang="zh-CN" b="1" dirty="0">
                <a:solidFill>
                  <a:srgbClr val="FFFF00"/>
                </a:solidFill>
                <a:latin typeface="Microsoft YaHei" panose="020B0503020204020204" pitchFamily="34" charset="-122"/>
                <a:ea typeface="Microsoft YaHei" panose="020B0503020204020204" pitchFamily="34" charset="-122"/>
              </a:rPr>
              <a:t>06-</a:t>
            </a:r>
            <a:r>
              <a:rPr kumimoji="1" lang="zh-CN" altLang="en-US" b="1" dirty="0">
                <a:solidFill>
                  <a:srgbClr val="FFFF00"/>
                </a:solidFill>
                <a:latin typeface="Microsoft YaHei" panose="020B0503020204020204" pitchFamily="34" charset="-122"/>
                <a:ea typeface="Microsoft YaHei" panose="020B0503020204020204" pitchFamily="34" charset="-122"/>
              </a:rPr>
              <a:t>加速器</a:t>
            </a:r>
          </a:p>
        </p:txBody>
      </p:sp>
      <p:pic>
        <p:nvPicPr>
          <p:cNvPr id="4" name="图片 3" descr="f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7678" y="841204"/>
            <a:ext cx="4322834" cy="4322834"/>
          </a:xfrm>
          <a:prstGeom prst="rect">
            <a:avLst/>
          </a:prstGeom>
        </p:spPr>
      </p:pic>
      <p:sp>
        <p:nvSpPr>
          <p:cNvPr id="5" name="文本占位符 2">
            <a:extLst>
              <a:ext uri="{FF2B5EF4-FFF2-40B4-BE49-F238E27FC236}">
                <a16:creationId xmlns:a16="http://schemas.microsoft.com/office/drawing/2014/main" id="{BE060671-8739-1F48-9C97-E9D0B6C9EB19}"/>
              </a:ext>
            </a:extLst>
          </p:cNvPr>
          <p:cNvSpPr txBox="1">
            <a:spLocks/>
          </p:cNvSpPr>
          <p:nvPr/>
        </p:nvSpPr>
        <p:spPr>
          <a:xfrm>
            <a:off x="400000" y="3615866"/>
            <a:ext cx="7772400" cy="648072"/>
          </a:xfrm>
          <a:prstGeom prst="rect">
            <a:avLst/>
          </a:prstGeom>
        </p:spPr>
        <p:txBody>
          <a:bodyPr vert="horz" lIns="0" tIns="0" rIns="0" bIns="0" rtlCol="0" anchor="t" anchorCtr="0">
            <a:noAutofit/>
          </a:bodyPr>
          <a:lstStyle>
            <a:lvl1pPr marL="0" indent="0" algn="l" defTabSz="457200" rtl="0" eaLnBrk="1" latinLnBrk="0" hangingPunct="1">
              <a:spcBef>
                <a:spcPct val="20000"/>
              </a:spcBef>
              <a:buFont typeface="Arial" panose="020B0604020202020204"/>
              <a:buNone/>
              <a:defRPr sz="2700" b="0" i="0" kern="1200" baseline="0">
                <a:solidFill>
                  <a:srgbClr val="1190FF"/>
                </a:solidFill>
                <a:latin typeface="方正兰亭圆简体_准" panose="02000000000000000000" charset="-122"/>
                <a:ea typeface="方正兰亭圆简体_准" panose="02000000000000000000" charset="-122"/>
                <a:cs typeface="FZLanTingHei-R-GBK" panose="02000000000000000000" pitchFamily="2" charset="-122"/>
              </a:defRPr>
            </a:lvl1pPr>
            <a:lvl2pPr marL="457200" indent="0" algn="l" defTabSz="457200" rtl="0" eaLnBrk="1" latinLnBrk="0" hangingPunct="1">
              <a:spcBef>
                <a:spcPct val="20000"/>
              </a:spcBef>
              <a:buFont typeface="Arial" panose="020B0604020202020204"/>
              <a:buNone/>
              <a:defRPr sz="1800" b="0" i="0" kern="1200">
                <a:solidFill>
                  <a:schemeClr val="tx1">
                    <a:tint val="75000"/>
                  </a:schemeClr>
                </a:solidFill>
                <a:latin typeface="方正兰亭圆简体_准" panose="02000000000000000000" charset="-122"/>
                <a:ea typeface="方正兰亭圆简体_准" panose="02000000000000000000" charset="-122"/>
                <a:cs typeface="+mn-cs"/>
              </a:defRPr>
            </a:lvl2pPr>
            <a:lvl3pPr marL="914400" indent="0" algn="l" defTabSz="457200" rtl="0" eaLnBrk="1" latinLnBrk="0" hangingPunct="1">
              <a:spcBef>
                <a:spcPct val="20000"/>
              </a:spcBef>
              <a:buFont typeface="Arial" panose="020B0604020202020204"/>
              <a:buNone/>
              <a:defRPr sz="1600" b="0" i="0" kern="1200">
                <a:solidFill>
                  <a:schemeClr val="tx1">
                    <a:tint val="75000"/>
                  </a:schemeClr>
                </a:solidFill>
                <a:latin typeface="方正兰亭圆简体_准" panose="02000000000000000000" charset="-122"/>
                <a:ea typeface="方正兰亭圆简体_准" panose="02000000000000000000" charset="-122"/>
                <a:cs typeface="+mn-cs"/>
              </a:defRPr>
            </a:lvl3pPr>
            <a:lvl4pPr marL="1371600" indent="0" algn="l" defTabSz="457200" rtl="0" eaLnBrk="1" latinLnBrk="0" hangingPunct="1">
              <a:spcBef>
                <a:spcPct val="20000"/>
              </a:spcBef>
              <a:buFont typeface="Arial" panose="020B0604020202020204"/>
              <a:buNone/>
              <a:defRPr sz="1400" b="0" i="0" kern="1200">
                <a:solidFill>
                  <a:schemeClr val="tx1">
                    <a:tint val="75000"/>
                  </a:schemeClr>
                </a:solidFill>
                <a:latin typeface="方正兰亭圆简体_准" panose="02000000000000000000" charset="-122"/>
                <a:ea typeface="方正兰亭圆简体_准" panose="02000000000000000000" charset="-122"/>
                <a:cs typeface="+mn-cs"/>
              </a:defRPr>
            </a:lvl4pPr>
            <a:lvl5pPr marL="1828800" indent="0" algn="l" defTabSz="457200" rtl="0" eaLnBrk="1" latinLnBrk="0" hangingPunct="1">
              <a:spcBef>
                <a:spcPct val="20000"/>
              </a:spcBef>
              <a:buFont typeface="Arial" panose="020B0604020202020204"/>
              <a:buNone/>
              <a:defRPr sz="1400" b="0" i="0" kern="1200">
                <a:solidFill>
                  <a:schemeClr val="tx1">
                    <a:tint val="75000"/>
                  </a:schemeClr>
                </a:solidFill>
                <a:latin typeface="方正兰亭圆简体_准" panose="02000000000000000000" charset="-122"/>
                <a:ea typeface="方正兰亭圆简体_准" panose="02000000000000000000" charset="-122"/>
                <a:cs typeface="+mn-cs"/>
              </a:defRPr>
            </a:lvl5pPr>
            <a:lvl6pPr marL="22860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9pPr>
          </a:lstStyle>
          <a:p>
            <a:r>
              <a:rPr kumimoji="1" lang="zh-CN" altLang="en-US" sz="2400" dirty="0">
                <a:solidFill>
                  <a:schemeClr val="bg1"/>
                </a:solidFill>
                <a:latin typeface="Microsoft YaHei" panose="020B0503020204020204" pitchFamily="34" charset="-122"/>
                <a:ea typeface="Microsoft YaHei" panose="020B0503020204020204" pitchFamily="34" charset="-122"/>
              </a:rPr>
              <a:t>贾弘洋 </a:t>
            </a:r>
            <a:r>
              <a:rPr kumimoji="1" lang="en-US" altLang="zh-CN" sz="2400" dirty="0">
                <a:solidFill>
                  <a:schemeClr val="bg1"/>
                </a:solidFill>
                <a:latin typeface="Microsoft YaHei" panose="020B0503020204020204" pitchFamily="34" charset="-122"/>
                <a:ea typeface="Microsoft YaHei" panose="020B0503020204020204" pitchFamily="34" charset="-122"/>
              </a:rPr>
              <a:t>&amp; </a:t>
            </a:r>
            <a:r>
              <a:rPr kumimoji="1" lang="zh-CN" altLang="en-US" sz="2400" dirty="0">
                <a:solidFill>
                  <a:schemeClr val="bg1"/>
                </a:solidFill>
                <a:latin typeface="Microsoft YaHei" panose="020B0503020204020204" pitchFamily="34" charset="-122"/>
                <a:ea typeface="Microsoft YaHei" panose="020B0503020204020204" pitchFamily="34" charset="-122"/>
              </a:rPr>
              <a:t>刘勇攀</a:t>
            </a:r>
            <a:endParaRPr kumimoji="1" lang="en-US" altLang="zh-CN" sz="2400" dirty="0">
              <a:solidFill>
                <a:schemeClr val="bg1"/>
              </a:solidFill>
              <a:latin typeface="Microsoft YaHei" panose="020B0503020204020204" pitchFamily="34" charset="-122"/>
              <a:ea typeface="Microsoft YaHei" panose="020B0503020204020204" pitchFamily="34" charset="-122"/>
            </a:endParaRPr>
          </a:p>
          <a:p>
            <a:r>
              <a:rPr kumimoji="1" lang="en-US" altLang="zh-CN" sz="2400" dirty="0">
                <a:solidFill>
                  <a:schemeClr val="bg1"/>
                </a:solidFill>
                <a:latin typeface="Microsoft YaHei" panose="020B0503020204020204" pitchFamily="34" charset="-122"/>
                <a:ea typeface="Microsoft YaHei" panose="020B0503020204020204" pitchFamily="34" charset="-122"/>
              </a:rPr>
              <a:t>2025/03/25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Review: Data Reuse</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图片 4">
            <a:extLst>
              <a:ext uri="{FF2B5EF4-FFF2-40B4-BE49-F238E27FC236}">
                <a16:creationId xmlns:a16="http://schemas.microsoft.com/office/drawing/2014/main" id="{A02638AB-2A03-488D-AB2E-04044CAD59CF}"/>
              </a:ext>
            </a:extLst>
          </p:cNvPr>
          <p:cNvPicPr>
            <a:picLocks noChangeAspect="1"/>
          </p:cNvPicPr>
          <p:nvPr/>
        </p:nvPicPr>
        <p:blipFill>
          <a:blip r:embed="rId3"/>
          <a:stretch>
            <a:fillRect/>
          </a:stretch>
        </p:blipFill>
        <p:spPr>
          <a:xfrm>
            <a:off x="899592" y="908828"/>
            <a:ext cx="6935270" cy="2972259"/>
          </a:xfrm>
          <a:prstGeom prst="rect">
            <a:avLst/>
          </a:prstGeom>
        </p:spPr>
      </p:pic>
      <p:sp>
        <p:nvSpPr>
          <p:cNvPr id="6" name="文本框 5">
            <a:extLst>
              <a:ext uri="{FF2B5EF4-FFF2-40B4-BE49-F238E27FC236}">
                <a16:creationId xmlns:a16="http://schemas.microsoft.com/office/drawing/2014/main" id="{DB33DECA-59BF-462A-97E5-3C62DCCC87B3}"/>
              </a:ext>
            </a:extLst>
          </p:cNvPr>
          <p:cNvSpPr txBox="1"/>
          <p:nvPr/>
        </p:nvSpPr>
        <p:spPr>
          <a:xfrm>
            <a:off x="2497413" y="4201948"/>
            <a:ext cx="4149173" cy="369332"/>
          </a:xfrm>
          <a:prstGeom prst="rect">
            <a:avLst/>
          </a:prstGeom>
          <a:noFill/>
        </p:spPr>
        <p:txBody>
          <a:bodyPr wrap="square">
            <a:spAutoFit/>
          </a:bodyPr>
          <a:lstStyle/>
          <a:p>
            <a:r>
              <a:rPr lang="zh-CN" altLang="en-US" dirty="0"/>
              <a:t>尽可能减少访问</a:t>
            </a:r>
            <a:r>
              <a:rPr lang="en-US" altLang="zh-CN" dirty="0"/>
              <a:t>Buffer</a:t>
            </a:r>
            <a:r>
              <a:rPr lang="zh-CN" altLang="en-US" dirty="0"/>
              <a:t>和</a:t>
            </a:r>
            <a:r>
              <a:rPr lang="en-US" altLang="zh-CN" dirty="0"/>
              <a:t>DRAM</a:t>
            </a:r>
            <a:r>
              <a:rPr lang="zh-CN" altLang="en-US" dirty="0"/>
              <a:t>的次数</a:t>
            </a:r>
          </a:p>
        </p:txBody>
      </p:sp>
    </p:spTree>
    <p:extLst>
      <p:ext uri="{BB962C8B-B14F-4D97-AF65-F5344CB8AC3E}">
        <p14:creationId xmlns:p14="http://schemas.microsoft.com/office/powerpoint/2010/main" val="4278663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F1F2D66-2470-4C57-B402-2BC15D678A06}"/>
              </a:ext>
            </a:extLst>
          </p:cNvPr>
          <p:cNvPicPr>
            <a:picLocks noChangeAspect="1"/>
          </p:cNvPicPr>
          <p:nvPr/>
        </p:nvPicPr>
        <p:blipFill>
          <a:blip r:embed="rId3"/>
          <a:stretch>
            <a:fillRect/>
          </a:stretch>
        </p:blipFill>
        <p:spPr>
          <a:xfrm>
            <a:off x="323528" y="1123048"/>
            <a:ext cx="8712968" cy="1316119"/>
          </a:xfrm>
          <a:prstGeom prst="rect">
            <a:avLst/>
          </a:prstGeom>
        </p:spPr>
      </p:pic>
      <p:sp>
        <p:nvSpPr>
          <p:cNvPr id="2" name="标题 1"/>
          <p:cNvSpPr>
            <a:spLocks noGrp="1"/>
          </p:cNvSpPr>
          <p:nvPr>
            <p:ph type="title"/>
          </p:nvPr>
        </p:nvSpPr>
        <p:spPr>
          <a:xfrm>
            <a:off x="467544" y="339502"/>
            <a:ext cx="4968552" cy="569326"/>
          </a:xfrm>
        </p:spPr>
        <p:txBody>
          <a:bodyPr>
            <a:normAutofit/>
          </a:bodyPr>
          <a:lstStyle/>
          <a:p>
            <a:r>
              <a:rPr kumimoji="1" lang="en-US" altLang="zh-CN" dirty="0"/>
              <a:t>Review: Data Reuse</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2CCF8C5-15AB-4D46-958E-5C671B0681C5}"/>
              </a:ext>
            </a:extLst>
          </p:cNvPr>
          <p:cNvSpPr txBox="1"/>
          <p:nvPr/>
        </p:nvSpPr>
        <p:spPr>
          <a:xfrm>
            <a:off x="251520" y="786301"/>
            <a:ext cx="1784527" cy="402546"/>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en-US" altLang="zh-CN" dirty="0"/>
              <a:t>No data reuse</a:t>
            </a:r>
          </a:p>
        </p:txBody>
      </p:sp>
      <p:pic>
        <p:nvPicPr>
          <p:cNvPr id="8" name="图片 7">
            <a:extLst>
              <a:ext uri="{FF2B5EF4-FFF2-40B4-BE49-F238E27FC236}">
                <a16:creationId xmlns:a16="http://schemas.microsoft.com/office/drawing/2014/main" id="{04F10866-F163-4F2C-B0AB-BA7FA6E21B3B}"/>
              </a:ext>
            </a:extLst>
          </p:cNvPr>
          <p:cNvPicPr>
            <a:picLocks noChangeAspect="1"/>
          </p:cNvPicPr>
          <p:nvPr/>
        </p:nvPicPr>
        <p:blipFill>
          <a:blip r:embed="rId4"/>
          <a:stretch>
            <a:fillRect/>
          </a:stretch>
        </p:blipFill>
        <p:spPr>
          <a:xfrm>
            <a:off x="221449" y="2274300"/>
            <a:ext cx="3168352" cy="2140957"/>
          </a:xfrm>
          <a:prstGeom prst="rect">
            <a:avLst/>
          </a:prstGeom>
        </p:spPr>
      </p:pic>
      <p:pic>
        <p:nvPicPr>
          <p:cNvPr id="7" name="图片 6">
            <a:extLst>
              <a:ext uri="{FF2B5EF4-FFF2-40B4-BE49-F238E27FC236}">
                <a16:creationId xmlns:a16="http://schemas.microsoft.com/office/drawing/2014/main" id="{0BCB82B3-D78C-4F76-B96A-33AB79C0643A}"/>
              </a:ext>
            </a:extLst>
          </p:cNvPr>
          <p:cNvPicPr>
            <a:picLocks noChangeAspect="1"/>
          </p:cNvPicPr>
          <p:nvPr/>
        </p:nvPicPr>
        <p:blipFill>
          <a:blip r:embed="rId5"/>
          <a:stretch>
            <a:fillRect/>
          </a:stretch>
        </p:blipFill>
        <p:spPr>
          <a:xfrm>
            <a:off x="3892842" y="2139702"/>
            <a:ext cx="5207335" cy="2410151"/>
          </a:xfrm>
          <a:prstGeom prst="rect">
            <a:avLst/>
          </a:prstGeom>
        </p:spPr>
      </p:pic>
      <p:sp>
        <p:nvSpPr>
          <p:cNvPr id="12" name="文本框 11">
            <a:extLst>
              <a:ext uri="{FF2B5EF4-FFF2-40B4-BE49-F238E27FC236}">
                <a16:creationId xmlns:a16="http://schemas.microsoft.com/office/drawing/2014/main" id="{469D5064-32CD-4B53-8533-2EFD185109A8}"/>
              </a:ext>
            </a:extLst>
          </p:cNvPr>
          <p:cNvSpPr txBox="1"/>
          <p:nvPr/>
        </p:nvSpPr>
        <p:spPr>
          <a:xfrm>
            <a:off x="6093351" y="4591440"/>
            <a:ext cx="649793" cy="402546"/>
          </a:xfrm>
          <a:prstGeom prst="rect">
            <a:avLst/>
          </a:prstGeom>
          <a:noFill/>
        </p:spPr>
        <p:txBody>
          <a:bodyPr wrap="none" rtlCol="0">
            <a:spAutoFit/>
          </a:bodyPr>
          <a:lstStyle/>
          <a:p>
            <a:pPr>
              <a:lnSpc>
                <a:spcPct val="120000"/>
              </a:lnSpc>
            </a:pPr>
            <a:r>
              <a:rPr lang="en-US" altLang="zh-CN" dirty="0"/>
              <a:t>cycle</a:t>
            </a:r>
          </a:p>
        </p:txBody>
      </p:sp>
      <p:sp>
        <p:nvSpPr>
          <p:cNvPr id="14" name="文本框 13">
            <a:extLst>
              <a:ext uri="{FF2B5EF4-FFF2-40B4-BE49-F238E27FC236}">
                <a16:creationId xmlns:a16="http://schemas.microsoft.com/office/drawing/2014/main" id="{1BB9A430-8F84-4CD6-B107-0C3AEF1D4EDC}"/>
              </a:ext>
            </a:extLst>
          </p:cNvPr>
          <p:cNvSpPr txBox="1"/>
          <p:nvPr/>
        </p:nvSpPr>
        <p:spPr>
          <a:xfrm rot="16200000">
            <a:off x="2868424" y="3143504"/>
            <a:ext cx="1687578" cy="402546"/>
          </a:xfrm>
          <a:prstGeom prst="rect">
            <a:avLst/>
          </a:prstGeom>
          <a:noFill/>
        </p:spPr>
        <p:txBody>
          <a:bodyPr wrap="none" rtlCol="0">
            <a:spAutoFit/>
          </a:bodyPr>
          <a:lstStyle/>
          <a:p>
            <a:pPr>
              <a:lnSpc>
                <a:spcPct val="120000"/>
              </a:lnSpc>
            </a:pPr>
            <a:r>
              <a:rPr lang="en-US" altLang="zh-CN" dirty="0"/>
              <a:t>Reference index</a:t>
            </a:r>
          </a:p>
        </p:txBody>
      </p:sp>
      <p:sp>
        <p:nvSpPr>
          <p:cNvPr id="3" name="文本框 2">
            <a:extLst>
              <a:ext uri="{FF2B5EF4-FFF2-40B4-BE49-F238E27FC236}">
                <a16:creationId xmlns:a16="http://schemas.microsoft.com/office/drawing/2014/main" id="{88DDB391-4259-49E1-AC81-79EBEB02E059}"/>
              </a:ext>
            </a:extLst>
          </p:cNvPr>
          <p:cNvSpPr txBox="1"/>
          <p:nvPr/>
        </p:nvSpPr>
        <p:spPr>
          <a:xfrm>
            <a:off x="755576" y="4591440"/>
            <a:ext cx="3530134" cy="369332"/>
          </a:xfrm>
          <a:prstGeom prst="rect">
            <a:avLst/>
          </a:prstGeom>
          <a:noFill/>
        </p:spPr>
        <p:txBody>
          <a:bodyPr wrap="none" rtlCol="0">
            <a:spAutoFit/>
          </a:bodyPr>
          <a:lstStyle/>
          <a:p>
            <a:r>
              <a:rPr lang="zh-CN" altLang="en-US" dirty="0"/>
              <a:t>每读取一个数，都需要访问</a:t>
            </a:r>
            <a:r>
              <a:rPr lang="en-US" altLang="zh-CN" dirty="0"/>
              <a:t>Buffer</a:t>
            </a:r>
            <a:endParaRPr lang="zh-CN" altLang="en-US" dirty="0"/>
          </a:p>
        </p:txBody>
      </p:sp>
    </p:spTree>
    <p:extLst>
      <p:ext uri="{BB962C8B-B14F-4D97-AF65-F5344CB8AC3E}">
        <p14:creationId xmlns:p14="http://schemas.microsoft.com/office/powerpoint/2010/main" val="2328898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4968552" cy="569326"/>
          </a:xfrm>
        </p:spPr>
        <p:txBody>
          <a:bodyPr>
            <a:normAutofit/>
          </a:bodyPr>
          <a:lstStyle/>
          <a:p>
            <a:r>
              <a:rPr kumimoji="1" lang="en-US" altLang="zh-CN" dirty="0"/>
              <a:t>Review: Data Reuse</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2CCF8C5-15AB-4D46-958E-5C671B0681C5}"/>
              </a:ext>
            </a:extLst>
          </p:cNvPr>
          <p:cNvSpPr txBox="1"/>
          <p:nvPr/>
        </p:nvSpPr>
        <p:spPr>
          <a:xfrm>
            <a:off x="251520" y="786301"/>
            <a:ext cx="1784527" cy="402546"/>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en-US" altLang="zh-CN" dirty="0"/>
              <a:t>No data reuse</a:t>
            </a:r>
          </a:p>
        </p:txBody>
      </p:sp>
      <p:sp>
        <p:nvSpPr>
          <p:cNvPr id="3" name="文本框 2">
            <a:extLst>
              <a:ext uri="{FF2B5EF4-FFF2-40B4-BE49-F238E27FC236}">
                <a16:creationId xmlns:a16="http://schemas.microsoft.com/office/drawing/2014/main" id="{88DDB391-4259-49E1-AC81-79EBEB02E059}"/>
              </a:ext>
            </a:extLst>
          </p:cNvPr>
          <p:cNvSpPr txBox="1"/>
          <p:nvPr/>
        </p:nvSpPr>
        <p:spPr>
          <a:xfrm>
            <a:off x="755576" y="4591440"/>
            <a:ext cx="3530134" cy="369332"/>
          </a:xfrm>
          <a:prstGeom prst="rect">
            <a:avLst/>
          </a:prstGeom>
          <a:noFill/>
        </p:spPr>
        <p:txBody>
          <a:bodyPr wrap="none" rtlCol="0">
            <a:spAutoFit/>
          </a:bodyPr>
          <a:lstStyle/>
          <a:p>
            <a:r>
              <a:rPr lang="zh-CN" altLang="en-US" dirty="0"/>
              <a:t>每读取一个数，都需要访问</a:t>
            </a:r>
            <a:r>
              <a:rPr lang="en-US" altLang="zh-CN" dirty="0"/>
              <a:t>Buffer</a:t>
            </a:r>
            <a:endParaRPr lang="zh-CN" altLang="en-US" dirty="0"/>
          </a:p>
        </p:txBody>
      </p:sp>
      <p:pic>
        <p:nvPicPr>
          <p:cNvPr id="10" name="图片 9">
            <a:extLst>
              <a:ext uri="{FF2B5EF4-FFF2-40B4-BE49-F238E27FC236}">
                <a16:creationId xmlns:a16="http://schemas.microsoft.com/office/drawing/2014/main" id="{2B73F6FB-45B9-456F-994C-D4B1B0BC59C6}"/>
              </a:ext>
            </a:extLst>
          </p:cNvPr>
          <p:cNvPicPr>
            <a:picLocks noChangeAspect="1"/>
          </p:cNvPicPr>
          <p:nvPr/>
        </p:nvPicPr>
        <p:blipFill>
          <a:blip r:embed="rId3"/>
          <a:stretch>
            <a:fillRect/>
          </a:stretch>
        </p:blipFill>
        <p:spPr>
          <a:xfrm>
            <a:off x="750048" y="1195078"/>
            <a:ext cx="7361656" cy="3437493"/>
          </a:xfrm>
          <a:prstGeom prst="rect">
            <a:avLst/>
          </a:prstGeom>
        </p:spPr>
      </p:pic>
    </p:spTree>
    <p:extLst>
      <p:ext uri="{BB962C8B-B14F-4D97-AF65-F5344CB8AC3E}">
        <p14:creationId xmlns:p14="http://schemas.microsoft.com/office/powerpoint/2010/main" val="2202713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06A14EE9-5F89-49D6-881C-B134534720E7}"/>
              </a:ext>
            </a:extLst>
          </p:cNvPr>
          <p:cNvPicPr>
            <a:picLocks noChangeAspect="1"/>
          </p:cNvPicPr>
          <p:nvPr/>
        </p:nvPicPr>
        <p:blipFill rotWithShape="1">
          <a:blip r:embed="rId2"/>
          <a:srcRect l="60744"/>
          <a:stretch/>
        </p:blipFill>
        <p:spPr>
          <a:xfrm>
            <a:off x="234342" y="1236979"/>
            <a:ext cx="3420380" cy="1316119"/>
          </a:xfrm>
          <a:prstGeom prst="rect">
            <a:avLst/>
          </a:prstGeom>
        </p:spPr>
      </p:pic>
      <p:sp>
        <p:nvSpPr>
          <p:cNvPr id="2" name="标题 1"/>
          <p:cNvSpPr>
            <a:spLocks noGrp="1"/>
          </p:cNvSpPr>
          <p:nvPr>
            <p:ph type="title"/>
          </p:nvPr>
        </p:nvSpPr>
        <p:spPr>
          <a:xfrm>
            <a:off x="467544" y="339502"/>
            <a:ext cx="5256584" cy="569326"/>
          </a:xfrm>
        </p:spPr>
        <p:txBody>
          <a:bodyPr>
            <a:normAutofit fontScale="90000"/>
          </a:bodyPr>
          <a:lstStyle/>
          <a:p>
            <a:r>
              <a:rPr kumimoji="1" lang="en-US" altLang="zh-CN" dirty="0"/>
              <a:t>Review: output stationary dataflow</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2CCF8C5-15AB-4D46-958E-5C671B0681C5}"/>
              </a:ext>
            </a:extLst>
          </p:cNvPr>
          <p:cNvSpPr txBox="1"/>
          <p:nvPr/>
        </p:nvSpPr>
        <p:spPr>
          <a:xfrm>
            <a:off x="251520" y="786301"/>
            <a:ext cx="3025187" cy="402546"/>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en-US" altLang="zh-CN" dirty="0"/>
              <a:t>Reuse for output activation</a:t>
            </a:r>
          </a:p>
        </p:txBody>
      </p:sp>
      <p:sp>
        <p:nvSpPr>
          <p:cNvPr id="14" name="文本框 13">
            <a:extLst>
              <a:ext uri="{FF2B5EF4-FFF2-40B4-BE49-F238E27FC236}">
                <a16:creationId xmlns:a16="http://schemas.microsoft.com/office/drawing/2014/main" id="{1BB9A430-8F84-4CD6-B107-0C3AEF1D4EDC}"/>
              </a:ext>
            </a:extLst>
          </p:cNvPr>
          <p:cNvSpPr txBox="1"/>
          <p:nvPr/>
        </p:nvSpPr>
        <p:spPr>
          <a:xfrm rot="16200000">
            <a:off x="3012206" y="3178902"/>
            <a:ext cx="1687578" cy="402546"/>
          </a:xfrm>
          <a:prstGeom prst="rect">
            <a:avLst/>
          </a:prstGeom>
          <a:noFill/>
        </p:spPr>
        <p:txBody>
          <a:bodyPr wrap="none" rtlCol="0">
            <a:spAutoFit/>
          </a:bodyPr>
          <a:lstStyle/>
          <a:p>
            <a:pPr>
              <a:lnSpc>
                <a:spcPct val="120000"/>
              </a:lnSpc>
            </a:pPr>
            <a:r>
              <a:rPr lang="en-US" altLang="zh-CN" dirty="0"/>
              <a:t>Reference index</a:t>
            </a:r>
          </a:p>
        </p:txBody>
      </p:sp>
      <p:pic>
        <p:nvPicPr>
          <p:cNvPr id="6" name="图片 5">
            <a:extLst>
              <a:ext uri="{FF2B5EF4-FFF2-40B4-BE49-F238E27FC236}">
                <a16:creationId xmlns:a16="http://schemas.microsoft.com/office/drawing/2014/main" id="{C06CB1F7-381E-4815-9851-CD212DFFEC76}"/>
              </a:ext>
            </a:extLst>
          </p:cNvPr>
          <p:cNvPicPr>
            <a:picLocks noChangeAspect="1"/>
          </p:cNvPicPr>
          <p:nvPr/>
        </p:nvPicPr>
        <p:blipFill>
          <a:blip r:embed="rId3"/>
          <a:stretch>
            <a:fillRect/>
          </a:stretch>
        </p:blipFill>
        <p:spPr>
          <a:xfrm>
            <a:off x="96828" y="2322582"/>
            <a:ext cx="3553382" cy="2146375"/>
          </a:xfrm>
          <a:prstGeom prst="rect">
            <a:avLst/>
          </a:prstGeom>
        </p:spPr>
      </p:pic>
      <p:pic>
        <p:nvPicPr>
          <p:cNvPr id="11" name="图片 10">
            <a:extLst>
              <a:ext uri="{FF2B5EF4-FFF2-40B4-BE49-F238E27FC236}">
                <a16:creationId xmlns:a16="http://schemas.microsoft.com/office/drawing/2014/main" id="{B0988FA3-8467-48D2-B4FB-EAD051617FB3}"/>
              </a:ext>
            </a:extLst>
          </p:cNvPr>
          <p:cNvPicPr>
            <a:picLocks noChangeAspect="1"/>
          </p:cNvPicPr>
          <p:nvPr/>
        </p:nvPicPr>
        <p:blipFill>
          <a:blip r:embed="rId4"/>
          <a:stretch>
            <a:fillRect/>
          </a:stretch>
        </p:blipFill>
        <p:spPr>
          <a:xfrm>
            <a:off x="4136975" y="2259767"/>
            <a:ext cx="4888845" cy="2325482"/>
          </a:xfrm>
          <a:prstGeom prst="rect">
            <a:avLst/>
          </a:prstGeom>
        </p:spPr>
      </p:pic>
      <p:sp>
        <p:nvSpPr>
          <p:cNvPr id="10" name="文本框 9">
            <a:extLst>
              <a:ext uri="{FF2B5EF4-FFF2-40B4-BE49-F238E27FC236}">
                <a16:creationId xmlns:a16="http://schemas.microsoft.com/office/drawing/2014/main" id="{FFBC5AC4-5A41-433F-B89D-0A0CEE3F0F6E}"/>
              </a:ext>
            </a:extLst>
          </p:cNvPr>
          <p:cNvSpPr txBox="1"/>
          <p:nvPr/>
        </p:nvSpPr>
        <p:spPr>
          <a:xfrm>
            <a:off x="1691680" y="4585249"/>
            <a:ext cx="6696744" cy="369332"/>
          </a:xfrm>
          <a:prstGeom prst="rect">
            <a:avLst/>
          </a:prstGeom>
          <a:noFill/>
        </p:spPr>
        <p:txBody>
          <a:bodyPr wrap="square">
            <a:spAutoFit/>
          </a:bodyPr>
          <a:lstStyle/>
          <a:p>
            <a:r>
              <a:rPr lang="zh-CN" altLang="en-US" dirty="0"/>
              <a:t>每一轮只需要访问</a:t>
            </a:r>
            <a:r>
              <a:rPr lang="en-US" altLang="zh-CN" dirty="0"/>
              <a:t>OA REG</a:t>
            </a:r>
            <a:r>
              <a:rPr lang="zh-CN" altLang="en-US" dirty="0"/>
              <a:t>，直到累加完成最后写入</a:t>
            </a:r>
            <a:r>
              <a:rPr lang="en-US" altLang="zh-CN" dirty="0"/>
              <a:t>OA Buffer</a:t>
            </a:r>
            <a:endParaRPr lang="zh-CN" altLang="en-US" dirty="0"/>
          </a:p>
        </p:txBody>
      </p:sp>
      <p:cxnSp>
        <p:nvCxnSpPr>
          <p:cNvPr id="7" name="直接箭头连接符 6">
            <a:extLst>
              <a:ext uri="{FF2B5EF4-FFF2-40B4-BE49-F238E27FC236}">
                <a16:creationId xmlns:a16="http://schemas.microsoft.com/office/drawing/2014/main" id="{30450DEE-8431-469B-AA35-3EC3A9C82579}"/>
              </a:ext>
            </a:extLst>
          </p:cNvPr>
          <p:cNvCxnSpPr>
            <a:cxnSpLocks/>
          </p:cNvCxnSpPr>
          <p:nvPr/>
        </p:nvCxnSpPr>
        <p:spPr>
          <a:xfrm flipH="1">
            <a:off x="5641444" y="3575886"/>
            <a:ext cx="792088" cy="10093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469D5064-32CD-4B53-8533-2EFD185109A8}"/>
              </a:ext>
            </a:extLst>
          </p:cNvPr>
          <p:cNvSpPr txBox="1"/>
          <p:nvPr/>
        </p:nvSpPr>
        <p:spPr>
          <a:xfrm>
            <a:off x="6256500" y="4022691"/>
            <a:ext cx="649793" cy="402546"/>
          </a:xfrm>
          <a:prstGeom prst="rect">
            <a:avLst/>
          </a:prstGeom>
          <a:noFill/>
        </p:spPr>
        <p:txBody>
          <a:bodyPr wrap="none" rtlCol="0">
            <a:spAutoFit/>
          </a:bodyPr>
          <a:lstStyle/>
          <a:p>
            <a:pPr>
              <a:lnSpc>
                <a:spcPct val="120000"/>
              </a:lnSpc>
            </a:pPr>
            <a:r>
              <a:rPr lang="en-US" altLang="zh-CN" dirty="0"/>
              <a:t>cycle</a:t>
            </a:r>
          </a:p>
        </p:txBody>
      </p:sp>
    </p:spTree>
    <p:extLst>
      <p:ext uri="{BB962C8B-B14F-4D97-AF65-F5344CB8AC3E}">
        <p14:creationId xmlns:p14="http://schemas.microsoft.com/office/powerpoint/2010/main" val="1996390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763FCEF3-CD5A-4F7D-A8DF-21779FA7777B}"/>
              </a:ext>
            </a:extLst>
          </p:cNvPr>
          <p:cNvPicPr>
            <a:picLocks noChangeAspect="1"/>
          </p:cNvPicPr>
          <p:nvPr/>
        </p:nvPicPr>
        <p:blipFill rotWithShape="1">
          <a:blip r:embed="rId2"/>
          <a:srcRect l="60042"/>
          <a:stretch/>
        </p:blipFill>
        <p:spPr>
          <a:xfrm>
            <a:off x="179512" y="1120965"/>
            <a:ext cx="3438168" cy="1083205"/>
          </a:xfrm>
          <a:prstGeom prst="rect">
            <a:avLst/>
          </a:prstGeom>
        </p:spPr>
      </p:pic>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2CCF8C5-15AB-4D46-958E-5C671B0681C5}"/>
              </a:ext>
            </a:extLst>
          </p:cNvPr>
          <p:cNvSpPr txBox="1"/>
          <p:nvPr/>
        </p:nvSpPr>
        <p:spPr>
          <a:xfrm>
            <a:off x="251520" y="748664"/>
            <a:ext cx="2136867" cy="402546"/>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en-US" altLang="zh-CN" dirty="0"/>
              <a:t>Reuse for weights</a:t>
            </a:r>
          </a:p>
        </p:txBody>
      </p:sp>
      <p:sp>
        <p:nvSpPr>
          <p:cNvPr id="14" name="文本框 13">
            <a:extLst>
              <a:ext uri="{FF2B5EF4-FFF2-40B4-BE49-F238E27FC236}">
                <a16:creationId xmlns:a16="http://schemas.microsoft.com/office/drawing/2014/main" id="{1BB9A430-8F84-4CD6-B107-0C3AEF1D4EDC}"/>
              </a:ext>
            </a:extLst>
          </p:cNvPr>
          <p:cNvSpPr txBox="1"/>
          <p:nvPr/>
        </p:nvSpPr>
        <p:spPr>
          <a:xfrm rot="16200000">
            <a:off x="3094889" y="3027745"/>
            <a:ext cx="1687578" cy="402546"/>
          </a:xfrm>
          <a:prstGeom prst="rect">
            <a:avLst/>
          </a:prstGeom>
          <a:noFill/>
        </p:spPr>
        <p:txBody>
          <a:bodyPr wrap="none" rtlCol="0">
            <a:spAutoFit/>
          </a:bodyPr>
          <a:lstStyle/>
          <a:p>
            <a:pPr>
              <a:lnSpc>
                <a:spcPct val="120000"/>
              </a:lnSpc>
            </a:pPr>
            <a:r>
              <a:rPr lang="en-US" altLang="zh-CN" dirty="0"/>
              <a:t>Reference index</a:t>
            </a:r>
          </a:p>
        </p:txBody>
      </p:sp>
      <p:pic>
        <p:nvPicPr>
          <p:cNvPr id="10" name="图片 9">
            <a:extLst>
              <a:ext uri="{FF2B5EF4-FFF2-40B4-BE49-F238E27FC236}">
                <a16:creationId xmlns:a16="http://schemas.microsoft.com/office/drawing/2014/main" id="{FDCBBCAD-2250-4BF0-8310-19FB308F0CD3}"/>
              </a:ext>
            </a:extLst>
          </p:cNvPr>
          <p:cNvPicPr>
            <a:picLocks noChangeAspect="1"/>
          </p:cNvPicPr>
          <p:nvPr/>
        </p:nvPicPr>
        <p:blipFill>
          <a:blip r:embed="rId3"/>
          <a:stretch>
            <a:fillRect/>
          </a:stretch>
        </p:blipFill>
        <p:spPr>
          <a:xfrm>
            <a:off x="233876" y="1926342"/>
            <a:ext cx="3566036" cy="2538440"/>
          </a:xfrm>
          <a:prstGeom prst="rect">
            <a:avLst/>
          </a:prstGeom>
        </p:spPr>
      </p:pic>
      <p:pic>
        <p:nvPicPr>
          <p:cNvPr id="7" name="图片 6">
            <a:extLst>
              <a:ext uri="{FF2B5EF4-FFF2-40B4-BE49-F238E27FC236}">
                <a16:creationId xmlns:a16="http://schemas.microsoft.com/office/drawing/2014/main" id="{1B3FB601-1D1A-4036-A763-68AF6085B162}"/>
              </a:ext>
            </a:extLst>
          </p:cNvPr>
          <p:cNvPicPr>
            <a:picLocks noChangeAspect="1"/>
          </p:cNvPicPr>
          <p:nvPr/>
        </p:nvPicPr>
        <p:blipFill>
          <a:blip r:embed="rId4"/>
          <a:stretch>
            <a:fillRect/>
          </a:stretch>
        </p:blipFill>
        <p:spPr>
          <a:xfrm>
            <a:off x="4110980" y="2074718"/>
            <a:ext cx="5033020" cy="2256181"/>
          </a:xfrm>
          <a:prstGeom prst="rect">
            <a:avLst/>
          </a:prstGeom>
        </p:spPr>
      </p:pic>
      <p:sp>
        <p:nvSpPr>
          <p:cNvPr id="15" name="标题 1">
            <a:extLst>
              <a:ext uri="{FF2B5EF4-FFF2-40B4-BE49-F238E27FC236}">
                <a16:creationId xmlns:a16="http://schemas.microsoft.com/office/drawing/2014/main" id="{C40E35DC-A903-4757-A371-5C5F8BF45D0C}"/>
              </a:ext>
            </a:extLst>
          </p:cNvPr>
          <p:cNvSpPr txBox="1">
            <a:spLocks/>
          </p:cNvSpPr>
          <p:nvPr/>
        </p:nvSpPr>
        <p:spPr>
          <a:xfrm>
            <a:off x="467544" y="339502"/>
            <a:ext cx="5256584" cy="569326"/>
          </a:xfrm>
          <a:prstGeom prst="rect">
            <a:avLst/>
          </a:prstGeom>
        </p:spPr>
        <p:txBody>
          <a:bodyPr vert="horz" lIns="0" tIns="0" rIns="0" bIns="0" rtlCol="0" anchor="t" anchorCtr="0">
            <a:normAutofit fontScale="90000"/>
          </a:bodyPr>
          <a:lstStyle>
            <a:lvl1pPr algn="l" defTabSz="457200" rtl="0" eaLnBrk="1" latinLnBrk="0" hangingPunct="1">
              <a:spcBef>
                <a:spcPct val="0"/>
              </a:spcBef>
              <a:buNone/>
              <a:defRPr sz="2600" kern="12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en-US" altLang="zh-CN" dirty="0"/>
              <a:t>Review: weight stationary dataflow</a:t>
            </a:r>
            <a:endParaRPr kumimoji="1" lang="zh-CN" altLang="en-US" dirty="0"/>
          </a:p>
        </p:txBody>
      </p:sp>
      <p:sp>
        <p:nvSpPr>
          <p:cNvPr id="12" name="文本框 11">
            <a:extLst>
              <a:ext uri="{FF2B5EF4-FFF2-40B4-BE49-F238E27FC236}">
                <a16:creationId xmlns:a16="http://schemas.microsoft.com/office/drawing/2014/main" id="{469D5064-32CD-4B53-8533-2EFD185109A8}"/>
              </a:ext>
            </a:extLst>
          </p:cNvPr>
          <p:cNvSpPr txBox="1"/>
          <p:nvPr/>
        </p:nvSpPr>
        <p:spPr>
          <a:xfrm>
            <a:off x="6322387" y="3871534"/>
            <a:ext cx="649793" cy="402546"/>
          </a:xfrm>
          <a:prstGeom prst="rect">
            <a:avLst/>
          </a:prstGeom>
          <a:noFill/>
        </p:spPr>
        <p:txBody>
          <a:bodyPr wrap="none" rtlCol="0">
            <a:spAutoFit/>
          </a:bodyPr>
          <a:lstStyle/>
          <a:p>
            <a:pPr>
              <a:lnSpc>
                <a:spcPct val="120000"/>
              </a:lnSpc>
            </a:pPr>
            <a:r>
              <a:rPr lang="en-US" altLang="zh-CN" dirty="0"/>
              <a:t>cycle</a:t>
            </a:r>
          </a:p>
        </p:txBody>
      </p:sp>
      <p:sp>
        <p:nvSpPr>
          <p:cNvPr id="8" name="矩形 7">
            <a:extLst>
              <a:ext uri="{FF2B5EF4-FFF2-40B4-BE49-F238E27FC236}">
                <a16:creationId xmlns:a16="http://schemas.microsoft.com/office/drawing/2014/main" id="{94C25C18-2193-48ED-A147-F241AB9569B7}"/>
              </a:ext>
            </a:extLst>
          </p:cNvPr>
          <p:cNvSpPr/>
          <p:nvPr/>
        </p:nvSpPr>
        <p:spPr>
          <a:xfrm>
            <a:off x="8004756" y="3452703"/>
            <a:ext cx="360040" cy="155127"/>
          </a:xfrm>
          <a:prstGeom prst="rect">
            <a:avLst/>
          </a:pr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8B572C39-8466-45F9-81D3-CDD487850FC6}"/>
              </a:ext>
            </a:extLst>
          </p:cNvPr>
          <p:cNvCxnSpPr>
            <a:cxnSpLocks/>
          </p:cNvCxnSpPr>
          <p:nvPr/>
        </p:nvCxnSpPr>
        <p:spPr>
          <a:xfrm flipH="1">
            <a:off x="7303441" y="3616616"/>
            <a:ext cx="724943" cy="8319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7A7B0172-5407-41CF-9540-D11B400060DC}"/>
              </a:ext>
            </a:extLst>
          </p:cNvPr>
          <p:cNvSpPr txBox="1"/>
          <p:nvPr/>
        </p:nvSpPr>
        <p:spPr>
          <a:xfrm>
            <a:off x="1619672" y="4557324"/>
            <a:ext cx="7200800" cy="369332"/>
          </a:xfrm>
          <a:prstGeom prst="rect">
            <a:avLst/>
          </a:prstGeom>
          <a:noFill/>
        </p:spPr>
        <p:txBody>
          <a:bodyPr wrap="square">
            <a:spAutoFit/>
          </a:bodyPr>
          <a:lstStyle/>
          <a:p>
            <a:r>
              <a:rPr lang="zh-CN" altLang="en-US" dirty="0"/>
              <a:t>每一轮只需要访问</a:t>
            </a:r>
            <a:r>
              <a:rPr lang="en-US" altLang="zh-CN" dirty="0"/>
              <a:t>W Buffer</a:t>
            </a:r>
            <a:r>
              <a:rPr lang="zh-CN" altLang="en-US" dirty="0"/>
              <a:t>一次，剩下</a:t>
            </a:r>
            <a:r>
              <a:rPr lang="en-US" altLang="zh-CN" dirty="0"/>
              <a:t>Q-1</a:t>
            </a:r>
            <a:r>
              <a:rPr lang="zh-CN" altLang="en-US" dirty="0"/>
              <a:t>次只需要访问</a:t>
            </a:r>
            <a:r>
              <a:rPr lang="en-US" altLang="zh-CN" dirty="0"/>
              <a:t>W REG</a:t>
            </a:r>
            <a:endParaRPr lang="zh-CN" altLang="en-US" dirty="0"/>
          </a:p>
        </p:txBody>
      </p:sp>
    </p:spTree>
    <p:extLst>
      <p:ext uri="{BB962C8B-B14F-4D97-AF65-F5344CB8AC3E}">
        <p14:creationId xmlns:p14="http://schemas.microsoft.com/office/powerpoint/2010/main" val="2256073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2CCF8C5-15AB-4D46-958E-5C671B0681C5}"/>
              </a:ext>
            </a:extLst>
          </p:cNvPr>
          <p:cNvSpPr txBox="1"/>
          <p:nvPr/>
        </p:nvSpPr>
        <p:spPr>
          <a:xfrm>
            <a:off x="251520" y="748664"/>
            <a:ext cx="2969083" cy="402546"/>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en-US" altLang="zh-CN" dirty="0"/>
              <a:t>Reuse for input activations</a:t>
            </a:r>
          </a:p>
        </p:txBody>
      </p:sp>
      <p:sp>
        <p:nvSpPr>
          <p:cNvPr id="15" name="标题 1">
            <a:extLst>
              <a:ext uri="{FF2B5EF4-FFF2-40B4-BE49-F238E27FC236}">
                <a16:creationId xmlns:a16="http://schemas.microsoft.com/office/drawing/2014/main" id="{C40E35DC-A903-4757-A371-5C5F8BF45D0C}"/>
              </a:ext>
            </a:extLst>
          </p:cNvPr>
          <p:cNvSpPr txBox="1">
            <a:spLocks/>
          </p:cNvSpPr>
          <p:nvPr/>
        </p:nvSpPr>
        <p:spPr>
          <a:xfrm>
            <a:off x="467544" y="339502"/>
            <a:ext cx="5256584" cy="569326"/>
          </a:xfrm>
          <a:prstGeom prst="rect">
            <a:avLst/>
          </a:prstGeom>
        </p:spPr>
        <p:txBody>
          <a:bodyPr vert="horz" lIns="0" tIns="0" rIns="0" bIns="0" rtlCol="0" anchor="t" anchorCtr="0">
            <a:normAutofit fontScale="97500"/>
          </a:bodyPr>
          <a:lstStyle>
            <a:lvl1pPr algn="l" defTabSz="457200" rtl="0" eaLnBrk="1" latinLnBrk="0" hangingPunct="1">
              <a:spcBef>
                <a:spcPct val="0"/>
              </a:spcBef>
              <a:buNone/>
              <a:defRPr sz="2600" kern="12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en-US" altLang="zh-CN" dirty="0"/>
              <a:t>Review: input stationary dataflow</a:t>
            </a:r>
            <a:endParaRPr kumimoji="1" lang="zh-CN" altLang="en-US" dirty="0"/>
          </a:p>
        </p:txBody>
      </p:sp>
      <p:sp>
        <p:nvSpPr>
          <p:cNvPr id="40" name="文本框 39">
            <a:extLst>
              <a:ext uri="{FF2B5EF4-FFF2-40B4-BE49-F238E27FC236}">
                <a16:creationId xmlns:a16="http://schemas.microsoft.com/office/drawing/2014/main" id="{6CCAA21D-38C9-411C-917A-CFE8A45794E4}"/>
              </a:ext>
            </a:extLst>
          </p:cNvPr>
          <p:cNvSpPr txBox="1"/>
          <p:nvPr/>
        </p:nvSpPr>
        <p:spPr>
          <a:xfrm>
            <a:off x="70126" y="1228963"/>
            <a:ext cx="2910412" cy="1477328"/>
          </a:xfrm>
          <a:prstGeom prst="rect">
            <a:avLst/>
          </a:prstGeom>
          <a:noFill/>
        </p:spPr>
        <p:txBody>
          <a:bodyPr wrap="none" rtlCol="0">
            <a:spAutoFit/>
          </a:bodyPr>
          <a:lstStyle/>
          <a:p>
            <a:r>
              <a:rPr lang="en-US" altLang="zh-CN" dirty="0">
                <a:solidFill>
                  <a:schemeClr val="accent1"/>
                </a:solidFill>
              </a:rPr>
              <a:t>for</a:t>
            </a:r>
            <a:r>
              <a:rPr lang="en-US" altLang="zh-CN" dirty="0"/>
              <a:t> (w=0; w&lt;W; w++){</a:t>
            </a:r>
          </a:p>
          <a:p>
            <a:r>
              <a:rPr lang="en-US" altLang="zh-CN" dirty="0"/>
              <a:t>    </a:t>
            </a:r>
            <a:r>
              <a:rPr lang="en-US" altLang="zh-CN" dirty="0">
                <a:solidFill>
                  <a:schemeClr val="accent1"/>
                </a:solidFill>
              </a:rPr>
              <a:t>for</a:t>
            </a:r>
            <a:r>
              <a:rPr lang="en-US" altLang="zh-CN" dirty="0"/>
              <a:t> (s=0; s&lt;S; s++){</a:t>
            </a:r>
          </a:p>
          <a:p>
            <a:r>
              <a:rPr lang="en-US" altLang="zh-CN" dirty="0"/>
              <a:t>        </a:t>
            </a:r>
            <a:r>
              <a:rPr lang="en-US" altLang="zh-CN" dirty="0">
                <a:solidFill>
                  <a:srgbClr val="FF0000"/>
                </a:solidFill>
              </a:rPr>
              <a:t>OA[w-s] </a:t>
            </a:r>
            <a:r>
              <a:rPr lang="en-US" altLang="zh-CN" dirty="0"/>
              <a:t>+= </a:t>
            </a:r>
            <a:r>
              <a:rPr lang="en-US" altLang="zh-CN" dirty="0">
                <a:solidFill>
                  <a:schemeClr val="accent1"/>
                </a:solidFill>
              </a:rPr>
              <a:t>IA[w]</a:t>
            </a:r>
            <a:r>
              <a:rPr lang="en-US" altLang="zh-CN" dirty="0"/>
              <a:t> * </a:t>
            </a:r>
            <a:r>
              <a:rPr lang="en-US" altLang="zh-CN" dirty="0">
                <a:solidFill>
                  <a:schemeClr val="accent3">
                    <a:lumMod val="50000"/>
                  </a:schemeClr>
                </a:solidFill>
              </a:rPr>
              <a:t>W[s]</a:t>
            </a:r>
            <a:r>
              <a:rPr lang="en-US" altLang="zh-CN" dirty="0"/>
              <a:t>;</a:t>
            </a:r>
          </a:p>
          <a:p>
            <a:r>
              <a:rPr lang="en-US" altLang="zh-CN" dirty="0"/>
              <a:t>    }</a:t>
            </a:r>
          </a:p>
          <a:p>
            <a:r>
              <a:rPr lang="en-US" altLang="zh-CN" dirty="0"/>
              <a:t>}</a:t>
            </a:r>
            <a:endParaRPr lang="zh-CN" altLang="en-US" dirty="0"/>
          </a:p>
        </p:txBody>
      </p:sp>
      <p:pic>
        <p:nvPicPr>
          <p:cNvPr id="44" name="图片 43">
            <a:extLst>
              <a:ext uri="{FF2B5EF4-FFF2-40B4-BE49-F238E27FC236}">
                <a16:creationId xmlns:a16="http://schemas.microsoft.com/office/drawing/2014/main" id="{B0BD7F06-5894-41F0-881C-05E2399AA0C0}"/>
              </a:ext>
            </a:extLst>
          </p:cNvPr>
          <p:cNvPicPr>
            <a:picLocks noChangeAspect="1"/>
          </p:cNvPicPr>
          <p:nvPr/>
        </p:nvPicPr>
        <p:blipFill>
          <a:blip r:embed="rId2"/>
          <a:stretch>
            <a:fillRect/>
          </a:stretch>
        </p:blipFill>
        <p:spPr>
          <a:xfrm>
            <a:off x="3805698" y="1995686"/>
            <a:ext cx="5306842" cy="2535738"/>
          </a:xfrm>
          <a:prstGeom prst="rect">
            <a:avLst/>
          </a:prstGeom>
        </p:spPr>
      </p:pic>
      <p:sp>
        <p:nvSpPr>
          <p:cNvPr id="45" name="文本框 44">
            <a:extLst>
              <a:ext uri="{FF2B5EF4-FFF2-40B4-BE49-F238E27FC236}">
                <a16:creationId xmlns:a16="http://schemas.microsoft.com/office/drawing/2014/main" id="{41202D20-C28D-492D-93CF-A0D3F7C355BF}"/>
              </a:ext>
            </a:extLst>
          </p:cNvPr>
          <p:cNvSpPr txBox="1"/>
          <p:nvPr/>
        </p:nvSpPr>
        <p:spPr>
          <a:xfrm>
            <a:off x="205298" y="4567671"/>
            <a:ext cx="7200800" cy="369332"/>
          </a:xfrm>
          <a:prstGeom prst="rect">
            <a:avLst/>
          </a:prstGeom>
          <a:noFill/>
        </p:spPr>
        <p:txBody>
          <a:bodyPr wrap="square">
            <a:spAutoFit/>
          </a:bodyPr>
          <a:lstStyle/>
          <a:p>
            <a:r>
              <a:rPr lang="en-US" altLang="zh-CN" dirty="0"/>
              <a:t>w-s</a:t>
            </a:r>
            <a:r>
              <a:rPr lang="zh-CN" altLang="en-US" dirty="0"/>
              <a:t>需要大于</a:t>
            </a:r>
            <a:r>
              <a:rPr lang="en-US" altLang="zh-CN" dirty="0"/>
              <a:t>0</a:t>
            </a:r>
            <a:r>
              <a:rPr lang="zh-CN" altLang="en-US" dirty="0"/>
              <a:t>且小于</a:t>
            </a:r>
            <a:r>
              <a:rPr lang="en-US" altLang="zh-CN" dirty="0"/>
              <a:t>Q</a:t>
            </a:r>
            <a:r>
              <a:rPr lang="zh-CN" altLang="en-US" dirty="0"/>
              <a:t>，因此</a:t>
            </a:r>
            <a:r>
              <a:rPr lang="en-US" altLang="zh-CN" dirty="0"/>
              <a:t>IA</a:t>
            </a:r>
            <a:r>
              <a:rPr lang="zh-CN" altLang="en-US" dirty="0"/>
              <a:t>的每一个元素能复用的次数是不同的</a:t>
            </a:r>
          </a:p>
        </p:txBody>
      </p:sp>
      <p:sp>
        <p:nvSpPr>
          <p:cNvPr id="46" name="矩形 45">
            <a:extLst>
              <a:ext uri="{FF2B5EF4-FFF2-40B4-BE49-F238E27FC236}">
                <a16:creationId xmlns:a16="http://schemas.microsoft.com/office/drawing/2014/main" id="{320DA94A-1DEC-4DFA-AAF1-347DB9B63228}"/>
              </a:ext>
            </a:extLst>
          </p:cNvPr>
          <p:cNvSpPr/>
          <p:nvPr/>
        </p:nvSpPr>
        <p:spPr>
          <a:xfrm>
            <a:off x="6372200" y="3263555"/>
            <a:ext cx="216024" cy="155127"/>
          </a:xfrm>
          <a:prstGeom prst="rect">
            <a:avLst/>
          </a:pr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8C4DA1EE-DBFF-4048-A8CA-AAE08B18FEB3}"/>
              </a:ext>
            </a:extLst>
          </p:cNvPr>
          <p:cNvSpPr/>
          <p:nvPr/>
        </p:nvSpPr>
        <p:spPr>
          <a:xfrm>
            <a:off x="6948264" y="2344615"/>
            <a:ext cx="216024" cy="155127"/>
          </a:xfrm>
          <a:prstGeom prst="rect">
            <a:avLst/>
          </a:pr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48" name="直接箭头连接符 47">
            <a:extLst>
              <a:ext uri="{FF2B5EF4-FFF2-40B4-BE49-F238E27FC236}">
                <a16:creationId xmlns:a16="http://schemas.microsoft.com/office/drawing/2014/main" id="{E88A174A-961A-4271-A766-6A67185E05BE}"/>
              </a:ext>
            </a:extLst>
          </p:cNvPr>
          <p:cNvCxnSpPr>
            <a:cxnSpLocks/>
          </p:cNvCxnSpPr>
          <p:nvPr/>
        </p:nvCxnSpPr>
        <p:spPr>
          <a:xfrm flipH="1">
            <a:off x="6228184" y="3454929"/>
            <a:ext cx="252029" cy="10764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直接箭头连接符 49">
            <a:extLst>
              <a:ext uri="{FF2B5EF4-FFF2-40B4-BE49-F238E27FC236}">
                <a16:creationId xmlns:a16="http://schemas.microsoft.com/office/drawing/2014/main" id="{E5BC8481-3A12-4D12-A346-29007CB802A4}"/>
              </a:ext>
            </a:extLst>
          </p:cNvPr>
          <p:cNvCxnSpPr>
            <a:cxnSpLocks/>
          </p:cNvCxnSpPr>
          <p:nvPr/>
        </p:nvCxnSpPr>
        <p:spPr>
          <a:xfrm flipH="1">
            <a:off x="6372200" y="2510105"/>
            <a:ext cx="750713" cy="20575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9" name="组合 38">
            <a:extLst>
              <a:ext uri="{FF2B5EF4-FFF2-40B4-BE49-F238E27FC236}">
                <a16:creationId xmlns:a16="http://schemas.microsoft.com/office/drawing/2014/main" id="{93C34B54-7BF2-4439-8213-962386015232}"/>
              </a:ext>
            </a:extLst>
          </p:cNvPr>
          <p:cNvGrpSpPr/>
          <p:nvPr/>
        </p:nvGrpSpPr>
        <p:grpSpPr>
          <a:xfrm>
            <a:off x="31460" y="2310897"/>
            <a:ext cx="3491579" cy="1735816"/>
            <a:chOff x="4879220" y="2350585"/>
            <a:chExt cx="3491579" cy="1735816"/>
          </a:xfrm>
        </p:grpSpPr>
        <p:sp>
          <p:nvSpPr>
            <p:cNvPr id="2" name="矩形 1">
              <a:extLst>
                <a:ext uri="{FF2B5EF4-FFF2-40B4-BE49-F238E27FC236}">
                  <a16:creationId xmlns:a16="http://schemas.microsoft.com/office/drawing/2014/main" id="{06854309-DCD0-4228-9608-F2CC84F6705D}"/>
                </a:ext>
              </a:extLst>
            </p:cNvPr>
            <p:cNvSpPr/>
            <p:nvPr/>
          </p:nvSpPr>
          <p:spPr>
            <a:xfrm>
              <a:off x="4879220" y="2350585"/>
              <a:ext cx="1493872" cy="492293"/>
            </a:xfrm>
            <a:prstGeom prst="rect">
              <a:avLst/>
            </a:prstGeom>
            <a:solidFill>
              <a:schemeClr val="accent3">
                <a:lumMod val="60000"/>
                <a:lumOff val="40000"/>
              </a:schemeClr>
            </a:solidFill>
            <a:ln w="12700">
              <a:solidFill>
                <a:schemeClr val="accent1">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ln w="0"/>
                  <a:solidFill>
                    <a:schemeClr val="tx1"/>
                  </a:solidFill>
                  <a:effectLst>
                    <a:outerShdw blurRad="38100" dist="19050" dir="2700000" algn="tl" rotWithShape="0">
                      <a:schemeClr val="dk1">
                        <a:alpha val="40000"/>
                      </a:schemeClr>
                    </a:outerShdw>
                  </a:effectLst>
                </a:rPr>
                <a:t>Weight</a:t>
              </a:r>
            </a:p>
            <a:p>
              <a:pPr algn="ctr"/>
              <a:r>
                <a:rPr lang="en-US" altLang="zh-CN" sz="1400" dirty="0">
                  <a:ln w="0"/>
                  <a:solidFill>
                    <a:schemeClr val="tx1"/>
                  </a:solidFill>
                  <a:effectLst>
                    <a:outerShdw blurRad="38100" dist="19050" dir="2700000" algn="tl" rotWithShape="0">
                      <a:schemeClr val="dk1">
                        <a:alpha val="40000"/>
                      </a:schemeClr>
                    </a:outerShdw>
                  </a:effectLst>
                </a:rPr>
                <a:t>Buffer</a:t>
              </a:r>
              <a:endParaRPr lang="zh-CN" altLang="en-US" sz="1400" dirty="0">
                <a:ln w="0"/>
                <a:solidFill>
                  <a:schemeClr val="tx1"/>
                </a:solidFill>
                <a:effectLst>
                  <a:outerShdw blurRad="38100" dist="19050" dir="2700000" algn="tl" rotWithShape="0">
                    <a:schemeClr val="dk1">
                      <a:alpha val="40000"/>
                    </a:schemeClr>
                  </a:outerShdw>
                </a:effectLst>
              </a:endParaRPr>
            </a:p>
          </p:txBody>
        </p:sp>
        <p:sp>
          <p:nvSpPr>
            <p:cNvPr id="19" name="矩形 18">
              <a:extLst>
                <a:ext uri="{FF2B5EF4-FFF2-40B4-BE49-F238E27FC236}">
                  <a16:creationId xmlns:a16="http://schemas.microsoft.com/office/drawing/2014/main" id="{498A51FC-5974-49BC-B223-18507E1C8464}"/>
                </a:ext>
              </a:extLst>
            </p:cNvPr>
            <p:cNvSpPr/>
            <p:nvPr/>
          </p:nvSpPr>
          <p:spPr>
            <a:xfrm>
              <a:off x="4879220" y="2982487"/>
              <a:ext cx="1493872" cy="492293"/>
            </a:xfrm>
            <a:prstGeom prst="rect">
              <a:avLst/>
            </a:prstGeom>
            <a:solidFill>
              <a:schemeClr val="accent1">
                <a:lumMod val="60000"/>
                <a:lumOff val="40000"/>
              </a:schemeClr>
            </a:solidFill>
            <a:ln w="12700">
              <a:solidFill>
                <a:schemeClr val="accent1">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ln w="0"/>
                  <a:solidFill>
                    <a:schemeClr val="tx1"/>
                  </a:solidFill>
                  <a:effectLst>
                    <a:outerShdw blurRad="38100" dist="19050" dir="2700000" algn="tl" rotWithShape="0">
                      <a:schemeClr val="dk1">
                        <a:alpha val="40000"/>
                      </a:schemeClr>
                    </a:outerShdw>
                  </a:effectLst>
                </a:rPr>
                <a:t>Input Activation</a:t>
              </a:r>
            </a:p>
            <a:p>
              <a:pPr algn="ctr"/>
              <a:r>
                <a:rPr lang="en-US" altLang="zh-CN" sz="1400" dirty="0">
                  <a:ln w="0"/>
                  <a:solidFill>
                    <a:schemeClr val="tx1"/>
                  </a:solidFill>
                  <a:effectLst>
                    <a:outerShdw blurRad="38100" dist="19050" dir="2700000" algn="tl" rotWithShape="0">
                      <a:schemeClr val="dk1">
                        <a:alpha val="40000"/>
                      </a:schemeClr>
                    </a:outerShdw>
                  </a:effectLst>
                </a:rPr>
                <a:t>Buffer</a:t>
              </a:r>
              <a:endParaRPr lang="zh-CN" altLang="en-US" sz="1400" dirty="0">
                <a:ln w="0"/>
                <a:solidFill>
                  <a:schemeClr val="tx1"/>
                </a:solidFill>
                <a:effectLst>
                  <a:outerShdw blurRad="38100" dist="19050" dir="2700000" algn="tl" rotWithShape="0">
                    <a:schemeClr val="dk1">
                      <a:alpha val="40000"/>
                    </a:schemeClr>
                  </a:outerShdw>
                </a:effectLst>
              </a:endParaRPr>
            </a:p>
          </p:txBody>
        </p:sp>
        <p:sp>
          <p:nvSpPr>
            <p:cNvPr id="20" name="矩形 19">
              <a:extLst>
                <a:ext uri="{FF2B5EF4-FFF2-40B4-BE49-F238E27FC236}">
                  <a16:creationId xmlns:a16="http://schemas.microsoft.com/office/drawing/2014/main" id="{F41205CF-BB28-400E-B299-CF9879ACB9CA}"/>
                </a:ext>
              </a:extLst>
            </p:cNvPr>
            <p:cNvSpPr/>
            <p:nvPr/>
          </p:nvSpPr>
          <p:spPr>
            <a:xfrm>
              <a:off x="4879220" y="3594108"/>
              <a:ext cx="1493872" cy="492293"/>
            </a:xfrm>
            <a:prstGeom prst="rect">
              <a:avLst/>
            </a:prstGeom>
            <a:solidFill>
              <a:srgbClr val="FF0000"/>
            </a:solidFill>
            <a:ln w="12700">
              <a:solidFill>
                <a:schemeClr val="accent1">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400" dirty="0">
                  <a:ln w="0"/>
                  <a:solidFill>
                    <a:schemeClr val="tx1"/>
                  </a:solidFill>
                  <a:effectLst>
                    <a:outerShdw blurRad="38100" dist="19050" dir="2700000" algn="tl" rotWithShape="0">
                      <a:schemeClr val="dk1">
                        <a:alpha val="40000"/>
                      </a:schemeClr>
                    </a:outerShdw>
                  </a:effectLst>
                </a:rPr>
                <a:t>Output Activation</a:t>
              </a:r>
            </a:p>
            <a:p>
              <a:pPr algn="ctr"/>
              <a:r>
                <a:rPr lang="en-US" altLang="zh-CN" sz="1400" dirty="0">
                  <a:ln w="0"/>
                  <a:solidFill>
                    <a:schemeClr val="tx1"/>
                  </a:solidFill>
                  <a:effectLst>
                    <a:outerShdw blurRad="38100" dist="19050" dir="2700000" algn="tl" rotWithShape="0">
                      <a:schemeClr val="dk1">
                        <a:alpha val="40000"/>
                      </a:schemeClr>
                    </a:outerShdw>
                  </a:effectLst>
                </a:rPr>
                <a:t>Buffer</a:t>
              </a:r>
              <a:endParaRPr lang="zh-CN" altLang="en-US" sz="1400" dirty="0">
                <a:ln w="0"/>
                <a:solidFill>
                  <a:schemeClr val="tx1"/>
                </a:solidFill>
                <a:effectLst>
                  <a:outerShdw blurRad="38100" dist="19050" dir="2700000" algn="tl" rotWithShape="0">
                    <a:schemeClr val="dk1">
                      <a:alpha val="40000"/>
                    </a:schemeClr>
                  </a:outerShdw>
                </a:effectLst>
              </a:endParaRPr>
            </a:p>
          </p:txBody>
        </p:sp>
        <p:grpSp>
          <p:nvGrpSpPr>
            <p:cNvPr id="9" name="组合 8">
              <a:extLst>
                <a:ext uri="{FF2B5EF4-FFF2-40B4-BE49-F238E27FC236}">
                  <a16:creationId xmlns:a16="http://schemas.microsoft.com/office/drawing/2014/main" id="{1809EE88-C64C-4677-ADD4-7ABBB9532C58}"/>
                </a:ext>
              </a:extLst>
            </p:cNvPr>
            <p:cNvGrpSpPr/>
            <p:nvPr/>
          </p:nvGrpSpPr>
          <p:grpSpPr>
            <a:xfrm>
              <a:off x="7812360" y="2949415"/>
              <a:ext cx="558439" cy="558439"/>
              <a:chOff x="7812360" y="2949415"/>
              <a:chExt cx="558439" cy="558439"/>
            </a:xfrm>
          </p:grpSpPr>
          <p:sp>
            <p:nvSpPr>
              <p:cNvPr id="3" name="椭圆 2">
                <a:extLst>
                  <a:ext uri="{FF2B5EF4-FFF2-40B4-BE49-F238E27FC236}">
                    <a16:creationId xmlns:a16="http://schemas.microsoft.com/office/drawing/2014/main" id="{25E971C3-F494-4118-9C06-877B048C5076}"/>
                  </a:ext>
                </a:extLst>
              </p:cNvPr>
              <p:cNvSpPr/>
              <p:nvPr/>
            </p:nvSpPr>
            <p:spPr>
              <a:xfrm>
                <a:off x="7812360" y="2949415"/>
                <a:ext cx="558439" cy="558439"/>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800" dirty="0"/>
              </a:p>
            </p:txBody>
          </p:sp>
          <p:sp>
            <p:nvSpPr>
              <p:cNvPr id="6" name="文本框 5">
                <a:extLst>
                  <a:ext uri="{FF2B5EF4-FFF2-40B4-BE49-F238E27FC236}">
                    <a16:creationId xmlns:a16="http://schemas.microsoft.com/office/drawing/2014/main" id="{8E52A4BD-BC81-4D17-8F08-2F9BE90DE180}"/>
                  </a:ext>
                </a:extLst>
              </p:cNvPr>
              <p:cNvSpPr txBox="1"/>
              <p:nvPr/>
            </p:nvSpPr>
            <p:spPr>
              <a:xfrm>
                <a:off x="7812360" y="3074745"/>
                <a:ext cx="537583" cy="307777"/>
              </a:xfrm>
              <a:prstGeom prst="rect">
                <a:avLst/>
              </a:prstGeom>
              <a:noFill/>
            </p:spPr>
            <p:txBody>
              <a:bodyPr wrap="none" rtlCol="0">
                <a:spAutoFit/>
              </a:bodyPr>
              <a:lstStyle/>
              <a:p>
                <a:r>
                  <a:rPr lang="en-US" altLang="zh-CN" sz="1400" dirty="0"/>
                  <a:t>MAC</a:t>
                </a:r>
                <a:endParaRPr lang="zh-CN" altLang="en-US" sz="1400" dirty="0"/>
              </a:p>
            </p:txBody>
          </p:sp>
        </p:grpSp>
        <p:cxnSp>
          <p:nvCxnSpPr>
            <p:cNvPr id="13" name="连接符: 肘形 12">
              <a:extLst>
                <a:ext uri="{FF2B5EF4-FFF2-40B4-BE49-F238E27FC236}">
                  <a16:creationId xmlns:a16="http://schemas.microsoft.com/office/drawing/2014/main" id="{9E3D9650-5274-4DA7-87D9-368C4F36C01F}"/>
                </a:ext>
              </a:extLst>
            </p:cNvPr>
            <p:cNvCxnSpPr>
              <a:stCxn id="2" idx="3"/>
              <a:endCxn id="3" idx="0"/>
            </p:cNvCxnSpPr>
            <p:nvPr/>
          </p:nvCxnSpPr>
          <p:spPr>
            <a:xfrm>
              <a:off x="6373092" y="2596732"/>
              <a:ext cx="1718488" cy="352683"/>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4" name="连接符: 肘形 23">
              <a:extLst>
                <a:ext uri="{FF2B5EF4-FFF2-40B4-BE49-F238E27FC236}">
                  <a16:creationId xmlns:a16="http://schemas.microsoft.com/office/drawing/2014/main" id="{ED722B36-6BB9-4B95-80C1-1A561B9B2558}"/>
                </a:ext>
              </a:extLst>
            </p:cNvPr>
            <p:cNvCxnSpPr>
              <a:stCxn id="3" idx="4"/>
              <a:endCxn id="20" idx="3"/>
            </p:cNvCxnSpPr>
            <p:nvPr/>
          </p:nvCxnSpPr>
          <p:spPr>
            <a:xfrm rot="5400000">
              <a:off x="7066136" y="2814810"/>
              <a:ext cx="332401" cy="171848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6" name="连接符: 肘形 25">
              <a:extLst>
                <a:ext uri="{FF2B5EF4-FFF2-40B4-BE49-F238E27FC236}">
                  <a16:creationId xmlns:a16="http://schemas.microsoft.com/office/drawing/2014/main" id="{AEFF3D5D-0577-42D1-8467-B7442882D871}"/>
                </a:ext>
              </a:extLst>
            </p:cNvPr>
            <p:cNvCxnSpPr>
              <a:stCxn id="20" idx="2"/>
              <a:endCxn id="3" idx="6"/>
            </p:cNvCxnSpPr>
            <p:nvPr/>
          </p:nvCxnSpPr>
          <p:spPr>
            <a:xfrm rot="5400000" flipH="1" flipV="1">
              <a:off x="6569594" y="2285196"/>
              <a:ext cx="857766" cy="2744643"/>
            </a:xfrm>
            <a:prstGeom prst="bentConnector4">
              <a:avLst>
                <a:gd name="adj1" fmla="val -26651"/>
                <a:gd name="adj2" fmla="val 108329"/>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接箭头连接符 27">
              <a:extLst>
                <a:ext uri="{FF2B5EF4-FFF2-40B4-BE49-F238E27FC236}">
                  <a16:creationId xmlns:a16="http://schemas.microsoft.com/office/drawing/2014/main" id="{C756AC35-EAD4-4535-AF84-87D624AB0409}"/>
                </a:ext>
              </a:extLst>
            </p:cNvPr>
            <p:cNvCxnSpPr>
              <a:cxnSpLocks/>
              <a:stCxn id="19" idx="3"/>
              <a:endCxn id="31" idx="1"/>
            </p:cNvCxnSpPr>
            <p:nvPr/>
          </p:nvCxnSpPr>
          <p:spPr>
            <a:xfrm>
              <a:off x="6373092" y="3228634"/>
              <a:ext cx="575172" cy="32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1" name="矩形 30">
              <a:extLst>
                <a:ext uri="{FF2B5EF4-FFF2-40B4-BE49-F238E27FC236}">
                  <a16:creationId xmlns:a16="http://schemas.microsoft.com/office/drawing/2014/main" id="{A8C2CAD4-78D7-40D3-8E85-9BB5395F12A5}"/>
                </a:ext>
              </a:extLst>
            </p:cNvPr>
            <p:cNvSpPr/>
            <p:nvPr/>
          </p:nvSpPr>
          <p:spPr>
            <a:xfrm>
              <a:off x="6948264" y="2985688"/>
              <a:ext cx="432048" cy="49229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050" dirty="0">
                  <a:ln w="0"/>
                  <a:solidFill>
                    <a:schemeClr val="tx1"/>
                  </a:solidFill>
                  <a:effectLst>
                    <a:outerShdw blurRad="38100" dist="19050" dir="2700000" algn="tl" rotWithShape="0">
                      <a:schemeClr val="dk1">
                        <a:alpha val="40000"/>
                      </a:schemeClr>
                    </a:outerShdw>
                  </a:effectLst>
                </a:rPr>
                <a:t>IA REG</a:t>
              </a:r>
              <a:endParaRPr lang="zh-CN" altLang="en-US" sz="1050" dirty="0">
                <a:ln w="0"/>
                <a:solidFill>
                  <a:schemeClr val="tx1"/>
                </a:solidFill>
                <a:effectLst>
                  <a:outerShdw blurRad="38100" dist="19050" dir="2700000" algn="tl" rotWithShape="0">
                    <a:schemeClr val="dk1">
                      <a:alpha val="40000"/>
                    </a:schemeClr>
                  </a:outerShdw>
                </a:effectLst>
              </a:endParaRPr>
            </a:p>
          </p:txBody>
        </p:sp>
        <p:cxnSp>
          <p:nvCxnSpPr>
            <p:cNvPr id="33" name="直接箭头连接符 32">
              <a:extLst>
                <a:ext uri="{FF2B5EF4-FFF2-40B4-BE49-F238E27FC236}">
                  <a16:creationId xmlns:a16="http://schemas.microsoft.com/office/drawing/2014/main" id="{AF79BCAE-BB92-4974-9CF5-3CB9A026126A}"/>
                </a:ext>
              </a:extLst>
            </p:cNvPr>
            <p:cNvCxnSpPr>
              <a:cxnSpLocks/>
              <a:stCxn id="31" idx="3"/>
              <a:endCxn id="6" idx="1"/>
            </p:cNvCxnSpPr>
            <p:nvPr/>
          </p:nvCxnSpPr>
          <p:spPr>
            <a:xfrm flipV="1">
              <a:off x="7380312" y="3228634"/>
              <a:ext cx="432048" cy="32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375107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2CCF8C5-15AB-4D46-958E-5C671B0681C5}"/>
              </a:ext>
            </a:extLst>
          </p:cNvPr>
          <p:cNvSpPr txBox="1"/>
          <p:nvPr/>
        </p:nvSpPr>
        <p:spPr>
          <a:xfrm>
            <a:off x="251520" y="748664"/>
            <a:ext cx="2786917" cy="402546"/>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en-US" altLang="zh-CN" dirty="0"/>
              <a:t>The data reuse in </a:t>
            </a:r>
            <a:r>
              <a:rPr lang="en-US" altLang="zh-CN" dirty="0" err="1"/>
              <a:t>eyeriss</a:t>
            </a:r>
            <a:endParaRPr lang="en-US" altLang="zh-CN" dirty="0"/>
          </a:p>
        </p:txBody>
      </p:sp>
      <p:sp>
        <p:nvSpPr>
          <p:cNvPr id="15" name="标题 1">
            <a:extLst>
              <a:ext uri="{FF2B5EF4-FFF2-40B4-BE49-F238E27FC236}">
                <a16:creationId xmlns:a16="http://schemas.microsoft.com/office/drawing/2014/main" id="{C40E35DC-A903-4757-A371-5C5F8BF45D0C}"/>
              </a:ext>
            </a:extLst>
          </p:cNvPr>
          <p:cNvSpPr txBox="1">
            <a:spLocks/>
          </p:cNvSpPr>
          <p:nvPr/>
        </p:nvSpPr>
        <p:spPr>
          <a:xfrm>
            <a:off x="467544" y="339502"/>
            <a:ext cx="5256584" cy="569326"/>
          </a:xfrm>
          <a:prstGeom prst="rect">
            <a:avLst/>
          </a:prstGeom>
        </p:spPr>
        <p:txBody>
          <a:bodyPr vert="horz" lIns="0" tIns="0" rIns="0" bIns="0" rtlCol="0" anchor="t" anchorCtr="0">
            <a:normAutofit fontScale="97500"/>
          </a:bodyPr>
          <a:lstStyle>
            <a:lvl1pPr algn="l" defTabSz="457200" rtl="0" eaLnBrk="1" latinLnBrk="0" hangingPunct="1">
              <a:spcBef>
                <a:spcPct val="0"/>
              </a:spcBef>
              <a:buNone/>
              <a:defRPr sz="2600" kern="12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en-US" altLang="zh-CN" dirty="0"/>
              <a:t>Review: </a:t>
            </a:r>
            <a:r>
              <a:rPr lang="en-US" altLang="zh-CN" dirty="0" err="1"/>
              <a:t>Eyeriss</a:t>
            </a:r>
            <a:endParaRPr kumimoji="1" lang="zh-CN" altLang="en-US" dirty="0"/>
          </a:p>
        </p:txBody>
      </p:sp>
      <p:pic>
        <p:nvPicPr>
          <p:cNvPr id="7" name="图片 6">
            <a:extLst>
              <a:ext uri="{FF2B5EF4-FFF2-40B4-BE49-F238E27FC236}">
                <a16:creationId xmlns:a16="http://schemas.microsoft.com/office/drawing/2014/main" id="{8F03CE03-852D-4609-934C-BD3DEE76A45A}"/>
              </a:ext>
            </a:extLst>
          </p:cNvPr>
          <p:cNvPicPr>
            <a:picLocks noChangeAspect="1"/>
          </p:cNvPicPr>
          <p:nvPr/>
        </p:nvPicPr>
        <p:blipFill>
          <a:blip r:embed="rId2"/>
          <a:stretch>
            <a:fillRect/>
          </a:stretch>
        </p:blipFill>
        <p:spPr>
          <a:xfrm>
            <a:off x="235842" y="1331625"/>
            <a:ext cx="8718035" cy="3215919"/>
          </a:xfrm>
          <a:prstGeom prst="rect">
            <a:avLst/>
          </a:prstGeom>
        </p:spPr>
      </p:pic>
    </p:spTree>
    <p:extLst>
      <p:ext uri="{BB962C8B-B14F-4D97-AF65-F5344CB8AC3E}">
        <p14:creationId xmlns:p14="http://schemas.microsoft.com/office/powerpoint/2010/main" val="94672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12" name="图片 11">
            <a:extLst>
              <a:ext uri="{FF2B5EF4-FFF2-40B4-BE49-F238E27FC236}">
                <a16:creationId xmlns:a16="http://schemas.microsoft.com/office/drawing/2014/main" id="{910086CB-63EC-4A26-84AA-059FB5F0DEB4}"/>
              </a:ext>
            </a:extLst>
          </p:cNvPr>
          <p:cNvPicPr>
            <a:picLocks noChangeAspect="1"/>
          </p:cNvPicPr>
          <p:nvPr/>
        </p:nvPicPr>
        <p:blipFill>
          <a:blip r:embed="rId2"/>
          <a:stretch>
            <a:fillRect/>
          </a:stretch>
        </p:blipFill>
        <p:spPr>
          <a:xfrm>
            <a:off x="114752" y="1227238"/>
            <a:ext cx="8965358" cy="2689024"/>
          </a:xfrm>
          <a:prstGeom prst="rect">
            <a:avLst/>
          </a:prstGeom>
        </p:spPr>
      </p:pic>
      <p:sp>
        <p:nvSpPr>
          <p:cNvPr id="13" name="文本框 12">
            <a:extLst>
              <a:ext uri="{FF2B5EF4-FFF2-40B4-BE49-F238E27FC236}">
                <a16:creationId xmlns:a16="http://schemas.microsoft.com/office/drawing/2014/main" id="{BA64FF4A-A107-4721-96A1-99796714ACC0}"/>
              </a:ext>
            </a:extLst>
          </p:cNvPr>
          <p:cNvSpPr txBox="1"/>
          <p:nvPr/>
        </p:nvSpPr>
        <p:spPr>
          <a:xfrm>
            <a:off x="899593" y="4083918"/>
            <a:ext cx="7992888" cy="646331"/>
          </a:xfrm>
          <a:prstGeom prst="rect">
            <a:avLst/>
          </a:prstGeom>
          <a:noFill/>
        </p:spPr>
        <p:txBody>
          <a:bodyPr wrap="square" rtlCol="0">
            <a:spAutoFit/>
          </a:bodyPr>
          <a:lstStyle/>
          <a:p>
            <a:r>
              <a:rPr lang="zh-CN" altLang="en-US" dirty="0"/>
              <a:t>三种复用的模式对应了</a:t>
            </a:r>
            <a:r>
              <a:rPr lang="en-US" altLang="zh-CN" dirty="0"/>
              <a:t>weight</a:t>
            </a:r>
            <a:r>
              <a:rPr lang="zh-CN" altLang="en-US" dirty="0"/>
              <a:t>复用，</a:t>
            </a:r>
            <a:r>
              <a:rPr lang="en-US" altLang="zh-CN" dirty="0"/>
              <a:t>Input activation (</a:t>
            </a:r>
            <a:r>
              <a:rPr lang="zh-CN" altLang="en-US" dirty="0"/>
              <a:t>论文里叫</a:t>
            </a:r>
            <a:r>
              <a:rPr lang="en-US" altLang="zh-CN" dirty="0" err="1"/>
              <a:t>ifmap</a:t>
            </a:r>
            <a:r>
              <a:rPr lang="en-US" altLang="zh-CN" dirty="0"/>
              <a:t>)</a:t>
            </a:r>
            <a:r>
              <a:rPr lang="zh-CN" altLang="en-US" dirty="0"/>
              <a:t>复用和</a:t>
            </a:r>
            <a:r>
              <a:rPr lang="en-US" altLang="zh-CN" dirty="0"/>
              <a:t>output activation</a:t>
            </a:r>
            <a:r>
              <a:rPr lang="zh-CN" altLang="en-US" dirty="0"/>
              <a:t>复用</a:t>
            </a:r>
            <a:r>
              <a:rPr lang="en-US" altLang="zh-CN" dirty="0"/>
              <a:t>(</a:t>
            </a:r>
            <a:r>
              <a:rPr lang="zh-CN" altLang="en-US" dirty="0"/>
              <a:t>论文里称为</a:t>
            </a:r>
            <a:r>
              <a:rPr lang="en-US" altLang="zh-CN" dirty="0"/>
              <a:t>partial sum</a:t>
            </a:r>
            <a:r>
              <a:rPr lang="zh-CN" altLang="en-US" dirty="0"/>
              <a:t>复用</a:t>
            </a:r>
            <a:r>
              <a:rPr lang="en-US" altLang="zh-CN" dirty="0"/>
              <a:t>)</a:t>
            </a:r>
            <a:endParaRPr lang="zh-CN" altLang="en-US" dirty="0"/>
          </a:p>
        </p:txBody>
      </p:sp>
      <p:sp>
        <p:nvSpPr>
          <p:cNvPr id="17" name="标题 1">
            <a:extLst>
              <a:ext uri="{FF2B5EF4-FFF2-40B4-BE49-F238E27FC236}">
                <a16:creationId xmlns:a16="http://schemas.microsoft.com/office/drawing/2014/main" id="{8AEF2446-6FE5-4325-B2DE-8898A12CEDB1}"/>
              </a:ext>
            </a:extLst>
          </p:cNvPr>
          <p:cNvSpPr txBox="1">
            <a:spLocks/>
          </p:cNvSpPr>
          <p:nvPr/>
        </p:nvSpPr>
        <p:spPr>
          <a:xfrm>
            <a:off x="467544" y="339502"/>
            <a:ext cx="5256584" cy="569326"/>
          </a:xfrm>
          <a:prstGeom prst="rect">
            <a:avLst/>
          </a:prstGeom>
        </p:spPr>
        <p:txBody>
          <a:bodyPr vert="horz" lIns="0" tIns="0" rIns="0" bIns="0" rtlCol="0" anchor="t" anchorCtr="0">
            <a:normAutofit fontScale="97500"/>
          </a:bodyPr>
          <a:lstStyle>
            <a:lvl1pPr algn="l" defTabSz="457200" rtl="0" eaLnBrk="1" latinLnBrk="0" hangingPunct="1">
              <a:spcBef>
                <a:spcPct val="0"/>
              </a:spcBef>
              <a:buNone/>
              <a:defRPr sz="2600" kern="12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en-US" altLang="zh-CN" dirty="0"/>
              <a:t>Review: </a:t>
            </a:r>
            <a:r>
              <a:rPr lang="en-US" altLang="zh-CN" dirty="0" err="1"/>
              <a:t>Eyeriss</a:t>
            </a:r>
            <a:endParaRPr kumimoji="1" lang="zh-CN" altLang="en-US" dirty="0"/>
          </a:p>
        </p:txBody>
      </p:sp>
    </p:spTree>
    <p:extLst>
      <p:ext uri="{BB962C8B-B14F-4D97-AF65-F5344CB8AC3E}">
        <p14:creationId xmlns:p14="http://schemas.microsoft.com/office/powerpoint/2010/main" val="2940863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15" name="标题 1">
            <a:extLst>
              <a:ext uri="{FF2B5EF4-FFF2-40B4-BE49-F238E27FC236}">
                <a16:creationId xmlns:a16="http://schemas.microsoft.com/office/drawing/2014/main" id="{C40E35DC-A903-4757-A371-5C5F8BF45D0C}"/>
              </a:ext>
            </a:extLst>
          </p:cNvPr>
          <p:cNvSpPr txBox="1">
            <a:spLocks/>
          </p:cNvSpPr>
          <p:nvPr/>
        </p:nvSpPr>
        <p:spPr>
          <a:xfrm>
            <a:off x="467543" y="339502"/>
            <a:ext cx="7200801" cy="569326"/>
          </a:xfrm>
          <a:prstGeom prst="rect">
            <a:avLst/>
          </a:prstGeom>
        </p:spPr>
        <p:txBody>
          <a:bodyPr vert="horz" lIns="0" tIns="0" rIns="0" bIns="0" rtlCol="0" anchor="t" anchorCtr="0">
            <a:normAutofit fontScale="97500"/>
          </a:bodyPr>
          <a:lstStyle>
            <a:lvl1pPr algn="l" defTabSz="457200" rtl="0" eaLnBrk="1" latinLnBrk="0" hangingPunct="1">
              <a:spcBef>
                <a:spcPct val="0"/>
              </a:spcBef>
              <a:buNone/>
              <a:defRPr sz="2600" kern="12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en-US" altLang="zh-CN" sz="2400" dirty="0"/>
              <a:t>Review: Data Reuse</a:t>
            </a:r>
            <a:endParaRPr kumimoji="1" lang="zh-CN" altLang="en-US" sz="2400" dirty="0"/>
          </a:p>
        </p:txBody>
      </p:sp>
      <p:pic>
        <p:nvPicPr>
          <p:cNvPr id="29" name="图片 28">
            <a:extLst>
              <a:ext uri="{FF2B5EF4-FFF2-40B4-BE49-F238E27FC236}">
                <a16:creationId xmlns:a16="http://schemas.microsoft.com/office/drawing/2014/main" id="{351E9B15-A8E8-4EE7-A7D9-C48C3479613B}"/>
              </a:ext>
            </a:extLst>
          </p:cNvPr>
          <p:cNvPicPr>
            <a:picLocks noChangeAspect="1"/>
          </p:cNvPicPr>
          <p:nvPr/>
        </p:nvPicPr>
        <p:blipFill rotWithShape="1">
          <a:blip r:embed="rId3"/>
          <a:srcRect r="40795"/>
          <a:stretch/>
        </p:blipFill>
        <p:spPr>
          <a:xfrm>
            <a:off x="467543" y="908828"/>
            <a:ext cx="5094272" cy="1083205"/>
          </a:xfrm>
          <a:prstGeom prst="rect">
            <a:avLst/>
          </a:prstGeom>
        </p:spPr>
      </p:pic>
      <p:sp>
        <p:nvSpPr>
          <p:cNvPr id="30" name="文本框 29">
            <a:extLst>
              <a:ext uri="{FF2B5EF4-FFF2-40B4-BE49-F238E27FC236}">
                <a16:creationId xmlns:a16="http://schemas.microsoft.com/office/drawing/2014/main" id="{2C8F9748-7518-4A51-B2D1-7AC2A42215A1}"/>
              </a:ext>
            </a:extLst>
          </p:cNvPr>
          <p:cNvSpPr txBox="1"/>
          <p:nvPr/>
        </p:nvSpPr>
        <p:spPr>
          <a:xfrm>
            <a:off x="6444208" y="908828"/>
            <a:ext cx="1944216" cy="923330"/>
          </a:xfrm>
          <a:prstGeom prst="rect">
            <a:avLst/>
          </a:prstGeom>
          <a:noFill/>
        </p:spPr>
        <p:txBody>
          <a:bodyPr wrap="square" rtlCol="0">
            <a:spAutoFit/>
          </a:bodyPr>
          <a:lstStyle/>
          <a:p>
            <a:r>
              <a:rPr lang="en-US" altLang="zh-CN" dirty="0"/>
              <a:t>OS: output reuse</a:t>
            </a:r>
          </a:p>
          <a:p>
            <a:r>
              <a:rPr lang="en-US" altLang="zh-CN" dirty="0"/>
              <a:t>WS: weight reuse </a:t>
            </a:r>
          </a:p>
          <a:p>
            <a:r>
              <a:rPr lang="en-US" altLang="zh-CN" dirty="0"/>
              <a:t>IS: input reuse</a:t>
            </a:r>
            <a:endParaRPr lang="zh-CN" altLang="en-US" dirty="0"/>
          </a:p>
        </p:txBody>
      </p:sp>
      <p:graphicFrame>
        <p:nvGraphicFramePr>
          <p:cNvPr id="10" name="表格 10">
            <a:extLst>
              <a:ext uri="{FF2B5EF4-FFF2-40B4-BE49-F238E27FC236}">
                <a16:creationId xmlns:a16="http://schemas.microsoft.com/office/drawing/2014/main" id="{8CEEF386-85B1-4216-9D81-6226E5DC793F}"/>
              </a:ext>
            </a:extLst>
          </p:cNvPr>
          <p:cNvGraphicFramePr>
            <a:graphicFrameLocks noGrp="1"/>
          </p:cNvGraphicFramePr>
          <p:nvPr/>
        </p:nvGraphicFramePr>
        <p:xfrm>
          <a:off x="1187624" y="2302956"/>
          <a:ext cx="5657055" cy="2225040"/>
        </p:xfrm>
        <a:graphic>
          <a:graphicData uri="http://schemas.openxmlformats.org/drawingml/2006/table">
            <a:tbl>
              <a:tblPr firstRow="1" bandRow="1">
                <a:tableStyleId>{5C22544A-7EE6-4342-B048-85BDC9FD1C3A}</a:tableStyleId>
              </a:tblPr>
              <a:tblGrid>
                <a:gridCol w="1944216">
                  <a:extLst>
                    <a:ext uri="{9D8B030D-6E8A-4147-A177-3AD203B41FA5}">
                      <a16:colId xmlns:a16="http://schemas.microsoft.com/office/drawing/2014/main" val="[student ID removed]"/>
                    </a:ext>
                  </a:extLst>
                </a:gridCol>
                <a:gridCol w="1237613">
                  <a:extLst>
                    <a:ext uri="{9D8B030D-6E8A-4147-A177-3AD203B41FA5}">
                      <a16:colId xmlns:a16="http://schemas.microsoft.com/office/drawing/2014/main" val="3403689342"/>
                    </a:ext>
                  </a:extLst>
                </a:gridCol>
                <a:gridCol w="1237613">
                  <a:extLst>
                    <a:ext uri="{9D8B030D-6E8A-4147-A177-3AD203B41FA5}">
                      <a16:colId xmlns:a16="http://schemas.microsoft.com/office/drawing/2014/main" val="317006615"/>
                    </a:ext>
                  </a:extLst>
                </a:gridCol>
                <a:gridCol w="1237613">
                  <a:extLst>
                    <a:ext uri="{9D8B030D-6E8A-4147-A177-3AD203B41FA5}">
                      <a16:colId xmlns:a16="http://schemas.microsoft.com/office/drawing/2014/main" val="115348150"/>
                    </a:ext>
                  </a:extLst>
                </a:gridCol>
              </a:tblGrid>
              <a:tr h="370840">
                <a:tc>
                  <a:txBody>
                    <a:bodyPr/>
                    <a:lstStyle/>
                    <a:p>
                      <a:endParaRPr lang="zh-CN" altLang="en-US"/>
                    </a:p>
                  </a:txBody>
                  <a:tcPr/>
                </a:tc>
                <a:tc>
                  <a:txBody>
                    <a:bodyPr/>
                    <a:lstStyle/>
                    <a:p>
                      <a:r>
                        <a:rPr lang="en-US" altLang="zh-CN" dirty="0"/>
                        <a:t>OS</a:t>
                      </a:r>
                      <a:endParaRPr lang="zh-CN" altLang="en-US" dirty="0"/>
                    </a:p>
                  </a:txBody>
                  <a:tcPr/>
                </a:tc>
                <a:tc>
                  <a:txBody>
                    <a:bodyPr/>
                    <a:lstStyle/>
                    <a:p>
                      <a:r>
                        <a:rPr lang="en-US" altLang="zh-CN" dirty="0"/>
                        <a:t>WS</a:t>
                      </a:r>
                      <a:endParaRPr lang="zh-CN" altLang="en-US" dirty="0"/>
                    </a:p>
                  </a:txBody>
                  <a:tcPr/>
                </a:tc>
                <a:tc>
                  <a:txBody>
                    <a:bodyPr/>
                    <a:lstStyle/>
                    <a:p>
                      <a:r>
                        <a:rPr lang="en-US" altLang="zh-CN" dirty="0"/>
                        <a:t>IS</a:t>
                      </a:r>
                      <a:endParaRPr lang="zh-CN" altLang="en-US" dirty="0"/>
                    </a:p>
                  </a:txBody>
                  <a:tcPr/>
                </a:tc>
                <a:extLst>
                  <a:ext uri="{0D108BD9-81ED-4DB2-BD59-A6C34878D82A}">
                    <a16:rowId xmlns:a16="http://schemas.microsoft.com/office/drawing/2014/main" val="398143138"/>
                  </a:ext>
                </a:extLst>
              </a:tr>
              <a:tr h="370840">
                <a:tc>
                  <a:txBody>
                    <a:bodyPr/>
                    <a:lstStyle/>
                    <a:p>
                      <a:r>
                        <a:rPr lang="en-US" altLang="zh-CN" dirty="0">
                          <a:solidFill>
                            <a:schemeClr val="bg1"/>
                          </a:solidFill>
                        </a:rPr>
                        <a:t>MACs</a:t>
                      </a:r>
                      <a:endParaRPr lang="zh-CN" altLang="en-US" dirty="0">
                        <a:solidFill>
                          <a:schemeClr val="bg1"/>
                        </a:solidFill>
                      </a:endParaRPr>
                    </a:p>
                  </a:txBody>
                  <a:tcPr>
                    <a:solidFill>
                      <a:schemeClr val="accent1"/>
                    </a:solidFill>
                  </a:tcPr>
                </a:tc>
                <a:tc>
                  <a:txBody>
                    <a:bodyPr/>
                    <a:lstStyle/>
                    <a:p>
                      <a:r>
                        <a:rPr lang="en-US" altLang="zh-CN" dirty="0"/>
                        <a:t>S*Q</a:t>
                      </a:r>
                      <a:endParaRPr lang="zh-CN" altLang="en-US" dirty="0"/>
                    </a:p>
                  </a:txBody>
                  <a:tcPr/>
                </a:tc>
                <a:tc>
                  <a:txBody>
                    <a:bodyPr/>
                    <a:lstStyle/>
                    <a:p>
                      <a:r>
                        <a:rPr lang="en-US" altLang="zh-CN" dirty="0"/>
                        <a:t>S*Q</a:t>
                      </a:r>
                      <a:endParaRPr lang="zh-CN" altLang="en-US" dirty="0"/>
                    </a:p>
                  </a:txBody>
                  <a:tcPr/>
                </a:tc>
                <a:tc>
                  <a:txBody>
                    <a:bodyPr/>
                    <a:lstStyle/>
                    <a:p>
                      <a:r>
                        <a:rPr lang="en-US" altLang="zh-CN" dirty="0"/>
                        <a:t>S*Q</a:t>
                      </a:r>
                      <a:endParaRPr lang="zh-CN" altLang="en-US" dirty="0"/>
                    </a:p>
                  </a:txBody>
                  <a:tcPr/>
                </a:tc>
                <a:extLst>
                  <a:ext uri="{0D108BD9-81ED-4DB2-BD59-A6C34878D82A}">
                    <a16:rowId xmlns:a16="http://schemas.microsoft.com/office/drawing/2014/main" val="1980982808"/>
                  </a:ext>
                </a:extLst>
              </a:tr>
              <a:tr h="370840">
                <a:tc>
                  <a:txBody>
                    <a:bodyPr/>
                    <a:lstStyle/>
                    <a:p>
                      <a:r>
                        <a:rPr lang="en-US" altLang="zh-CN" dirty="0">
                          <a:solidFill>
                            <a:schemeClr val="bg1"/>
                          </a:solidFill>
                        </a:rPr>
                        <a:t>Weight Reads</a:t>
                      </a:r>
                      <a:endParaRPr lang="zh-CN" altLang="en-US" dirty="0">
                        <a:solidFill>
                          <a:schemeClr val="bg1"/>
                        </a:solidFill>
                      </a:endParaRPr>
                    </a:p>
                  </a:txBody>
                  <a:tcPr>
                    <a:solidFill>
                      <a:schemeClr val="accent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S*Q</a:t>
                      </a:r>
                      <a:endParaRPr lang="zh-CN" altLang="en-US" dirty="0"/>
                    </a:p>
                  </a:txBody>
                  <a:tcPr/>
                </a:tc>
                <a:tc>
                  <a:txBody>
                    <a:bodyPr/>
                    <a:lstStyle/>
                    <a:p>
                      <a:r>
                        <a:rPr lang="en-US" altLang="zh-CN" dirty="0"/>
                        <a:t>S</a:t>
                      </a:r>
                      <a:endParaRPr lang="zh-CN" alt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S*Q</a:t>
                      </a:r>
                      <a:endParaRPr lang="zh-CN" altLang="en-US" dirty="0"/>
                    </a:p>
                  </a:txBody>
                  <a:tcPr/>
                </a:tc>
                <a:extLst>
                  <a:ext uri="{0D108BD9-81ED-4DB2-BD59-A6C34878D82A}">
                    <a16:rowId xmlns:a16="http://schemas.microsoft.com/office/drawing/2014/main" val="4193362849"/>
                  </a:ext>
                </a:extLst>
              </a:tr>
              <a:tr h="370840">
                <a:tc>
                  <a:txBody>
                    <a:bodyPr/>
                    <a:lstStyle/>
                    <a:p>
                      <a:r>
                        <a:rPr lang="en-US" altLang="zh-CN" dirty="0">
                          <a:solidFill>
                            <a:schemeClr val="bg1"/>
                          </a:solidFill>
                        </a:rPr>
                        <a:t>Input Reads</a:t>
                      </a:r>
                      <a:endParaRPr lang="zh-CN" altLang="en-US" dirty="0">
                        <a:solidFill>
                          <a:schemeClr val="bg1"/>
                        </a:solidFill>
                      </a:endParaRPr>
                    </a:p>
                  </a:txBody>
                  <a:tcPr>
                    <a:solidFill>
                      <a:schemeClr val="accent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S*Q</a:t>
                      </a:r>
                      <a:endParaRPr lang="zh-CN" alt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S*Q</a:t>
                      </a:r>
                      <a:endParaRPr lang="zh-CN" altLang="en-US" dirty="0"/>
                    </a:p>
                  </a:txBody>
                  <a:tcPr/>
                </a:tc>
                <a:tc>
                  <a:txBody>
                    <a:bodyPr/>
                    <a:lstStyle/>
                    <a:p>
                      <a:r>
                        <a:rPr lang="en-US" altLang="zh-CN" dirty="0"/>
                        <a:t>W</a:t>
                      </a:r>
                      <a:endParaRPr lang="zh-CN" altLang="en-US" dirty="0"/>
                    </a:p>
                  </a:txBody>
                  <a:tcPr/>
                </a:tc>
                <a:extLst>
                  <a:ext uri="{0D108BD9-81ED-4DB2-BD59-A6C34878D82A}">
                    <a16:rowId xmlns:a16="http://schemas.microsoft.com/office/drawing/2014/main" val="1472869834"/>
                  </a:ext>
                </a:extLst>
              </a:tr>
              <a:tr h="370840">
                <a:tc>
                  <a:txBody>
                    <a:bodyPr/>
                    <a:lstStyle/>
                    <a:p>
                      <a:r>
                        <a:rPr lang="en-US" altLang="zh-CN" dirty="0">
                          <a:solidFill>
                            <a:schemeClr val="bg1"/>
                          </a:solidFill>
                        </a:rPr>
                        <a:t>Output Reads</a:t>
                      </a:r>
                      <a:endParaRPr lang="zh-CN" altLang="en-US" dirty="0">
                        <a:solidFill>
                          <a:schemeClr val="bg1"/>
                        </a:solidFill>
                      </a:endParaRPr>
                    </a:p>
                  </a:txBody>
                  <a:tcPr>
                    <a:solidFill>
                      <a:schemeClr val="accent1"/>
                    </a:solidFill>
                  </a:tcPr>
                </a:tc>
                <a:tc>
                  <a:txBody>
                    <a:bodyPr/>
                    <a:lstStyle/>
                    <a:p>
                      <a:r>
                        <a:rPr lang="en-US" altLang="zh-CN" dirty="0"/>
                        <a:t>0</a:t>
                      </a:r>
                      <a:endParaRPr lang="zh-CN" alt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S*Q</a:t>
                      </a:r>
                      <a:endParaRPr lang="zh-CN" alt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S*Q</a:t>
                      </a:r>
                      <a:endParaRPr lang="zh-CN" altLang="en-US" dirty="0"/>
                    </a:p>
                  </a:txBody>
                  <a:tcPr/>
                </a:tc>
                <a:extLst>
                  <a:ext uri="{0D108BD9-81ED-4DB2-BD59-A6C34878D82A}">
                    <a16:rowId xmlns:a16="http://schemas.microsoft.com/office/drawing/2014/main" val="3076192738"/>
                  </a:ext>
                </a:extLst>
              </a:tr>
              <a:tr h="370840">
                <a:tc>
                  <a:txBody>
                    <a:bodyPr/>
                    <a:lstStyle/>
                    <a:p>
                      <a:r>
                        <a:rPr lang="en-US" altLang="zh-CN" dirty="0">
                          <a:solidFill>
                            <a:schemeClr val="bg1"/>
                          </a:solidFill>
                        </a:rPr>
                        <a:t>Output Writes</a:t>
                      </a:r>
                      <a:endParaRPr lang="zh-CN" altLang="en-US" dirty="0">
                        <a:solidFill>
                          <a:schemeClr val="bg1"/>
                        </a:solidFill>
                      </a:endParaRPr>
                    </a:p>
                  </a:txBody>
                  <a:tcPr>
                    <a:solidFill>
                      <a:schemeClr val="accent1"/>
                    </a:solidFill>
                  </a:tcPr>
                </a:tc>
                <a:tc>
                  <a:txBody>
                    <a:bodyPr/>
                    <a:lstStyle/>
                    <a:p>
                      <a:r>
                        <a:rPr lang="en-US" altLang="zh-CN" dirty="0"/>
                        <a:t>Q</a:t>
                      </a:r>
                      <a:endParaRPr lang="zh-CN" alt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S*Q</a:t>
                      </a:r>
                      <a:endParaRPr lang="zh-CN" alt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S*Q</a:t>
                      </a:r>
                      <a:endParaRPr lang="zh-CN" altLang="en-US" dirty="0"/>
                    </a:p>
                  </a:txBody>
                  <a:tcPr/>
                </a:tc>
                <a:extLst>
                  <a:ext uri="{0D108BD9-81ED-4DB2-BD59-A6C34878D82A}">
                    <a16:rowId xmlns:a16="http://schemas.microsoft.com/office/drawing/2014/main" val="3756961595"/>
                  </a:ext>
                </a:extLst>
              </a:tr>
            </a:tbl>
          </a:graphicData>
        </a:graphic>
      </p:graphicFrame>
    </p:spTree>
    <p:extLst>
      <p:ext uri="{BB962C8B-B14F-4D97-AF65-F5344CB8AC3E}">
        <p14:creationId xmlns:p14="http://schemas.microsoft.com/office/powerpoint/2010/main" val="2174677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2CCF8C5-15AB-4D46-958E-5C671B0681C5}"/>
              </a:ext>
            </a:extLst>
          </p:cNvPr>
          <p:cNvSpPr txBox="1"/>
          <p:nvPr/>
        </p:nvSpPr>
        <p:spPr>
          <a:xfrm>
            <a:off x="251520" y="748664"/>
            <a:ext cx="2829685" cy="402546"/>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en-US" altLang="zh-CN" dirty="0"/>
              <a:t>The parallelism in NVDLA</a:t>
            </a:r>
          </a:p>
        </p:txBody>
      </p:sp>
      <p:sp>
        <p:nvSpPr>
          <p:cNvPr id="15" name="标题 1">
            <a:extLst>
              <a:ext uri="{FF2B5EF4-FFF2-40B4-BE49-F238E27FC236}">
                <a16:creationId xmlns:a16="http://schemas.microsoft.com/office/drawing/2014/main" id="{C40E35DC-A903-4757-A371-5C5F8BF45D0C}"/>
              </a:ext>
            </a:extLst>
          </p:cNvPr>
          <p:cNvSpPr txBox="1">
            <a:spLocks/>
          </p:cNvSpPr>
          <p:nvPr/>
        </p:nvSpPr>
        <p:spPr>
          <a:xfrm>
            <a:off x="467544" y="339502"/>
            <a:ext cx="5256584" cy="569326"/>
          </a:xfrm>
          <a:prstGeom prst="rect">
            <a:avLst/>
          </a:prstGeom>
        </p:spPr>
        <p:txBody>
          <a:bodyPr vert="horz" lIns="0" tIns="0" rIns="0" bIns="0" rtlCol="0" anchor="t" anchorCtr="0">
            <a:normAutofit fontScale="97500"/>
          </a:bodyPr>
          <a:lstStyle>
            <a:lvl1pPr algn="l" defTabSz="457200" rtl="0" eaLnBrk="1" latinLnBrk="0" hangingPunct="1">
              <a:spcBef>
                <a:spcPct val="0"/>
              </a:spcBef>
              <a:buNone/>
              <a:defRPr sz="2600" kern="12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en-US" altLang="zh-CN" dirty="0"/>
              <a:t>Review: NVDLA</a:t>
            </a:r>
            <a:endParaRPr kumimoji="1" lang="zh-CN" altLang="en-US" dirty="0"/>
          </a:p>
        </p:txBody>
      </p:sp>
      <p:pic>
        <p:nvPicPr>
          <p:cNvPr id="13" name="图片 12">
            <a:extLst>
              <a:ext uri="{FF2B5EF4-FFF2-40B4-BE49-F238E27FC236}">
                <a16:creationId xmlns:a16="http://schemas.microsoft.com/office/drawing/2014/main" id="{134BED0E-D28C-4A5E-B75E-2E1E3A63F14B}"/>
              </a:ext>
            </a:extLst>
          </p:cNvPr>
          <p:cNvPicPr>
            <a:picLocks noChangeAspect="1"/>
          </p:cNvPicPr>
          <p:nvPr/>
        </p:nvPicPr>
        <p:blipFill>
          <a:blip r:embed="rId2"/>
          <a:stretch>
            <a:fillRect/>
          </a:stretch>
        </p:blipFill>
        <p:spPr>
          <a:xfrm>
            <a:off x="19452" y="1232797"/>
            <a:ext cx="9144000" cy="3920605"/>
          </a:xfrm>
          <a:prstGeom prst="rect">
            <a:avLst/>
          </a:prstGeom>
        </p:spPr>
      </p:pic>
      <p:sp>
        <p:nvSpPr>
          <p:cNvPr id="2" name="文本框 1">
            <a:extLst>
              <a:ext uri="{FF2B5EF4-FFF2-40B4-BE49-F238E27FC236}">
                <a16:creationId xmlns:a16="http://schemas.microsoft.com/office/drawing/2014/main" id="{3A3F7F76-46AB-4A6F-A6AC-77F96FCD7305}"/>
              </a:ext>
            </a:extLst>
          </p:cNvPr>
          <p:cNvSpPr txBox="1"/>
          <p:nvPr/>
        </p:nvSpPr>
        <p:spPr>
          <a:xfrm>
            <a:off x="349856" y="4155926"/>
            <a:ext cx="3606115" cy="369332"/>
          </a:xfrm>
          <a:prstGeom prst="rect">
            <a:avLst/>
          </a:prstGeom>
          <a:noFill/>
        </p:spPr>
        <p:txBody>
          <a:bodyPr wrap="none" rtlCol="0">
            <a:spAutoFit/>
          </a:bodyPr>
          <a:lstStyle/>
          <a:p>
            <a:r>
              <a:rPr lang="en-US" altLang="zh-CN" dirty="0"/>
              <a:t>NVDLA</a:t>
            </a:r>
            <a:r>
              <a:rPr lang="zh-CN" altLang="en-US" dirty="0"/>
              <a:t>实际上是</a:t>
            </a:r>
            <a:r>
              <a:rPr lang="en-US" altLang="zh-CN" dirty="0"/>
              <a:t>weight </a:t>
            </a:r>
            <a:r>
              <a:rPr lang="zh-CN" altLang="en-US" dirty="0"/>
              <a:t>复用的模式</a:t>
            </a:r>
          </a:p>
        </p:txBody>
      </p:sp>
    </p:spTree>
    <p:extLst>
      <p:ext uri="{BB962C8B-B14F-4D97-AF65-F5344CB8AC3E}">
        <p14:creationId xmlns:p14="http://schemas.microsoft.com/office/powerpoint/2010/main" val="1796540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2CCF8C5-15AB-4D46-958E-5C671B0681C5}"/>
              </a:ext>
            </a:extLst>
          </p:cNvPr>
          <p:cNvSpPr txBox="1"/>
          <p:nvPr/>
        </p:nvSpPr>
        <p:spPr>
          <a:xfrm>
            <a:off x="251520" y="748664"/>
            <a:ext cx="2829685" cy="402546"/>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en-US" altLang="zh-CN" dirty="0"/>
              <a:t>The parallelism in NVDLA</a:t>
            </a:r>
          </a:p>
        </p:txBody>
      </p:sp>
      <p:sp>
        <p:nvSpPr>
          <p:cNvPr id="15" name="标题 1">
            <a:extLst>
              <a:ext uri="{FF2B5EF4-FFF2-40B4-BE49-F238E27FC236}">
                <a16:creationId xmlns:a16="http://schemas.microsoft.com/office/drawing/2014/main" id="{C40E35DC-A903-4757-A371-5C5F8BF45D0C}"/>
              </a:ext>
            </a:extLst>
          </p:cNvPr>
          <p:cNvSpPr txBox="1">
            <a:spLocks/>
          </p:cNvSpPr>
          <p:nvPr/>
        </p:nvSpPr>
        <p:spPr>
          <a:xfrm>
            <a:off x="467544" y="339502"/>
            <a:ext cx="5256584" cy="569326"/>
          </a:xfrm>
          <a:prstGeom prst="rect">
            <a:avLst/>
          </a:prstGeom>
        </p:spPr>
        <p:txBody>
          <a:bodyPr vert="horz" lIns="0" tIns="0" rIns="0" bIns="0" rtlCol="0" anchor="t" anchorCtr="0">
            <a:normAutofit fontScale="97500"/>
          </a:bodyPr>
          <a:lstStyle>
            <a:lvl1pPr algn="l" defTabSz="457200" rtl="0" eaLnBrk="1" latinLnBrk="0" hangingPunct="1">
              <a:spcBef>
                <a:spcPct val="0"/>
              </a:spcBef>
              <a:buNone/>
              <a:defRPr sz="2600" kern="12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en-US" altLang="zh-CN" dirty="0"/>
              <a:t>Review: NVDLA</a:t>
            </a:r>
            <a:endParaRPr kumimoji="1" lang="zh-CN" altLang="en-US" dirty="0"/>
          </a:p>
        </p:txBody>
      </p:sp>
      <p:pic>
        <p:nvPicPr>
          <p:cNvPr id="6" name="图片 5">
            <a:extLst>
              <a:ext uri="{FF2B5EF4-FFF2-40B4-BE49-F238E27FC236}">
                <a16:creationId xmlns:a16="http://schemas.microsoft.com/office/drawing/2014/main" id="{4A76D681-725C-45CE-9E04-1239C4824FBB}"/>
              </a:ext>
            </a:extLst>
          </p:cNvPr>
          <p:cNvPicPr>
            <a:picLocks noChangeAspect="1"/>
          </p:cNvPicPr>
          <p:nvPr/>
        </p:nvPicPr>
        <p:blipFill rotWithShape="1">
          <a:blip r:embed="rId2"/>
          <a:srcRect l="53109" t="33143" r="3397" b="1230"/>
          <a:stretch/>
        </p:blipFill>
        <p:spPr>
          <a:xfrm>
            <a:off x="5111551" y="1598785"/>
            <a:ext cx="3977163" cy="2572991"/>
          </a:xfrm>
          <a:prstGeom prst="rect">
            <a:avLst/>
          </a:prstGeom>
        </p:spPr>
      </p:pic>
      <p:sp>
        <p:nvSpPr>
          <p:cNvPr id="2" name="矩形 1">
            <a:extLst>
              <a:ext uri="{FF2B5EF4-FFF2-40B4-BE49-F238E27FC236}">
                <a16:creationId xmlns:a16="http://schemas.microsoft.com/office/drawing/2014/main" id="{9B544698-A802-459E-B46E-22B475126119}"/>
              </a:ext>
            </a:extLst>
          </p:cNvPr>
          <p:cNvSpPr/>
          <p:nvPr/>
        </p:nvSpPr>
        <p:spPr>
          <a:xfrm>
            <a:off x="5111552" y="1635647"/>
            <a:ext cx="3600400" cy="216023"/>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7AEEE9C7-A845-463C-A9DA-0E0F4EAC37FF}"/>
              </a:ext>
            </a:extLst>
          </p:cNvPr>
          <p:cNvGrpSpPr/>
          <p:nvPr/>
        </p:nvGrpSpPr>
        <p:grpSpPr>
          <a:xfrm>
            <a:off x="287523" y="1774734"/>
            <a:ext cx="360042" cy="360041"/>
            <a:chOff x="798079" y="1707654"/>
            <a:chExt cx="360042" cy="360041"/>
          </a:xfrm>
        </p:grpSpPr>
        <p:sp>
          <p:nvSpPr>
            <p:cNvPr id="3" name="椭圆 2">
              <a:extLst>
                <a:ext uri="{FF2B5EF4-FFF2-40B4-BE49-F238E27FC236}">
                  <a16:creationId xmlns:a16="http://schemas.microsoft.com/office/drawing/2014/main" id="{0456D258-4159-44C0-B921-3A7069AF58C7}"/>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 name="乘号 6">
              <a:extLst>
                <a:ext uri="{FF2B5EF4-FFF2-40B4-BE49-F238E27FC236}">
                  <a16:creationId xmlns:a16="http://schemas.microsoft.com/office/drawing/2014/main" id="{9C47A78E-CE8E-4830-B86F-7EDD36AE512D}"/>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308AB20E-1B7B-4F66-B6E7-0E8D350C1415}"/>
              </a:ext>
            </a:extLst>
          </p:cNvPr>
          <p:cNvGrpSpPr/>
          <p:nvPr/>
        </p:nvGrpSpPr>
        <p:grpSpPr>
          <a:xfrm rot="18900000">
            <a:off x="583743" y="2272934"/>
            <a:ext cx="360042" cy="360041"/>
            <a:chOff x="798079" y="1707654"/>
            <a:chExt cx="360042" cy="360041"/>
          </a:xfrm>
        </p:grpSpPr>
        <p:sp>
          <p:nvSpPr>
            <p:cNvPr id="12" name="椭圆 11">
              <a:extLst>
                <a:ext uri="{FF2B5EF4-FFF2-40B4-BE49-F238E27FC236}">
                  <a16:creationId xmlns:a16="http://schemas.microsoft.com/office/drawing/2014/main" id="{0723934A-DFD1-4376-BBAC-02D040A66E5E}"/>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4" name="乘号 13">
              <a:extLst>
                <a:ext uri="{FF2B5EF4-FFF2-40B4-BE49-F238E27FC236}">
                  <a16:creationId xmlns:a16="http://schemas.microsoft.com/office/drawing/2014/main" id="{F4474A3A-55B1-4F9C-ADCB-E41B1936BFBB}"/>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16" name="组合 15">
            <a:extLst>
              <a:ext uri="{FF2B5EF4-FFF2-40B4-BE49-F238E27FC236}">
                <a16:creationId xmlns:a16="http://schemas.microsoft.com/office/drawing/2014/main" id="{77FADB3A-965B-4B5F-9085-E99DC5DA75F1}"/>
              </a:ext>
            </a:extLst>
          </p:cNvPr>
          <p:cNvGrpSpPr/>
          <p:nvPr/>
        </p:nvGrpSpPr>
        <p:grpSpPr>
          <a:xfrm>
            <a:off x="891628" y="1774733"/>
            <a:ext cx="360042" cy="360041"/>
            <a:chOff x="798079" y="1707654"/>
            <a:chExt cx="360042" cy="360041"/>
          </a:xfrm>
        </p:grpSpPr>
        <p:sp>
          <p:nvSpPr>
            <p:cNvPr id="17" name="椭圆 16">
              <a:extLst>
                <a:ext uri="{FF2B5EF4-FFF2-40B4-BE49-F238E27FC236}">
                  <a16:creationId xmlns:a16="http://schemas.microsoft.com/office/drawing/2014/main" id="{C8B94BE0-A46E-4EE0-925B-85383085E8E9}"/>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8" name="乘号 17">
              <a:extLst>
                <a:ext uri="{FF2B5EF4-FFF2-40B4-BE49-F238E27FC236}">
                  <a16:creationId xmlns:a16="http://schemas.microsoft.com/office/drawing/2014/main" id="{1FE4B132-8471-490F-99FF-84CAED7222AB}"/>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22" name="组合 21">
            <a:extLst>
              <a:ext uri="{FF2B5EF4-FFF2-40B4-BE49-F238E27FC236}">
                <a16:creationId xmlns:a16="http://schemas.microsoft.com/office/drawing/2014/main" id="{62D1E451-ECC7-401B-B0C0-8DB62CC2C0F9}"/>
              </a:ext>
            </a:extLst>
          </p:cNvPr>
          <p:cNvGrpSpPr/>
          <p:nvPr/>
        </p:nvGrpSpPr>
        <p:grpSpPr>
          <a:xfrm>
            <a:off x="1444108" y="1774734"/>
            <a:ext cx="360042" cy="360041"/>
            <a:chOff x="798079" y="1707654"/>
            <a:chExt cx="360042" cy="360041"/>
          </a:xfrm>
        </p:grpSpPr>
        <p:sp>
          <p:nvSpPr>
            <p:cNvPr id="23" name="椭圆 22">
              <a:extLst>
                <a:ext uri="{FF2B5EF4-FFF2-40B4-BE49-F238E27FC236}">
                  <a16:creationId xmlns:a16="http://schemas.microsoft.com/office/drawing/2014/main" id="{E88B9EC0-B6EE-443A-8E77-371334C9845C}"/>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4" name="乘号 23">
              <a:extLst>
                <a:ext uri="{FF2B5EF4-FFF2-40B4-BE49-F238E27FC236}">
                  <a16:creationId xmlns:a16="http://schemas.microsoft.com/office/drawing/2014/main" id="{0AF17B04-8E12-4FE1-BF5A-00BA012EE3D6}"/>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25" name="组合 24">
            <a:extLst>
              <a:ext uri="{FF2B5EF4-FFF2-40B4-BE49-F238E27FC236}">
                <a16:creationId xmlns:a16="http://schemas.microsoft.com/office/drawing/2014/main" id="{A542A5AE-D0B9-4418-B434-1DA387CE76A5}"/>
              </a:ext>
            </a:extLst>
          </p:cNvPr>
          <p:cNvGrpSpPr/>
          <p:nvPr/>
        </p:nvGrpSpPr>
        <p:grpSpPr>
          <a:xfrm rot="18900000">
            <a:off x="1733031" y="2276423"/>
            <a:ext cx="360042" cy="360041"/>
            <a:chOff x="798079" y="1707654"/>
            <a:chExt cx="360042" cy="360041"/>
          </a:xfrm>
        </p:grpSpPr>
        <p:sp>
          <p:nvSpPr>
            <p:cNvPr id="26" name="椭圆 25">
              <a:extLst>
                <a:ext uri="{FF2B5EF4-FFF2-40B4-BE49-F238E27FC236}">
                  <a16:creationId xmlns:a16="http://schemas.microsoft.com/office/drawing/2014/main" id="{B23A53FA-4A9A-401D-82A2-E2D384010F12}"/>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7" name="乘号 26">
              <a:extLst>
                <a:ext uri="{FF2B5EF4-FFF2-40B4-BE49-F238E27FC236}">
                  <a16:creationId xmlns:a16="http://schemas.microsoft.com/office/drawing/2014/main" id="{6AD17015-5F06-435B-A1CF-B9EE2E6C10BE}"/>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EC374EBA-AE0E-47AB-A699-0B7079652AC4}"/>
              </a:ext>
            </a:extLst>
          </p:cNvPr>
          <p:cNvGrpSpPr/>
          <p:nvPr/>
        </p:nvGrpSpPr>
        <p:grpSpPr>
          <a:xfrm>
            <a:off x="2048213" y="1774733"/>
            <a:ext cx="360042" cy="360041"/>
            <a:chOff x="798079" y="1707654"/>
            <a:chExt cx="360042" cy="360041"/>
          </a:xfrm>
        </p:grpSpPr>
        <p:sp>
          <p:nvSpPr>
            <p:cNvPr id="29" name="椭圆 28">
              <a:extLst>
                <a:ext uri="{FF2B5EF4-FFF2-40B4-BE49-F238E27FC236}">
                  <a16:creationId xmlns:a16="http://schemas.microsoft.com/office/drawing/2014/main" id="{71722349-80B7-4E72-A105-67E9E53C5D79}"/>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0" name="乘号 29">
              <a:extLst>
                <a:ext uri="{FF2B5EF4-FFF2-40B4-BE49-F238E27FC236}">
                  <a16:creationId xmlns:a16="http://schemas.microsoft.com/office/drawing/2014/main" id="{5E6AD6EF-54CC-4B9B-9052-2F48BD37F6DD}"/>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sp>
        <p:nvSpPr>
          <p:cNvPr id="9" name="椭圆 8">
            <a:extLst>
              <a:ext uri="{FF2B5EF4-FFF2-40B4-BE49-F238E27FC236}">
                <a16:creationId xmlns:a16="http://schemas.microsoft.com/office/drawing/2014/main" id="{FA28BCA0-4EEF-4142-A0F9-78774483488C}"/>
              </a:ext>
            </a:extLst>
          </p:cNvPr>
          <p:cNvSpPr/>
          <p:nvPr/>
        </p:nvSpPr>
        <p:spPr>
          <a:xfrm>
            <a:off x="2538461" y="1918155"/>
            <a:ext cx="112938"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7A5C5670-6CCD-4452-8EA9-C33D7D3F0DB4}"/>
              </a:ext>
            </a:extLst>
          </p:cNvPr>
          <p:cNvSpPr/>
          <p:nvPr/>
        </p:nvSpPr>
        <p:spPr>
          <a:xfrm>
            <a:off x="2722259" y="1918155"/>
            <a:ext cx="112938"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E973F86F-0068-4745-8591-8A7546E42F9A}"/>
              </a:ext>
            </a:extLst>
          </p:cNvPr>
          <p:cNvSpPr/>
          <p:nvPr/>
        </p:nvSpPr>
        <p:spPr>
          <a:xfrm>
            <a:off x="2905245" y="1918155"/>
            <a:ext cx="112938"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nvGrpSpPr>
          <p:cNvPr id="42" name="组合 41">
            <a:extLst>
              <a:ext uri="{FF2B5EF4-FFF2-40B4-BE49-F238E27FC236}">
                <a16:creationId xmlns:a16="http://schemas.microsoft.com/office/drawing/2014/main" id="{E1CFE5F1-2019-4E75-BFA6-1505A6916521}"/>
              </a:ext>
            </a:extLst>
          </p:cNvPr>
          <p:cNvGrpSpPr/>
          <p:nvPr/>
        </p:nvGrpSpPr>
        <p:grpSpPr>
          <a:xfrm>
            <a:off x="3098792" y="1774733"/>
            <a:ext cx="360042" cy="360041"/>
            <a:chOff x="798079" y="1707654"/>
            <a:chExt cx="360042" cy="360041"/>
          </a:xfrm>
        </p:grpSpPr>
        <p:sp>
          <p:nvSpPr>
            <p:cNvPr id="43" name="椭圆 42">
              <a:extLst>
                <a:ext uri="{FF2B5EF4-FFF2-40B4-BE49-F238E27FC236}">
                  <a16:creationId xmlns:a16="http://schemas.microsoft.com/office/drawing/2014/main" id="{FB728E2D-2170-492C-86D5-FC3A0D46EBCF}"/>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4" name="乘号 43">
              <a:extLst>
                <a:ext uri="{FF2B5EF4-FFF2-40B4-BE49-F238E27FC236}">
                  <a16:creationId xmlns:a16="http://schemas.microsoft.com/office/drawing/2014/main" id="{F9CC90A1-B71E-465F-8625-E13E26E539E2}"/>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45" name="组合 44">
            <a:extLst>
              <a:ext uri="{FF2B5EF4-FFF2-40B4-BE49-F238E27FC236}">
                <a16:creationId xmlns:a16="http://schemas.microsoft.com/office/drawing/2014/main" id="{A386DFCA-B4D4-41B0-912B-A4D65736FF64}"/>
              </a:ext>
            </a:extLst>
          </p:cNvPr>
          <p:cNvGrpSpPr/>
          <p:nvPr/>
        </p:nvGrpSpPr>
        <p:grpSpPr>
          <a:xfrm rot="18900000">
            <a:off x="3387715" y="2276422"/>
            <a:ext cx="360042" cy="360041"/>
            <a:chOff x="798079" y="1707654"/>
            <a:chExt cx="360042" cy="360041"/>
          </a:xfrm>
        </p:grpSpPr>
        <p:sp>
          <p:nvSpPr>
            <p:cNvPr id="46" name="椭圆 45">
              <a:extLst>
                <a:ext uri="{FF2B5EF4-FFF2-40B4-BE49-F238E27FC236}">
                  <a16:creationId xmlns:a16="http://schemas.microsoft.com/office/drawing/2014/main" id="{90C5FB0B-0861-4B08-9CC0-8EE97CA6E1E7}"/>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7" name="乘号 46">
              <a:extLst>
                <a:ext uri="{FF2B5EF4-FFF2-40B4-BE49-F238E27FC236}">
                  <a16:creationId xmlns:a16="http://schemas.microsoft.com/office/drawing/2014/main" id="{0EBB6B47-5D3A-4CDB-AF5F-18AAB79895C7}"/>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48" name="组合 47">
            <a:extLst>
              <a:ext uri="{FF2B5EF4-FFF2-40B4-BE49-F238E27FC236}">
                <a16:creationId xmlns:a16="http://schemas.microsoft.com/office/drawing/2014/main" id="{54E471E0-CBF2-4B10-BBF9-336171E45030}"/>
              </a:ext>
            </a:extLst>
          </p:cNvPr>
          <p:cNvGrpSpPr/>
          <p:nvPr/>
        </p:nvGrpSpPr>
        <p:grpSpPr>
          <a:xfrm>
            <a:off x="3702897" y="1774732"/>
            <a:ext cx="360042" cy="360041"/>
            <a:chOff x="798079" y="1707654"/>
            <a:chExt cx="360042" cy="360041"/>
          </a:xfrm>
        </p:grpSpPr>
        <p:sp>
          <p:nvSpPr>
            <p:cNvPr id="49" name="椭圆 48">
              <a:extLst>
                <a:ext uri="{FF2B5EF4-FFF2-40B4-BE49-F238E27FC236}">
                  <a16:creationId xmlns:a16="http://schemas.microsoft.com/office/drawing/2014/main" id="{57BD2950-346E-4BC4-BE2F-2D5EA52A4781}"/>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0" name="乘号 49">
              <a:extLst>
                <a:ext uri="{FF2B5EF4-FFF2-40B4-BE49-F238E27FC236}">
                  <a16:creationId xmlns:a16="http://schemas.microsoft.com/office/drawing/2014/main" id="{78D7E4CD-EDB1-4CE8-9773-E64FA5E3B044}"/>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sp>
        <p:nvSpPr>
          <p:cNvPr id="10" name="左大括号 9">
            <a:extLst>
              <a:ext uri="{FF2B5EF4-FFF2-40B4-BE49-F238E27FC236}">
                <a16:creationId xmlns:a16="http://schemas.microsoft.com/office/drawing/2014/main" id="{F856EA65-0E84-4664-AA52-9EE3D5FB0B87}"/>
              </a:ext>
            </a:extLst>
          </p:cNvPr>
          <p:cNvSpPr/>
          <p:nvPr/>
        </p:nvSpPr>
        <p:spPr>
          <a:xfrm rot="5400000">
            <a:off x="2099887" y="-140401"/>
            <a:ext cx="216024" cy="340312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25B5069F-DABD-4132-BFAB-9013B77AC1A4}"/>
              </a:ext>
            </a:extLst>
          </p:cNvPr>
          <p:cNvSpPr txBox="1"/>
          <p:nvPr/>
        </p:nvSpPr>
        <p:spPr>
          <a:xfrm>
            <a:off x="1529178" y="1117514"/>
            <a:ext cx="1383712" cy="369332"/>
          </a:xfrm>
          <a:prstGeom prst="rect">
            <a:avLst/>
          </a:prstGeom>
          <a:noFill/>
        </p:spPr>
        <p:txBody>
          <a:bodyPr wrap="none" rtlCol="0">
            <a:spAutoFit/>
          </a:bodyPr>
          <a:lstStyle/>
          <a:p>
            <a:r>
              <a:rPr lang="en-US" altLang="zh-CN" dirty="0"/>
              <a:t>16 multiplier</a:t>
            </a:r>
            <a:endParaRPr lang="zh-CN" altLang="en-US" dirty="0"/>
          </a:p>
        </p:txBody>
      </p:sp>
      <p:grpSp>
        <p:nvGrpSpPr>
          <p:cNvPr id="52" name="组合 51">
            <a:extLst>
              <a:ext uri="{FF2B5EF4-FFF2-40B4-BE49-F238E27FC236}">
                <a16:creationId xmlns:a16="http://schemas.microsoft.com/office/drawing/2014/main" id="{F504B304-B0C4-4AA6-8637-036EDA78C8D2}"/>
              </a:ext>
            </a:extLst>
          </p:cNvPr>
          <p:cNvGrpSpPr/>
          <p:nvPr/>
        </p:nvGrpSpPr>
        <p:grpSpPr>
          <a:xfrm rot="18900000">
            <a:off x="1137634" y="2785597"/>
            <a:ext cx="360042" cy="360041"/>
            <a:chOff x="798079" y="1707654"/>
            <a:chExt cx="360042" cy="360041"/>
          </a:xfrm>
        </p:grpSpPr>
        <p:sp>
          <p:nvSpPr>
            <p:cNvPr id="53" name="椭圆 52">
              <a:extLst>
                <a:ext uri="{FF2B5EF4-FFF2-40B4-BE49-F238E27FC236}">
                  <a16:creationId xmlns:a16="http://schemas.microsoft.com/office/drawing/2014/main" id="{1994CAC0-7728-4490-978D-4709FBC4585C}"/>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4" name="乘号 53">
              <a:extLst>
                <a:ext uri="{FF2B5EF4-FFF2-40B4-BE49-F238E27FC236}">
                  <a16:creationId xmlns:a16="http://schemas.microsoft.com/office/drawing/2014/main" id="{7CD063C5-DBD8-457B-B5A9-D45F83A1E78E}"/>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55" name="组合 54">
            <a:extLst>
              <a:ext uri="{FF2B5EF4-FFF2-40B4-BE49-F238E27FC236}">
                <a16:creationId xmlns:a16="http://schemas.microsoft.com/office/drawing/2014/main" id="{1F1102AA-649A-4782-AA63-8786091FD662}"/>
              </a:ext>
            </a:extLst>
          </p:cNvPr>
          <p:cNvGrpSpPr/>
          <p:nvPr/>
        </p:nvGrpSpPr>
        <p:grpSpPr>
          <a:xfrm rot="18900000">
            <a:off x="2956065" y="2785599"/>
            <a:ext cx="360042" cy="360041"/>
            <a:chOff x="798079" y="1707654"/>
            <a:chExt cx="360042" cy="360041"/>
          </a:xfrm>
        </p:grpSpPr>
        <p:sp>
          <p:nvSpPr>
            <p:cNvPr id="56" name="椭圆 55">
              <a:extLst>
                <a:ext uri="{FF2B5EF4-FFF2-40B4-BE49-F238E27FC236}">
                  <a16:creationId xmlns:a16="http://schemas.microsoft.com/office/drawing/2014/main" id="{27964253-9BD9-4A85-83F1-C63CA261770D}"/>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7" name="乘号 56">
              <a:extLst>
                <a:ext uri="{FF2B5EF4-FFF2-40B4-BE49-F238E27FC236}">
                  <a16:creationId xmlns:a16="http://schemas.microsoft.com/office/drawing/2014/main" id="{89EE9951-A04E-40E4-A66E-29A9454B273D}"/>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sp>
        <p:nvSpPr>
          <p:cNvPr id="58" name="椭圆 57">
            <a:extLst>
              <a:ext uri="{FF2B5EF4-FFF2-40B4-BE49-F238E27FC236}">
                <a16:creationId xmlns:a16="http://schemas.microsoft.com/office/drawing/2014/main" id="{8EA1AB3F-CCA2-4DD7-A0D2-8FEA27B7AFE7}"/>
              </a:ext>
            </a:extLst>
          </p:cNvPr>
          <p:cNvSpPr/>
          <p:nvPr/>
        </p:nvSpPr>
        <p:spPr>
          <a:xfrm>
            <a:off x="1962566" y="2930203"/>
            <a:ext cx="112938"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D0BF21DF-7D43-4711-B53B-622BA53209B4}"/>
              </a:ext>
            </a:extLst>
          </p:cNvPr>
          <p:cNvSpPr/>
          <p:nvPr/>
        </p:nvSpPr>
        <p:spPr>
          <a:xfrm>
            <a:off x="2146364" y="2930203"/>
            <a:ext cx="112938"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60" name="椭圆 59">
            <a:extLst>
              <a:ext uri="{FF2B5EF4-FFF2-40B4-BE49-F238E27FC236}">
                <a16:creationId xmlns:a16="http://schemas.microsoft.com/office/drawing/2014/main" id="{B4D391B9-81FB-4939-A35E-1BE7E33BC54C}"/>
              </a:ext>
            </a:extLst>
          </p:cNvPr>
          <p:cNvSpPr/>
          <p:nvPr/>
        </p:nvSpPr>
        <p:spPr>
          <a:xfrm>
            <a:off x="2329350" y="2930203"/>
            <a:ext cx="112938"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nvGrpSpPr>
          <p:cNvPr id="61" name="组合 60">
            <a:extLst>
              <a:ext uri="{FF2B5EF4-FFF2-40B4-BE49-F238E27FC236}">
                <a16:creationId xmlns:a16="http://schemas.microsoft.com/office/drawing/2014/main" id="{9E1762AD-CDD0-4EE6-92AC-1BA5086716FE}"/>
              </a:ext>
            </a:extLst>
          </p:cNvPr>
          <p:cNvGrpSpPr/>
          <p:nvPr/>
        </p:nvGrpSpPr>
        <p:grpSpPr>
          <a:xfrm rot="18900000">
            <a:off x="1667236" y="3491085"/>
            <a:ext cx="360042" cy="360041"/>
            <a:chOff x="798079" y="1707654"/>
            <a:chExt cx="360042" cy="360041"/>
          </a:xfrm>
        </p:grpSpPr>
        <p:sp>
          <p:nvSpPr>
            <p:cNvPr id="62" name="椭圆 61">
              <a:extLst>
                <a:ext uri="{FF2B5EF4-FFF2-40B4-BE49-F238E27FC236}">
                  <a16:creationId xmlns:a16="http://schemas.microsoft.com/office/drawing/2014/main" id="{9BDA1755-F54E-4AC9-AA48-F7D6C14C1106}"/>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3" name="乘号 62">
              <a:extLst>
                <a:ext uri="{FF2B5EF4-FFF2-40B4-BE49-F238E27FC236}">
                  <a16:creationId xmlns:a16="http://schemas.microsoft.com/office/drawing/2014/main" id="{39BBF36C-1081-4D16-9E1D-AD4E5BC36FEC}"/>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64" name="组合 63">
            <a:extLst>
              <a:ext uri="{FF2B5EF4-FFF2-40B4-BE49-F238E27FC236}">
                <a16:creationId xmlns:a16="http://schemas.microsoft.com/office/drawing/2014/main" id="{B3EC90C8-4F56-4FE0-B4AF-02A89D902659}"/>
              </a:ext>
            </a:extLst>
          </p:cNvPr>
          <p:cNvGrpSpPr/>
          <p:nvPr/>
        </p:nvGrpSpPr>
        <p:grpSpPr>
          <a:xfrm rot="18900000">
            <a:off x="2414909" y="3491086"/>
            <a:ext cx="360042" cy="360041"/>
            <a:chOff x="798079" y="1707654"/>
            <a:chExt cx="360042" cy="360041"/>
          </a:xfrm>
        </p:grpSpPr>
        <p:sp>
          <p:nvSpPr>
            <p:cNvPr id="65" name="椭圆 64">
              <a:extLst>
                <a:ext uri="{FF2B5EF4-FFF2-40B4-BE49-F238E27FC236}">
                  <a16:creationId xmlns:a16="http://schemas.microsoft.com/office/drawing/2014/main" id="{151211E6-2181-4CE3-BAEA-215F7FAA80F6}"/>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6" name="乘号 65">
              <a:extLst>
                <a:ext uri="{FF2B5EF4-FFF2-40B4-BE49-F238E27FC236}">
                  <a16:creationId xmlns:a16="http://schemas.microsoft.com/office/drawing/2014/main" id="{88C5A121-68DE-444B-93DC-C2355E0EBF11}"/>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67" name="组合 66">
            <a:extLst>
              <a:ext uri="{FF2B5EF4-FFF2-40B4-BE49-F238E27FC236}">
                <a16:creationId xmlns:a16="http://schemas.microsoft.com/office/drawing/2014/main" id="{BAB28A78-C218-4014-981F-F50EC0AE800C}"/>
              </a:ext>
            </a:extLst>
          </p:cNvPr>
          <p:cNvGrpSpPr/>
          <p:nvPr/>
        </p:nvGrpSpPr>
        <p:grpSpPr>
          <a:xfrm rot="18900000">
            <a:off x="2048212" y="4119050"/>
            <a:ext cx="360042" cy="360041"/>
            <a:chOff x="798079" y="1707654"/>
            <a:chExt cx="360042" cy="360041"/>
          </a:xfrm>
        </p:grpSpPr>
        <p:sp>
          <p:nvSpPr>
            <p:cNvPr id="68" name="椭圆 67">
              <a:extLst>
                <a:ext uri="{FF2B5EF4-FFF2-40B4-BE49-F238E27FC236}">
                  <a16:creationId xmlns:a16="http://schemas.microsoft.com/office/drawing/2014/main" id="{E65F6D93-7856-4445-8B89-BA67ED3461F3}"/>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9" name="乘号 68">
              <a:extLst>
                <a:ext uri="{FF2B5EF4-FFF2-40B4-BE49-F238E27FC236}">
                  <a16:creationId xmlns:a16="http://schemas.microsoft.com/office/drawing/2014/main" id="{D5DC15E4-CECF-455D-86CE-1A2BAB77E0E8}"/>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sp>
        <p:nvSpPr>
          <p:cNvPr id="70" name="椭圆 69">
            <a:extLst>
              <a:ext uri="{FF2B5EF4-FFF2-40B4-BE49-F238E27FC236}">
                <a16:creationId xmlns:a16="http://schemas.microsoft.com/office/drawing/2014/main" id="{2FC26EB5-E5CB-4816-83D5-A4A537B67EAE}"/>
              </a:ext>
            </a:extLst>
          </p:cNvPr>
          <p:cNvSpPr/>
          <p:nvPr/>
        </p:nvSpPr>
        <p:spPr>
          <a:xfrm>
            <a:off x="2528873" y="2403761"/>
            <a:ext cx="112938"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F034179D-7158-4AD2-96DF-E6261FEEFA38}"/>
              </a:ext>
            </a:extLst>
          </p:cNvPr>
          <p:cNvSpPr/>
          <p:nvPr/>
        </p:nvSpPr>
        <p:spPr>
          <a:xfrm>
            <a:off x="2712671" y="2403761"/>
            <a:ext cx="112938"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0E42DC54-D036-42B8-9E01-6D77FF35AC2E}"/>
              </a:ext>
            </a:extLst>
          </p:cNvPr>
          <p:cNvSpPr/>
          <p:nvPr/>
        </p:nvSpPr>
        <p:spPr>
          <a:xfrm>
            <a:off x="2895657" y="2403761"/>
            <a:ext cx="112938"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cxnSp>
        <p:nvCxnSpPr>
          <p:cNvPr id="74" name="直接箭头连接符 73">
            <a:extLst>
              <a:ext uri="{FF2B5EF4-FFF2-40B4-BE49-F238E27FC236}">
                <a16:creationId xmlns:a16="http://schemas.microsoft.com/office/drawing/2014/main" id="{88F87D9B-64A5-42AD-9CE1-FDDA3E44C6CB}"/>
              </a:ext>
            </a:extLst>
          </p:cNvPr>
          <p:cNvCxnSpPr>
            <a:cxnSpLocks/>
          </p:cNvCxnSpPr>
          <p:nvPr/>
        </p:nvCxnSpPr>
        <p:spPr>
          <a:xfrm>
            <a:off x="517337" y="2120080"/>
            <a:ext cx="161629" cy="1943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直接箭头连接符 74">
            <a:extLst>
              <a:ext uri="{FF2B5EF4-FFF2-40B4-BE49-F238E27FC236}">
                <a16:creationId xmlns:a16="http://schemas.microsoft.com/office/drawing/2014/main" id="{C38DCBB9-0C31-4CC8-B00E-6AE77E8A4903}"/>
              </a:ext>
            </a:extLst>
          </p:cNvPr>
          <p:cNvCxnSpPr>
            <a:cxnSpLocks/>
            <a:stCxn id="12" idx="4"/>
          </p:cNvCxnSpPr>
          <p:nvPr/>
        </p:nvCxnSpPr>
        <p:spPr>
          <a:xfrm>
            <a:off x="891059" y="2580248"/>
            <a:ext cx="258150" cy="2682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直接箭头连接符 76">
            <a:extLst>
              <a:ext uri="{FF2B5EF4-FFF2-40B4-BE49-F238E27FC236}">
                <a16:creationId xmlns:a16="http://schemas.microsoft.com/office/drawing/2014/main" id="{5D3644AE-F604-47D9-9F2A-BBCD639D9C62}"/>
              </a:ext>
            </a:extLst>
          </p:cNvPr>
          <p:cNvCxnSpPr>
            <a:cxnSpLocks/>
            <a:endCxn id="62" idx="0"/>
          </p:cNvCxnSpPr>
          <p:nvPr/>
        </p:nvCxnSpPr>
        <p:spPr>
          <a:xfrm>
            <a:off x="1414523" y="3124507"/>
            <a:ext cx="305441" cy="4193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直接箭头连接符 78">
            <a:extLst>
              <a:ext uri="{FF2B5EF4-FFF2-40B4-BE49-F238E27FC236}">
                <a16:creationId xmlns:a16="http://schemas.microsoft.com/office/drawing/2014/main" id="{01EE679A-9470-4C11-93BC-881BEBFDA96A}"/>
              </a:ext>
            </a:extLst>
          </p:cNvPr>
          <p:cNvCxnSpPr>
            <a:cxnSpLocks/>
            <a:stCxn id="62" idx="3"/>
            <a:endCxn id="68" idx="0"/>
          </p:cNvCxnSpPr>
          <p:nvPr/>
        </p:nvCxnSpPr>
        <p:spPr>
          <a:xfrm>
            <a:off x="1847258" y="3851126"/>
            <a:ext cx="253682" cy="3206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直接箭头连接符 80">
            <a:extLst>
              <a:ext uri="{FF2B5EF4-FFF2-40B4-BE49-F238E27FC236}">
                <a16:creationId xmlns:a16="http://schemas.microsoft.com/office/drawing/2014/main" id="{59E17DF6-1C7C-44EB-883D-65043FF56637}"/>
              </a:ext>
            </a:extLst>
          </p:cNvPr>
          <p:cNvCxnSpPr>
            <a:cxnSpLocks/>
            <a:stCxn id="65" idx="3"/>
            <a:endCxn id="68" idx="6"/>
          </p:cNvCxnSpPr>
          <p:nvPr/>
        </p:nvCxnSpPr>
        <p:spPr>
          <a:xfrm flipH="1">
            <a:off x="2355528" y="3851127"/>
            <a:ext cx="239403" cy="3206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直接箭头连接符 82">
            <a:extLst>
              <a:ext uri="{FF2B5EF4-FFF2-40B4-BE49-F238E27FC236}">
                <a16:creationId xmlns:a16="http://schemas.microsoft.com/office/drawing/2014/main" id="{2774CC95-A8CF-42CE-8DEB-5F0F7DC804FD}"/>
              </a:ext>
            </a:extLst>
          </p:cNvPr>
          <p:cNvCxnSpPr>
            <a:cxnSpLocks/>
            <a:stCxn id="56" idx="2"/>
            <a:endCxn id="65" idx="6"/>
          </p:cNvCxnSpPr>
          <p:nvPr/>
        </p:nvCxnSpPr>
        <p:spPr>
          <a:xfrm flipH="1">
            <a:off x="2722225" y="3092914"/>
            <a:ext cx="286568" cy="450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4" name="直接箭头连接符 93">
            <a:extLst>
              <a:ext uri="{FF2B5EF4-FFF2-40B4-BE49-F238E27FC236}">
                <a16:creationId xmlns:a16="http://schemas.microsoft.com/office/drawing/2014/main" id="{2B3C3E77-D8FA-475C-BA4A-12287BABE604}"/>
              </a:ext>
            </a:extLst>
          </p:cNvPr>
          <p:cNvCxnSpPr>
            <a:cxnSpLocks/>
            <a:stCxn id="46" idx="2"/>
            <a:endCxn id="56" idx="6"/>
          </p:cNvCxnSpPr>
          <p:nvPr/>
        </p:nvCxnSpPr>
        <p:spPr>
          <a:xfrm flipH="1">
            <a:off x="3263381" y="2583737"/>
            <a:ext cx="177062" cy="2545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7" name="直接箭头连接符 96">
            <a:extLst>
              <a:ext uri="{FF2B5EF4-FFF2-40B4-BE49-F238E27FC236}">
                <a16:creationId xmlns:a16="http://schemas.microsoft.com/office/drawing/2014/main" id="{17A25073-D50B-404B-A19F-D39ED58B7E34}"/>
              </a:ext>
            </a:extLst>
          </p:cNvPr>
          <p:cNvCxnSpPr>
            <a:cxnSpLocks/>
          </p:cNvCxnSpPr>
          <p:nvPr/>
        </p:nvCxnSpPr>
        <p:spPr>
          <a:xfrm flipH="1">
            <a:off x="3675003" y="2139702"/>
            <a:ext cx="107010" cy="167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直接箭头连接符 99">
            <a:extLst>
              <a:ext uri="{FF2B5EF4-FFF2-40B4-BE49-F238E27FC236}">
                <a16:creationId xmlns:a16="http://schemas.microsoft.com/office/drawing/2014/main" id="{9EF87D1E-B5F2-43D6-BFC5-E256E3589F58}"/>
              </a:ext>
            </a:extLst>
          </p:cNvPr>
          <p:cNvCxnSpPr>
            <a:cxnSpLocks/>
          </p:cNvCxnSpPr>
          <p:nvPr/>
        </p:nvCxnSpPr>
        <p:spPr>
          <a:xfrm>
            <a:off x="3351416" y="2139702"/>
            <a:ext cx="107417" cy="174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 name="直接箭头连接符 104">
            <a:extLst>
              <a:ext uri="{FF2B5EF4-FFF2-40B4-BE49-F238E27FC236}">
                <a16:creationId xmlns:a16="http://schemas.microsoft.com/office/drawing/2014/main" id="{A32959F8-F84F-4338-8864-C6C3AF4FFB97}"/>
              </a:ext>
            </a:extLst>
          </p:cNvPr>
          <p:cNvCxnSpPr>
            <a:cxnSpLocks/>
          </p:cNvCxnSpPr>
          <p:nvPr/>
        </p:nvCxnSpPr>
        <p:spPr>
          <a:xfrm>
            <a:off x="1705020" y="2124936"/>
            <a:ext cx="107417" cy="174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直接箭头连接符 105">
            <a:extLst>
              <a:ext uri="{FF2B5EF4-FFF2-40B4-BE49-F238E27FC236}">
                <a16:creationId xmlns:a16="http://schemas.microsoft.com/office/drawing/2014/main" id="{CAFB42C9-8725-46FA-AEC0-B59765ABA8C0}"/>
              </a:ext>
            </a:extLst>
          </p:cNvPr>
          <p:cNvCxnSpPr>
            <a:cxnSpLocks/>
          </p:cNvCxnSpPr>
          <p:nvPr/>
        </p:nvCxnSpPr>
        <p:spPr>
          <a:xfrm flipH="1">
            <a:off x="2039354" y="2129656"/>
            <a:ext cx="107010" cy="167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7" name="直接箭头连接符 106">
            <a:extLst>
              <a:ext uri="{FF2B5EF4-FFF2-40B4-BE49-F238E27FC236}">
                <a16:creationId xmlns:a16="http://schemas.microsoft.com/office/drawing/2014/main" id="{7692D64B-C062-4AAF-8B83-F2C4FC4DCCDB}"/>
              </a:ext>
            </a:extLst>
          </p:cNvPr>
          <p:cNvCxnSpPr>
            <a:cxnSpLocks/>
          </p:cNvCxnSpPr>
          <p:nvPr/>
        </p:nvCxnSpPr>
        <p:spPr>
          <a:xfrm flipH="1">
            <a:off x="882249" y="2124510"/>
            <a:ext cx="107010" cy="167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8" name="直接箭头连接符 107">
            <a:extLst>
              <a:ext uri="{FF2B5EF4-FFF2-40B4-BE49-F238E27FC236}">
                <a16:creationId xmlns:a16="http://schemas.microsoft.com/office/drawing/2014/main" id="{80A4EEE4-2A25-459E-B4F5-2CA11B9CECC3}"/>
              </a:ext>
            </a:extLst>
          </p:cNvPr>
          <p:cNvCxnSpPr>
            <a:cxnSpLocks/>
          </p:cNvCxnSpPr>
          <p:nvPr/>
        </p:nvCxnSpPr>
        <p:spPr>
          <a:xfrm flipH="1">
            <a:off x="1529178" y="2608842"/>
            <a:ext cx="265191" cy="2235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1" name="直接箭头连接符 110">
            <a:extLst>
              <a:ext uri="{FF2B5EF4-FFF2-40B4-BE49-F238E27FC236}">
                <a16:creationId xmlns:a16="http://schemas.microsoft.com/office/drawing/2014/main" id="{BA449D81-C384-4101-8D04-2231617594A2}"/>
              </a:ext>
            </a:extLst>
          </p:cNvPr>
          <p:cNvCxnSpPr>
            <a:cxnSpLocks/>
          </p:cNvCxnSpPr>
          <p:nvPr/>
        </p:nvCxnSpPr>
        <p:spPr>
          <a:xfrm flipH="1">
            <a:off x="2237276" y="4483348"/>
            <a:ext cx="1" cy="2486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3" name="左大括号 112">
            <a:extLst>
              <a:ext uri="{FF2B5EF4-FFF2-40B4-BE49-F238E27FC236}">
                <a16:creationId xmlns:a16="http://schemas.microsoft.com/office/drawing/2014/main" id="{F9C8D4A4-62DA-4258-A5FC-9BCC8CE6800B}"/>
              </a:ext>
            </a:extLst>
          </p:cNvPr>
          <p:cNvSpPr/>
          <p:nvPr/>
        </p:nvSpPr>
        <p:spPr>
          <a:xfrm rot="10800000">
            <a:off x="4132275" y="2403761"/>
            <a:ext cx="295709" cy="214989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114" name="文本框 113">
            <a:extLst>
              <a:ext uri="{FF2B5EF4-FFF2-40B4-BE49-F238E27FC236}">
                <a16:creationId xmlns:a16="http://schemas.microsoft.com/office/drawing/2014/main" id="{CE204A38-141A-46EA-915A-317FA68F7096}"/>
              </a:ext>
            </a:extLst>
          </p:cNvPr>
          <p:cNvSpPr txBox="1"/>
          <p:nvPr/>
        </p:nvSpPr>
        <p:spPr>
          <a:xfrm>
            <a:off x="4477412" y="3155543"/>
            <a:ext cx="999184" cy="646331"/>
          </a:xfrm>
          <a:prstGeom prst="rect">
            <a:avLst/>
          </a:prstGeom>
          <a:noFill/>
        </p:spPr>
        <p:txBody>
          <a:bodyPr wrap="none" rtlCol="0">
            <a:spAutoFit/>
          </a:bodyPr>
          <a:lstStyle/>
          <a:p>
            <a:r>
              <a:rPr lang="en-US" altLang="zh-CN" dirty="0"/>
              <a:t>8 to 1</a:t>
            </a:r>
          </a:p>
          <a:p>
            <a:r>
              <a:rPr lang="en-US" altLang="zh-CN" dirty="0"/>
              <a:t>Add tree</a:t>
            </a:r>
            <a:endParaRPr lang="zh-CN" altLang="en-US" dirty="0"/>
          </a:p>
        </p:txBody>
      </p:sp>
    </p:spTree>
    <p:extLst>
      <p:ext uri="{BB962C8B-B14F-4D97-AF65-F5344CB8AC3E}">
        <p14:creationId xmlns:p14="http://schemas.microsoft.com/office/powerpoint/2010/main" val="845170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2CCF8C5-15AB-4D46-958E-5C671B0681C5}"/>
              </a:ext>
            </a:extLst>
          </p:cNvPr>
          <p:cNvSpPr txBox="1"/>
          <p:nvPr/>
        </p:nvSpPr>
        <p:spPr>
          <a:xfrm>
            <a:off x="251520" y="748664"/>
            <a:ext cx="2829685" cy="402546"/>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en-US" altLang="zh-CN" dirty="0"/>
              <a:t>The parallelism in NVDLA</a:t>
            </a:r>
          </a:p>
        </p:txBody>
      </p:sp>
      <p:sp>
        <p:nvSpPr>
          <p:cNvPr id="15" name="标题 1">
            <a:extLst>
              <a:ext uri="{FF2B5EF4-FFF2-40B4-BE49-F238E27FC236}">
                <a16:creationId xmlns:a16="http://schemas.microsoft.com/office/drawing/2014/main" id="{C40E35DC-A903-4757-A371-5C5F8BF45D0C}"/>
              </a:ext>
            </a:extLst>
          </p:cNvPr>
          <p:cNvSpPr txBox="1">
            <a:spLocks/>
          </p:cNvSpPr>
          <p:nvPr/>
        </p:nvSpPr>
        <p:spPr>
          <a:xfrm>
            <a:off x="467544" y="339502"/>
            <a:ext cx="5256584" cy="569326"/>
          </a:xfrm>
          <a:prstGeom prst="rect">
            <a:avLst/>
          </a:prstGeom>
        </p:spPr>
        <p:txBody>
          <a:bodyPr vert="horz" lIns="0" tIns="0" rIns="0" bIns="0" rtlCol="0" anchor="t" anchorCtr="0">
            <a:normAutofit fontScale="97500"/>
          </a:bodyPr>
          <a:lstStyle>
            <a:lvl1pPr algn="l" defTabSz="457200" rtl="0" eaLnBrk="1" latinLnBrk="0" hangingPunct="1">
              <a:spcBef>
                <a:spcPct val="0"/>
              </a:spcBef>
              <a:buNone/>
              <a:defRPr sz="2600" kern="12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en-US" altLang="zh-CN" dirty="0"/>
              <a:t>Review: NVDLA</a:t>
            </a:r>
            <a:endParaRPr kumimoji="1" lang="zh-CN" altLang="en-US" dirty="0"/>
          </a:p>
        </p:txBody>
      </p:sp>
      <p:sp>
        <p:nvSpPr>
          <p:cNvPr id="78" name="文本框 77">
            <a:extLst>
              <a:ext uri="{FF2B5EF4-FFF2-40B4-BE49-F238E27FC236}">
                <a16:creationId xmlns:a16="http://schemas.microsoft.com/office/drawing/2014/main" id="{69A19141-2D09-4A32-B5DA-9EF146D038CA}"/>
              </a:ext>
            </a:extLst>
          </p:cNvPr>
          <p:cNvSpPr txBox="1"/>
          <p:nvPr/>
        </p:nvSpPr>
        <p:spPr>
          <a:xfrm>
            <a:off x="107150" y="2408805"/>
            <a:ext cx="2042554" cy="1062855"/>
          </a:xfrm>
          <a:prstGeom prst="rect">
            <a:avLst/>
          </a:prstGeom>
          <a:noFill/>
        </p:spPr>
        <p:txBody>
          <a:bodyPr wrap="square" rtlCol="0">
            <a:spAutoFit/>
          </a:bodyPr>
          <a:lstStyle/>
          <a:p>
            <a:pPr>
              <a:lnSpc>
                <a:spcPct val="120000"/>
              </a:lnSpc>
            </a:pPr>
            <a:r>
              <a:rPr lang="zh-CN" altLang="en-US" dirty="0"/>
              <a:t>为了表示方便，我们只关注</a:t>
            </a:r>
            <a:r>
              <a:rPr lang="en-US" altLang="zh-CN" dirty="0"/>
              <a:t>channel</a:t>
            </a:r>
            <a:r>
              <a:rPr lang="zh-CN" altLang="en-US" dirty="0"/>
              <a:t>层面的下标</a:t>
            </a:r>
            <a:endParaRPr lang="en-US" altLang="zh-CN" dirty="0"/>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758B3EC-CC1C-4686-A009-F7C7E3BE70AC}"/>
                  </a:ext>
                </a:extLst>
              </p:cNvPr>
              <p:cNvSpPr txBox="1"/>
              <p:nvPr/>
            </p:nvSpPr>
            <p:spPr>
              <a:xfrm>
                <a:off x="2055700" y="1405596"/>
                <a:ext cx="347146" cy="224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𝑊</m:t>
                          </m:r>
                        </m:e>
                        <m:sub>
                          <m:r>
                            <a:rPr lang="en-US" altLang="zh-CN" sz="1400" b="0" i="1" smtClean="0">
                              <a:latin typeface="Cambria Math" panose="02040503050406030204" pitchFamily="18" charset="0"/>
                            </a:rPr>
                            <m:t>0, </m:t>
                          </m:r>
                          <m:r>
                            <a:rPr lang="en-US" altLang="zh-CN" sz="1400" b="0" i="1" smtClean="0">
                              <a:latin typeface="Cambria Math" panose="02040503050406030204" pitchFamily="18" charset="0"/>
                            </a:rPr>
                            <m:t>𝑖</m:t>
                          </m:r>
                        </m:sub>
                      </m:sSub>
                    </m:oMath>
                  </m:oMathPara>
                </a14:m>
                <a:endParaRPr lang="zh-CN" altLang="en-US" sz="1400" dirty="0"/>
              </a:p>
            </p:txBody>
          </p:sp>
        </mc:Choice>
        <mc:Fallback xmlns="">
          <p:sp>
            <p:nvSpPr>
              <p:cNvPr id="19" name="文本框 18">
                <a:extLst>
                  <a:ext uri="{FF2B5EF4-FFF2-40B4-BE49-F238E27FC236}">
                    <a16:creationId xmlns:a16="http://schemas.microsoft.com/office/drawing/2014/main" id="{3758B3EC-CC1C-4686-A009-F7C7E3BE70AC}"/>
                  </a:ext>
                </a:extLst>
              </p:cNvPr>
              <p:cNvSpPr txBox="1">
                <a:spLocks noRot="1" noChangeAspect="1" noMove="1" noResize="1" noEditPoints="1" noAdjustHandles="1" noChangeArrowheads="1" noChangeShapeType="1" noTextEdit="1"/>
              </p:cNvSpPr>
              <p:nvPr/>
            </p:nvSpPr>
            <p:spPr>
              <a:xfrm>
                <a:off x="2055700" y="1405596"/>
                <a:ext cx="347146" cy="224870"/>
              </a:xfrm>
              <a:prstGeom prst="rect">
                <a:avLst/>
              </a:prstGeom>
              <a:blipFill>
                <a:blip r:embed="rId2"/>
                <a:stretch>
                  <a:fillRect l="-12281" r="-3509" b="-13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F002E7E1-0ABF-4C61-8638-D429CC9BCCD9}"/>
                  </a:ext>
                </a:extLst>
              </p:cNvPr>
              <p:cNvSpPr txBox="1"/>
              <p:nvPr/>
            </p:nvSpPr>
            <p:spPr>
              <a:xfrm>
                <a:off x="2843808" y="1410482"/>
                <a:ext cx="371832" cy="224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𝑊</m:t>
                          </m:r>
                        </m:e>
                        <m:sub>
                          <m:r>
                            <a:rPr lang="en-US" altLang="zh-CN" sz="1400" b="0" i="1" smtClean="0">
                              <a:latin typeface="Cambria Math" panose="02040503050406030204" pitchFamily="18" charset="0"/>
                            </a:rPr>
                            <m:t>1,</m:t>
                          </m:r>
                          <m: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 </m:t>
                          </m:r>
                        </m:sub>
                      </m:sSub>
                    </m:oMath>
                  </m:oMathPara>
                </a14:m>
                <a:endParaRPr lang="zh-CN" altLang="en-US" sz="1400" dirty="0"/>
              </a:p>
            </p:txBody>
          </p:sp>
        </mc:Choice>
        <mc:Fallback xmlns="">
          <p:sp>
            <p:nvSpPr>
              <p:cNvPr id="80" name="文本框 79">
                <a:extLst>
                  <a:ext uri="{FF2B5EF4-FFF2-40B4-BE49-F238E27FC236}">
                    <a16:creationId xmlns:a16="http://schemas.microsoft.com/office/drawing/2014/main" id="{F002E7E1-0ABF-4C61-8638-D429CC9BCCD9}"/>
                  </a:ext>
                </a:extLst>
              </p:cNvPr>
              <p:cNvSpPr txBox="1">
                <a:spLocks noRot="1" noChangeAspect="1" noMove="1" noResize="1" noEditPoints="1" noAdjustHandles="1" noChangeArrowheads="1" noChangeShapeType="1" noTextEdit="1"/>
              </p:cNvSpPr>
              <p:nvPr/>
            </p:nvSpPr>
            <p:spPr>
              <a:xfrm>
                <a:off x="2843808" y="1410482"/>
                <a:ext cx="371832" cy="224870"/>
              </a:xfrm>
              <a:prstGeom prst="rect">
                <a:avLst/>
              </a:prstGeom>
              <a:blipFill>
                <a:blip r:embed="rId3"/>
                <a:stretch>
                  <a:fillRect l="-9836"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FDB39A06-8C0D-4193-AECA-134BA6168CF1}"/>
                  </a:ext>
                </a:extLst>
              </p:cNvPr>
              <p:cNvSpPr txBox="1"/>
              <p:nvPr/>
            </p:nvSpPr>
            <p:spPr>
              <a:xfrm>
                <a:off x="3619936" y="1419622"/>
                <a:ext cx="376000" cy="224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𝑊</m:t>
                          </m:r>
                        </m:e>
                        <m:sub>
                          <m:r>
                            <a:rPr lang="en-US" altLang="zh-CN" sz="1400" b="0" i="1" smtClean="0">
                              <a:latin typeface="Cambria Math" panose="02040503050406030204" pitchFamily="18" charset="0"/>
                            </a:rPr>
                            <m:t>2,</m:t>
                          </m:r>
                          <m: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 </m:t>
                          </m:r>
                        </m:sub>
                      </m:sSub>
                    </m:oMath>
                  </m:oMathPara>
                </a14:m>
                <a:endParaRPr lang="zh-CN" altLang="en-US" sz="1400" dirty="0"/>
              </a:p>
            </p:txBody>
          </p:sp>
        </mc:Choice>
        <mc:Fallback xmlns="">
          <p:sp>
            <p:nvSpPr>
              <p:cNvPr id="82" name="文本框 81">
                <a:extLst>
                  <a:ext uri="{FF2B5EF4-FFF2-40B4-BE49-F238E27FC236}">
                    <a16:creationId xmlns:a16="http://schemas.microsoft.com/office/drawing/2014/main" id="{FDB39A06-8C0D-4193-AECA-134BA6168CF1}"/>
                  </a:ext>
                </a:extLst>
              </p:cNvPr>
              <p:cNvSpPr txBox="1">
                <a:spLocks noRot="1" noChangeAspect="1" noMove="1" noResize="1" noEditPoints="1" noAdjustHandles="1" noChangeArrowheads="1" noChangeShapeType="1" noTextEdit="1"/>
              </p:cNvSpPr>
              <p:nvPr/>
            </p:nvSpPr>
            <p:spPr>
              <a:xfrm>
                <a:off x="3619936" y="1419622"/>
                <a:ext cx="376000" cy="224870"/>
              </a:xfrm>
              <a:prstGeom prst="rect">
                <a:avLst/>
              </a:prstGeom>
              <a:blipFill>
                <a:blip r:embed="rId4"/>
                <a:stretch>
                  <a:fillRect l="-11290" b="-108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4556DE39-8C7F-40D8-B043-ED5492ED29DD}"/>
                  </a:ext>
                </a:extLst>
              </p:cNvPr>
              <p:cNvSpPr txBox="1"/>
              <p:nvPr/>
            </p:nvSpPr>
            <p:spPr>
              <a:xfrm>
                <a:off x="4374577" y="1418079"/>
                <a:ext cx="376000" cy="224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𝑊</m:t>
                          </m:r>
                        </m:e>
                        <m:sub>
                          <m:r>
                            <a:rPr lang="en-US" altLang="zh-CN" sz="1400" b="0" i="1" smtClean="0">
                              <a:latin typeface="Cambria Math" panose="02040503050406030204" pitchFamily="18" charset="0"/>
                            </a:rPr>
                            <m:t>3,</m:t>
                          </m:r>
                          <m: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 </m:t>
                          </m:r>
                        </m:sub>
                      </m:sSub>
                    </m:oMath>
                  </m:oMathPara>
                </a14:m>
                <a:endParaRPr lang="zh-CN" altLang="en-US" sz="1400" dirty="0"/>
              </a:p>
            </p:txBody>
          </p:sp>
        </mc:Choice>
        <mc:Fallback xmlns="">
          <p:sp>
            <p:nvSpPr>
              <p:cNvPr id="84" name="文本框 83">
                <a:extLst>
                  <a:ext uri="{FF2B5EF4-FFF2-40B4-BE49-F238E27FC236}">
                    <a16:creationId xmlns:a16="http://schemas.microsoft.com/office/drawing/2014/main" id="{4556DE39-8C7F-40D8-B043-ED5492ED29DD}"/>
                  </a:ext>
                </a:extLst>
              </p:cNvPr>
              <p:cNvSpPr txBox="1">
                <a:spLocks noRot="1" noChangeAspect="1" noMove="1" noResize="1" noEditPoints="1" noAdjustHandles="1" noChangeArrowheads="1" noChangeShapeType="1" noTextEdit="1"/>
              </p:cNvSpPr>
              <p:nvPr/>
            </p:nvSpPr>
            <p:spPr>
              <a:xfrm>
                <a:off x="4374577" y="1418079"/>
                <a:ext cx="376000" cy="224870"/>
              </a:xfrm>
              <a:prstGeom prst="rect">
                <a:avLst/>
              </a:prstGeom>
              <a:blipFill>
                <a:blip r:embed="rId5"/>
                <a:stretch>
                  <a:fillRect l="-11475" b="-108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F28E71B0-03BD-4658-985F-B53E2CBE0546}"/>
                  </a:ext>
                </a:extLst>
              </p:cNvPr>
              <p:cNvSpPr txBox="1"/>
              <p:nvPr/>
            </p:nvSpPr>
            <p:spPr>
              <a:xfrm>
                <a:off x="5523074" y="1429525"/>
                <a:ext cx="447174" cy="224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𝑊</m:t>
                          </m:r>
                        </m:e>
                        <m:sub>
                          <m:r>
                            <a:rPr lang="en-US" altLang="zh-CN" sz="1400" b="0" i="1" smtClean="0">
                              <a:latin typeface="Cambria Math" panose="02040503050406030204" pitchFamily="18" charset="0"/>
                            </a:rPr>
                            <m:t>14,</m:t>
                          </m:r>
                          <m: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 </m:t>
                          </m:r>
                        </m:sub>
                      </m:sSub>
                    </m:oMath>
                  </m:oMathPara>
                </a14:m>
                <a:endParaRPr lang="zh-CN" altLang="en-US" sz="1400" dirty="0"/>
              </a:p>
            </p:txBody>
          </p:sp>
        </mc:Choice>
        <mc:Fallback xmlns="">
          <p:sp>
            <p:nvSpPr>
              <p:cNvPr id="85" name="文本框 84">
                <a:extLst>
                  <a:ext uri="{FF2B5EF4-FFF2-40B4-BE49-F238E27FC236}">
                    <a16:creationId xmlns:a16="http://schemas.microsoft.com/office/drawing/2014/main" id="{F28E71B0-03BD-4658-985F-B53E2CBE0546}"/>
                  </a:ext>
                </a:extLst>
              </p:cNvPr>
              <p:cNvSpPr txBox="1">
                <a:spLocks noRot="1" noChangeAspect="1" noMove="1" noResize="1" noEditPoints="1" noAdjustHandles="1" noChangeArrowheads="1" noChangeShapeType="1" noTextEdit="1"/>
              </p:cNvSpPr>
              <p:nvPr/>
            </p:nvSpPr>
            <p:spPr>
              <a:xfrm>
                <a:off x="5523074" y="1429525"/>
                <a:ext cx="447174" cy="224870"/>
              </a:xfrm>
              <a:prstGeom prst="rect">
                <a:avLst/>
              </a:prstGeom>
              <a:blipFill>
                <a:blip r:embed="rId6"/>
                <a:stretch>
                  <a:fillRect l="-8219" b="-13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23F26DF0-D096-4103-A0E9-284459F0A598}"/>
                  </a:ext>
                </a:extLst>
              </p:cNvPr>
              <p:cNvSpPr txBox="1"/>
              <p:nvPr/>
            </p:nvSpPr>
            <p:spPr>
              <a:xfrm>
                <a:off x="6414951" y="1441255"/>
                <a:ext cx="447174" cy="224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𝑊</m:t>
                          </m:r>
                        </m:e>
                        <m:sub>
                          <m:r>
                            <a:rPr lang="en-US" altLang="zh-CN" sz="1400" b="0" i="1" smtClean="0">
                              <a:latin typeface="Cambria Math" panose="02040503050406030204" pitchFamily="18" charset="0"/>
                            </a:rPr>
                            <m:t>15,</m:t>
                          </m:r>
                          <m: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 </m:t>
                          </m:r>
                        </m:sub>
                      </m:sSub>
                    </m:oMath>
                  </m:oMathPara>
                </a14:m>
                <a:endParaRPr lang="zh-CN" altLang="en-US" sz="1400" dirty="0"/>
              </a:p>
            </p:txBody>
          </p:sp>
        </mc:Choice>
        <mc:Fallback xmlns="">
          <p:sp>
            <p:nvSpPr>
              <p:cNvPr id="86" name="文本框 85">
                <a:extLst>
                  <a:ext uri="{FF2B5EF4-FFF2-40B4-BE49-F238E27FC236}">
                    <a16:creationId xmlns:a16="http://schemas.microsoft.com/office/drawing/2014/main" id="{23F26DF0-D096-4103-A0E9-284459F0A598}"/>
                  </a:ext>
                </a:extLst>
              </p:cNvPr>
              <p:cNvSpPr txBox="1">
                <a:spLocks noRot="1" noChangeAspect="1" noMove="1" noResize="1" noEditPoints="1" noAdjustHandles="1" noChangeArrowheads="1" noChangeShapeType="1" noTextEdit="1"/>
              </p:cNvSpPr>
              <p:nvPr/>
            </p:nvSpPr>
            <p:spPr>
              <a:xfrm>
                <a:off x="6414951" y="1441255"/>
                <a:ext cx="447174" cy="224870"/>
              </a:xfrm>
              <a:prstGeom prst="rect">
                <a:avLst/>
              </a:prstGeom>
              <a:blipFill>
                <a:blip r:embed="rId7"/>
                <a:stretch>
                  <a:fillRect l="-8108" b="-135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9A56D493-64A6-4B82-A4A0-05F4968D8A7E}"/>
                  </a:ext>
                </a:extLst>
              </p:cNvPr>
              <p:cNvSpPr txBox="1"/>
              <p:nvPr/>
            </p:nvSpPr>
            <p:spPr>
              <a:xfrm>
                <a:off x="4475448" y="4710351"/>
                <a:ext cx="4657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𝑂𝐴</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 </m:t>
                          </m:r>
                        </m:sub>
                      </m:sSub>
                    </m:oMath>
                  </m:oMathPara>
                </a14:m>
                <a:endParaRPr lang="zh-CN" altLang="en-US" dirty="0"/>
              </a:p>
            </p:txBody>
          </p:sp>
        </mc:Choice>
        <mc:Fallback xmlns="">
          <p:sp>
            <p:nvSpPr>
              <p:cNvPr id="93" name="文本框 92">
                <a:extLst>
                  <a:ext uri="{FF2B5EF4-FFF2-40B4-BE49-F238E27FC236}">
                    <a16:creationId xmlns:a16="http://schemas.microsoft.com/office/drawing/2014/main" id="{9A56D493-64A6-4B82-A4A0-05F4968D8A7E}"/>
                  </a:ext>
                </a:extLst>
              </p:cNvPr>
              <p:cNvSpPr txBox="1">
                <a:spLocks noRot="1" noChangeAspect="1" noMove="1" noResize="1" noEditPoints="1" noAdjustHandles="1" noChangeArrowheads="1" noChangeShapeType="1" noTextEdit="1"/>
              </p:cNvSpPr>
              <p:nvPr/>
            </p:nvSpPr>
            <p:spPr>
              <a:xfrm>
                <a:off x="4475448" y="4710351"/>
                <a:ext cx="465769" cy="276999"/>
              </a:xfrm>
              <a:prstGeom prst="rect">
                <a:avLst/>
              </a:prstGeom>
              <a:blipFill>
                <a:blip r:embed="rId8"/>
                <a:stretch>
                  <a:fillRect l="-10390"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2FD5C15E-0A0B-41F1-AA8C-88932F2FD497}"/>
                  </a:ext>
                </a:extLst>
              </p:cNvPr>
              <p:cNvSpPr txBox="1"/>
              <p:nvPr/>
            </p:nvSpPr>
            <p:spPr>
              <a:xfrm>
                <a:off x="2464373" y="1418079"/>
                <a:ext cx="33284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𝐼𝐴</m:t>
                          </m:r>
                        </m:e>
                        <m:sub>
                          <m:r>
                            <a:rPr lang="en-US" altLang="zh-CN" sz="1400" b="0" i="1" smtClean="0">
                              <a:latin typeface="Cambria Math" panose="02040503050406030204" pitchFamily="18" charset="0"/>
                            </a:rPr>
                            <m:t>0 </m:t>
                          </m:r>
                        </m:sub>
                      </m:sSub>
                    </m:oMath>
                  </m:oMathPara>
                </a14:m>
                <a:endParaRPr lang="zh-CN" altLang="en-US" sz="1400" dirty="0"/>
              </a:p>
            </p:txBody>
          </p:sp>
        </mc:Choice>
        <mc:Fallback xmlns="">
          <p:sp>
            <p:nvSpPr>
              <p:cNvPr id="95" name="文本框 94">
                <a:extLst>
                  <a:ext uri="{FF2B5EF4-FFF2-40B4-BE49-F238E27FC236}">
                    <a16:creationId xmlns:a16="http://schemas.microsoft.com/office/drawing/2014/main" id="{2FD5C15E-0A0B-41F1-AA8C-88932F2FD497}"/>
                  </a:ext>
                </a:extLst>
              </p:cNvPr>
              <p:cNvSpPr txBox="1">
                <a:spLocks noRot="1" noChangeAspect="1" noMove="1" noResize="1" noEditPoints="1" noAdjustHandles="1" noChangeArrowheads="1" noChangeShapeType="1" noTextEdit="1"/>
              </p:cNvSpPr>
              <p:nvPr/>
            </p:nvSpPr>
            <p:spPr>
              <a:xfrm>
                <a:off x="2464373" y="1418079"/>
                <a:ext cx="332847" cy="215444"/>
              </a:xfrm>
              <a:prstGeom prst="rect">
                <a:avLst/>
              </a:prstGeom>
              <a:blipFill>
                <a:blip r:embed="rId9"/>
                <a:stretch>
                  <a:fillRect l="-12727" b="-14286"/>
                </a:stretch>
              </a:blipFill>
            </p:spPr>
            <p:txBody>
              <a:bodyPr/>
              <a:lstStyle/>
              <a:p>
                <a:r>
                  <a:rPr lang="zh-CN" altLang="en-US">
                    <a:noFill/>
                  </a:rPr>
                  <a:t> </a:t>
                </a:r>
              </a:p>
            </p:txBody>
          </p:sp>
        </mc:Fallback>
      </mc:AlternateContent>
      <p:grpSp>
        <p:nvGrpSpPr>
          <p:cNvPr id="73" name="组合 72">
            <a:extLst>
              <a:ext uri="{FF2B5EF4-FFF2-40B4-BE49-F238E27FC236}">
                <a16:creationId xmlns:a16="http://schemas.microsoft.com/office/drawing/2014/main" id="{5834A1DE-A258-46EF-962E-D8E4EEDADCB2}"/>
              </a:ext>
            </a:extLst>
          </p:cNvPr>
          <p:cNvGrpSpPr/>
          <p:nvPr/>
        </p:nvGrpSpPr>
        <p:grpSpPr>
          <a:xfrm>
            <a:off x="2272714" y="1728293"/>
            <a:ext cx="4675550" cy="2957258"/>
            <a:chOff x="2272714" y="1728293"/>
            <a:chExt cx="4243502" cy="2957258"/>
          </a:xfrm>
        </p:grpSpPr>
        <p:grpSp>
          <p:nvGrpSpPr>
            <p:cNvPr id="8" name="组合 7">
              <a:extLst>
                <a:ext uri="{FF2B5EF4-FFF2-40B4-BE49-F238E27FC236}">
                  <a16:creationId xmlns:a16="http://schemas.microsoft.com/office/drawing/2014/main" id="{7AEEE9C7-A845-463C-A9DA-0E0F4EAC37FF}"/>
                </a:ext>
              </a:extLst>
            </p:cNvPr>
            <p:cNvGrpSpPr/>
            <p:nvPr/>
          </p:nvGrpSpPr>
          <p:grpSpPr>
            <a:xfrm>
              <a:off x="2272714" y="1728295"/>
              <a:ext cx="404681" cy="360041"/>
              <a:chOff x="798079" y="1707654"/>
              <a:chExt cx="360042" cy="360041"/>
            </a:xfrm>
          </p:grpSpPr>
          <p:sp>
            <p:nvSpPr>
              <p:cNvPr id="3" name="椭圆 2">
                <a:extLst>
                  <a:ext uri="{FF2B5EF4-FFF2-40B4-BE49-F238E27FC236}">
                    <a16:creationId xmlns:a16="http://schemas.microsoft.com/office/drawing/2014/main" id="{0456D258-4159-44C0-B921-3A7069AF58C7}"/>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 name="乘号 6">
                <a:extLst>
                  <a:ext uri="{FF2B5EF4-FFF2-40B4-BE49-F238E27FC236}">
                    <a16:creationId xmlns:a16="http://schemas.microsoft.com/office/drawing/2014/main" id="{9C47A78E-CE8E-4830-B86F-7EDD36AE512D}"/>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16" name="组合 15">
              <a:extLst>
                <a:ext uri="{FF2B5EF4-FFF2-40B4-BE49-F238E27FC236}">
                  <a16:creationId xmlns:a16="http://schemas.microsoft.com/office/drawing/2014/main" id="{77FADB3A-965B-4B5F-9085-E99DC5DA75F1}"/>
                </a:ext>
              </a:extLst>
            </p:cNvPr>
            <p:cNvGrpSpPr/>
            <p:nvPr/>
          </p:nvGrpSpPr>
          <p:grpSpPr>
            <a:xfrm>
              <a:off x="2951718" y="1728294"/>
              <a:ext cx="404681" cy="360041"/>
              <a:chOff x="798079" y="1707654"/>
              <a:chExt cx="360042" cy="360041"/>
            </a:xfrm>
          </p:grpSpPr>
          <p:sp>
            <p:nvSpPr>
              <p:cNvPr id="17" name="椭圆 16">
                <a:extLst>
                  <a:ext uri="{FF2B5EF4-FFF2-40B4-BE49-F238E27FC236}">
                    <a16:creationId xmlns:a16="http://schemas.microsoft.com/office/drawing/2014/main" id="{C8B94BE0-A46E-4EE0-925B-85383085E8E9}"/>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8" name="乘号 17">
                <a:extLst>
                  <a:ext uri="{FF2B5EF4-FFF2-40B4-BE49-F238E27FC236}">
                    <a16:creationId xmlns:a16="http://schemas.microsoft.com/office/drawing/2014/main" id="{1FE4B132-8471-490F-99FF-84CAED7222AB}"/>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22" name="组合 21">
              <a:extLst>
                <a:ext uri="{FF2B5EF4-FFF2-40B4-BE49-F238E27FC236}">
                  <a16:creationId xmlns:a16="http://schemas.microsoft.com/office/drawing/2014/main" id="{62D1E451-ECC7-401B-B0C0-8DB62CC2C0F9}"/>
                </a:ext>
              </a:extLst>
            </p:cNvPr>
            <p:cNvGrpSpPr/>
            <p:nvPr/>
          </p:nvGrpSpPr>
          <p:grpSpPr>
            <a:xfrm>
              <a:off x="3572695" y="1728295"/>
              <a:ext cx="404681" cy="360041"/>
              <a:chOff x="798079" y="1707654"/>
              <a:chExt cx="360042" cy="360041"/>
            </a:xfrm>
          </p:grpSpPr>
          <p:sp>
            <p:nvSpPr>
              <p:cNvPr id="23" name="椭圆 22">
                <a:extLst>
                  <a:ext uri="{FF2B5EF4-FFF2-40B4-BE49-F238E27FC236}">
                    <a16:creationId xmlns:a16="http://schemas.microsoft.com/office/drawing/2014/main" id="{E88B9EC0-B6EE-443A-8E77-371334C9845C}"/>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4" name="乘号 23">
                <a:extLst>
                  <a:ext uri="{FF2B5EF4-FFF2-40B4-BE49-F238E27FC236}">
                    <a16:creationId xmlns:a16="http://schemas.microsoft.com/office/drawing/2014/main" id="{0AF17B04-8E12-4FE1-BF5A-00BA012EE3D6}"/>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EC374EBA-AE0E-47AB-A699-0B7079652AC4}"/>
                </a:ext>
              </a:extLst>
            </p:cNvPr>
            <p:cNvGrpSpPr/>
            <p:nvPr/>
          </p:nvGrpSpPr>
          <p:grpSpPr>
            <a:xfrm>
              <a:off x="4251699" y="1728294"/>
              <a:ext cx="404681" cy="360041"/>
              <a:chOff x="798079" y="1707654"/>
              <a:chExt cx="360042" cy="360041"/>
            </a:xfrm>
          </p:grpSpPr>
          <p:sp>
            <p:nvSpPr>
              <p:cNvPr id="29" name="椭圆 28">
                <a:extLst>
                  <a:ext uri="{FF2B5EF4-FFF2-40B4-BE49-F238E27FC236}">
                    <a16:creationId xmlns:a16="http://schemas.microsoft.com/office/drawing/2014/main" id="{71722349-80B7-4E72-A105-67E9E53C5D79}"/>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0" name="乘号 29">
                <a:extLst>
                  <a:ext uri="{FF2B5EF4-FFF2-40B4-BE49-F238E27FC236}">
                    <a16:creationId xmlns:a16="http://schemas.microsoft.com/office/drawing/2014/main" id="{5E6AD6EF-54CC-4B9B-9052-2F48BD37F6DD}"/>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sp>
          <p:nvSpPr>
            <p:cNvPr id="9" name="椭圆 8">
              <a:extLst>
                <a:ext uri="{FF2B5EF4-FFF2-40B4-BE49-F238E27FC236}">
                  <a16:creationId xmlns:a16="http://schemas.microsoft.com/office/drawing/2014/main" id="{FA28BCA0-4EEF-4142-A0F9-78774483488C}"/>
                </a:ext>
              </a:extLst>
            </p:cNvPr>
            <p:cNvSpPr/>
            <p:nvPr/>
          </p:nvSpPr>
          <p:spPr>
            <a:xfrm>
              <a:off x="4802729" y="1871716"/>
              <a:ext cx="126940"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7A5C5670-6CCD-4452-8EA9-C33D7D3F0DB4}"/>
                </a:ext>
              </a:extLst>
            </p:cNvPr>
            <p:cNvSpPr/>
            <p:nvPr/>
          </p:nvSpPr>
          <p:spPr>
            <a:xfrm>
              <a:off x="5009315" y="1871716"/>
              <a:ext cx="126940"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E973F86F-0068-4745-8591-8A7546E42F9A}"/>
                </a:ext>
              </a:extLst>
            </p:cNvPr>
            <p:cNvSpPr/>
            <p:nvPr/>
          </p:nvSpPr>
          <p:spPr>
            <a:xfrm>
              <a:off x="5214988" y="1871716"/>
              <a:ext cx="126940"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nvGrpSpPr>
            <p:cNvPr id="42" name="组合 41">
              <a:extLst>
                <a:ext uri="{FF2B5EF4-FFF2-40B4-BE49-F238E27FC236}">
                  <a16:creationId xmlns:a16="http://schemas.microsoft.com/office/drawing/2014/main" id="{E1CFE5F1-2019-4E75-BFA6-1505A6916521}"/>
                </a:ext>
              </a:extLst>
            </p:cNvPr>
            <p:cNvGrpSpPr/>
            <p:nvPr/>
          </p:nvGrpSpPr>
          <p:grpSpPr>
            <a:xfrm>
              <a:off x="5432532" y="1728294"/>
              <a:ext cx="404681" cy="360041"/>
              <a:chOff x="798079" y="1707654"/>
              <a:chExt cx="360042" cy="360041"/>
            </a:xfrm>
          </p:grpSpPr>
          <p:sp>
            <p:nvSpPr>
              <p:cNvPr id="43" name="椭圆 42">
                <a:extLst>
                  <a:ext uri="{FF2B5EF4-FFF2-40B4-BE49-F238E27FC236}">
                    <a16:creationId xmlns:a16="http://schemas.microsoft.com/office/drawing/2014/main" id="{FB728E2D-2170-492C-86D5-FC3A0D46EBCF}"/>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4" name="乘号 43">
                <a:extLst>
                  <a:ext uri="{FF2B5EF4-FFF2-40B4-BE49-F238E27FC236}">
                    <a16:creationId xmlns:a16="http://schemas.microsoft.com/office/drawing/2014/main" id="{F9CC90A1-B71E-465F-8625-E13E26E539E2}"/>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48" name="组合 47">
              <a:extLst>
                <a:ext uri="{FF2B5EF4-FFF2-40B4-BE49-F238E27FC236}">
                  <a16:creationId xmlns:a16="http://schemas.microsoft.com/office/drawing/2014/main" id="{54E471E0-CBF2-4B10-BBF9-336171E45030}"/>
                </a:ext>
              </a:extLst>
            </p:cNvPr>
            <p:cNvGrpSpPr/>
            <p:nvPr/>
          </p:nvGrpSpPr>
          <p:grpSpPr>
            <a:xfrm>
              <a:off x="6111535" y="1728293"/>
              <a:ext cx="404681" cy="360041"/>
              <a:chOff x="798079" y="1707654"/>
              <a:chExt cx="360042" cy="360041"/>
            </a:xfrm>
          </p:grpSpPr>
          <p:sp>
            <p:nvSpPr>
              <p:cNvPr id="49" name="椭圆 48">
                <a:extLst>
                  <a:ext uri="{FF2B5EF4-FFF2-40B4-BE49-F238E27FC236}">
                    <a16:creationId xmlns:a16="http://schemas.microsoft.com/office/drawing/2014/main" id="{57BD2950-346E-4BC4-BE2F-2D5EA52A4781}"/>
                  </a:ext>
                </a:extLst>
              </p:cNvPr>
              <p:cNvSpPr/>
              <p:nvPr/>
            </p:nvSpPr>
            <p:spPr>
              <a:xfrm>
                <a:off x="798080" y="1707654"/>
                <a:ext cx="360041"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0" name="乘号 49">
                <a:extLst>
                  <a:ext uri="{FF2B5EF4-FFF2-40B4-BE49-F238E27FC236}">
                    <a16:creationId xmlns:a16="http://schemas.microsoft.com/office/drawing/2014/main" id="{78D7E4CD-EDB1-4CE8-9773-E64FA5E3B044}"/>
                  </a:ext>
                </a:extLst>
              </p:cNvPr>
              <p:cNvSpPr/>
              <p:nvPr/>
            </p:nvSpPr>
            <p:spPr>
              <a:xfrm>
                <a:off x="798079" y="1707654"/>
                <a:ext cx="360041" cy="360041"/>
              </a:xfrm>
              <a:prstGeom prst="mathMultiply">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sp>
          <p:nvSpPr>
            <p:cNvPr id="58" name="椭圆 57">
              <a:extLst>
                <a:ext uri="{FF2B5EF4-FFF2-40B4-BE49-F238E27FC236}">
                  <a16:creationId xmlns:a16="http://schemas.microsoft.com/office/drawing/2014/main" id="{8EA1AB3F-CCA2-4DD7-A0D2-8FEA27B7AFE7}"/>
                </a:ext>
              </a:extLst>
            </p:cNvPr>
            <p:cNvSpPr/>
            <p:nvPr/>
          </p:nvSpPr>
          <p:spPr>
            <a:xfrm>
              <a:off x="4155433" y="2883764"/>
              <a:ext cx="126940"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D0BF21DF-7D43-4711-B53B-622BA53209B4}"/>
                </a:ext>
              </a:extLst>
            </p:cNvPr>
            <p:cNvSpPr/>
            <p:nvPr/>
          </p:nvSpPr>
          <p:spPr>
            <a:xfrm>
              <a:off x="4362019" y="2883764"/>
              <a:ext cx="126940"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60" name="椭圆 59">
              <a:extLst>
                <a:ext uri="{FF2B5EF4-FFF2-40B4-BE49-F238E27FC236}">
                  <a16:creationId xmlns:a16="http://schemas.microsoft.com/office/drawing/2014/main" id="{B4D391B9-81FB-4939-A35E-1BE7E33BC54C}"/>
                </a:ext>
              </a:extLst>
            </p:cNvPr>
            <p:cNvSpPr/>
            <p:nvPr/>
          </p:nvSpPr>
          <p:spPr>
            <a:xfrm>
              <a:off x="4567692" y="2883764"/>
              <a:ext cx="126940"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70" name="椭圆 69">
              <a:extLst>
                <a:ext uri="{FF2B5EF4-FFF2-40B4-BE49-F238E27FC236}">
                  <a16:creationId xmlns:a16="http://schemas.microsoft.com/office/drawing/2014/main" id="{2FC26EB5-E5CB-4816-83D5-A4A537B67EAE}"/>
                </a:ext>
              </a:extLst>
            </p:cNvPr>
            <p:cNvSpPr/>
            <p:nvPr/>
          </p:nvSpPr>
          <p:spPr>
            <a:xfrm>
              <a:off x="4791952" y="2357322"/>
              <a:ext cx="126940"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F034179D-7158-4AD2-96DF-E6261FEEFA38}"/>
                </a:ext>
              </a:extLst>
            </p:cNvPr>
            <p:cNvSpPr/>
            <p:nvPr/>
          </p:nvSpPr>
          <p:spPr>
            <a:xfrm>
              <a:off x="4998538" y="2357322"/>
              <a:ext cx="126940"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0E42DC54-D036-42B8-9E01-6D77FF35AC2E}"/>
                </a:ext>
              </a:extLst>
            </p:cNvPr>
            <p:cNvSpPr/>
            <p:nvPr/>
          </p:nvSpPr>
          <p:spPr>
            <a:xfrm>
              <a:off x="5204211" y="2357322"/>
              <a:ext cx="126940" cy="112938"/>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cxnSp>
          <p:nvCxnSpPr>
            <p:cNvPr id="74" name="直接箭头连接符 73">
              <a:extLst>
                <a:ext uri="{FF2B5EF4-FFF2-40B4-BE49-F238E27FC236}">
                  <a16:creationId xmlns:a16="http://schemas.microsoft.com/office/drawing/2014/main" id="{88F87D9B-64A5-42AD-9CE1-FDDA3E44C6CB}"/>
                </a:ext>
              </a:extLst>
            </p:cNvPr>
            <p:cNvCxnSpPr>
              <a:cxnSpLocks/>
            </p:cNvCxnSpPr>
            <p:nvPr/>
          </p:nvCxnSpPr>
          <p:spPr>
            <a:xfrm>
              <a:off x="2531021" y="2073641"/>
              <a:ext cx="181668" cy="1943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直接箭头连接符 74">
              <a:extLst>
                <a:ext uri="{FF2B5EF4-FFF2-40B4-BE49-F238E27FC236}">
                  <a16:creationId xmlns:a16="http://schemas.microsoft.com/office/drawing/2014/main" id="{C38DCBB9-0C31-4CC8-B00E-6AE77E8A4903}"/>
                </a:ext>
              </a:extLst>
            </p:cNvPr>
            <p:cNvCxnSpPr>
              <a:cxnSpLocks/>
            </p:cNvCxnSpPr>
            <p:nvPr/>
          </p:nvCxnSpPr>
          <p:spPr>
            <a:xfrm>
              <a:off x="2951078" y="2533809"/>
              <a:ext cx="290156" cy="2682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直接箭头连接符 76">
              <a:extLst>
                <a:ext uri="{FF2B5EF4-FFF2-40B4-BE49-F238E27FC236}">
                  <a16:creationId xmlns:a16="http://schemas.microsoft.com/office/drawing/2014/main" id="{5D3644AE-F604-47D9-9F2A-BBCD639D9C62}"/>
                </a:ext>
              </a:extLst>
            </p:cNvPr>
            <p:cNvCxnSpPr>
              <a:cxnSpLocks/>
            </p:cNvCxnSpPr>
            <p:nvPr/>
          </p:nvCxnSpPr>
          <p:spPr>
            <a:xfrm>
              <a:off x="3539442" y="3078068"/>
              <a:ext cx="343310" cy="4193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直接箭头连接符 78">
              <a:extLst>
                <a:ext uri="{FF2B5EF4-FFF2-40B4-BE49-F238E27FC236}">
                  <a16:creationId xmlns:a16="http://schemas.microsoft.com/office/drawing/2014/main" id="{01EE679A-9470-4C11-93BC-881BEBFDA96A}"/>
                </a:ext>
              </a:extLst>
            </p:cNvPr>
            <p:cNvCxnSpPr>
              <a:cxnSpLocks/>
            </p:cNvCxnSpPr>
            <p:nvPr/>
          </p:nvCxnSpPr>
          <p:spPr>
            <a:xfrm>
              <a:off x="4025829" y="3804687"/>
              <a:ext cx="285134" cy="3206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直接箭头连接符 80">
              <a:extLst>
                <a:ext uri="{FF2B5EF4-FFF2-40B4-BE49-F238E27FC236}">
                  <a16:creationId xmlns:a16="http://schemas.microsoft.com/office/drawing/2014/main" id="{59E17DF6-1C7C-44EB-883D-65043FF56637}"/>
                </a:ext>
              </a:extLst>
            </p:cNvPr>
            <p:cNvCxnSpPr>
              <a:cxnSpLocks/>
            </p:cNvCxnSpPr>
            <p:nvPr/>
          </p:nvCxnSpPr>
          <p:spPr>
            <a:xfrm flipH="1">
              <a:off x="4597116" y="3804688"/>
              <a:ext cx="269085" cy="3206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直接箭头连接符 82">
              <a:extLst>
                <a:ext uri="{FF2B5EF4-FFF2-40B4-BE49-F238E27FC236}">
                  <a16:creationId xmlns:a16="http://schemas.microsoft.com/office/drawing/2014/main" id="{2774CC95-A8CF-42CE-8DEB-5F0F7DC804FD}"/>
                </a:ext>
              </a:extLst>
            </p:cNvPr>
            <p:cNvCxnSpPr>
              <a:cxnSpLocks/>
            </p:cNvCxnSpPr>
            <p:nvPr/>
          </p:nvCxnSpPr>
          <p:spPr>
            <a:xfrm flipH="1">
              <a:off x="5009277" y="3046475"/>
              <a:ext cx="322097" cy="450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4" name="直接箭头连接符 93">
              <a:extLst>
                <a:ext uri="{FF2B5EF4-FFF2-40B4-BE49-F238E27FC236}">
                  <a16:creationId xmlns:a16="http://schemas.microsoft.com/office/drawing/2014/main" id="{2B3C3E77-D8FA-475C-BA4A-12287BABE604}"/>
                </a:ext>
              </a:extLst>
            </p:cNvPr>
            <p:cNvCxnSpPr>
              <a:cxnSpLocks/>
            </p:cNvCxnSpPr>
            <p:nvPr/>
          </p:nvCxnSpPr>
          <p:spPr>
            <a:xfrm flipH="1">
              <a:off x="5617527" y="2537298"/>
              <a:ext cx="199015" cy="2545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7" name="直接箭头连接符 96">
              <a:extLst>
                <a:ext uri="{FF2B5EF4-FFF2-40B4-BE49-F238E27FC236}">
                  <a16:creationId xmlns:a16="http://schemas.microsoft.com/office/drawing/2014/main" id="{17A25073-D50B-404B-A19F-D39ED58B7E34}"/>
                </a:ext>
              </a:extLst>
            </p:cNvPr>
            <p:cNvCxnSpPr>
              <a:cxnSpLocks/>
            </p:cNvCxnSpPr>
            <p:nvPr/>
          </p:nvCxnSpPr>
          <p:spPr>
            <a:xfrm flipH="1">
              <a:off x="6080183" y="2093263"/>
              <a:ext cx="120277" cy="167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直接箭头连接符 99">
              <a:extLst>
                <a:ext uri="{FF2B5EF4-FFF2-40B4-BE49-F238E27FC236}">
                  <a16:creationId xmlns:a16="http://schemas.microsoft.com/office/drawing/2014/main" id="{9EF87D1E-B5F2-43D6-BFC5-E256E3589F58}"/>
                </a:ext>
              </a:extLst>
            </p:cNvPr>
            <p:cNvCxnSpPr>
              <a:cxnSpLocks/>
            </p:cNvCxnSpPr>
            <p:nvPr/>
          </p:nvCxnSpPr>
          <p:spPr>
            <a:xfrm>
              <a:off x="5716477" y="2093263"/>
              <a:ext cx="120735" cy="174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 name="直接箭头连接符 104">
              <a:extLst>
                <a:ext uri="{FF2B5EF4-FFF2-40B4-BE49-F238E27FC236}">
                  <a16:creationId xmlns:a16="http://schemas.microsoft.com/office/drawing/2014/main" id="{A32959F8-F84F-4338-8864-C6C3AF4FFB97}"/>
                </a:ext>
              </a:extLst>
            </p:cNvPr>
            <p:cNvCxnSpPr>
              <a:cxnSpLocks/>
            </p:cNvCxnSpPr>
            <p:nvPr/>
          </p:nvCxnSpPr>
          <p:spPr>
            <a:xfrm>
              <a:off x="3865956" y="2078497"/>
              <a:ext cx="120735" cy="174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直接箭头连接符 105">
              <a:extLst>
                <a:ext uri="{FF2B5EF4-FFF2-40B4-BE49-F238E27FC236}">
                  <a16:creationId xmlns:a16="http://schemas.microsoft.com/office/drawing/2014/main" id="{CAFB42C9-8725-46FA-AEC0-B59765ABA8C0}"/>
                </a:ext>
              </a:extLst>
            </p:cNvPr>
            <p:cNvCxnSpPr>
              <a:cxnSpLocks/>
            </p:cNvCxnSpPr>
            <p:nvPr/>
          </p:nvCxnSpPr>
          <p:spPr>
            <a:xfrm flipH="1">
              <a:off x="4241742" y="2083217"/>
              <a:ext cx="120277" cy="167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7" name="直接箭头连接符 106">
              <a:extLst>
                <a:ext uri="{FF2B5EF4-FFF2-40B4-BE49-F238E27FC236}">
                  <a16:creationId xmlns:a16="http://schemas.microsoft.com/office/drawing/2014/main" id="{7692D64B-C062-4AAF-8B83-F2C4FC4DCCDB}"/>
                </a:ext>
              </a:extLst>
            </p:cNvPr>
            <p:cNvCxnSpPr>
              <a:cxnSpLocks/>
            </p:cNvCxnSpPr>
            <p:nvPr/>
          </p:nvCxnSpPr>
          <p:spPr>
            <a:xfrm flipH="1">
              <a:off x="2941176" y="2078071"/>
              <a:ext cx="120277" cy="167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8" name="直接箭头连接符 107">
              <a:extLst>
                <a:ext uri="{FF2B5EF4-FFF2-40B4-BE49-F238E27FC236}">
                  <a16:creationId xmlns:a16="http://schemas.microsoft.com/office/drawing/2014/main" id="{80A4EEE4-2A25-459E-B4F5-2CA11B9CECC3}"/>
                </a:ext>
              </a:extLst>
            </p:cNvPr>
            <p:cNvCxnSpPr>
              <a:cxnSpLocks/>
            </p:cNvCxnSpPr>
            <p:nvPr/>
          </p:nvCxnSpPr>
          <p:spPr>
            <a:xfrm flipH="1">
              <a:off x="3668313" y="2562403"/>
              <a:ext cx="298070" cy="2235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1" name="直接箭头连接符 110">
              <a:extLst>
                <a:ext uri="{FF2B5EF4-FFF2-40B4-BE49-F238E27FC236}">
                  <a16:creationId xmlns:a16="http://schemas.microsoft.com/office/drawing/2014/main" id="{BA449D81-C384-4101-8D04-2231617594A2}"/>
                </a:ext>
              </a:extLst>
            </p:cNvPr>
            <p:cNvCxnSpPr>
              <a:cxnSpLocks/>
            </p:cNvCxnSpPr>
            <p:nvPr/>
          </p:nvCxnSpPr>
          <p:spPr>
            <a:xfrm flipH="1">
              <a:off x="4464203" y="4436909"/>
              <a:ext cx="1" cy="2486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9" name="组合 38">
              <a:extLst>
                <a:ext uri="{FF2B5EF4-FFF2-40B4-BE49-F238E27FC236}">
                  <a16:creationId xmlns:a16="http://schemas.microsoft.com/office/drawing/2014/main" id="{59CCC0B1-E0A7-4E10-96CC-28B1D10EE9F4}"/>
                </a:ext>
              </a:extLst>
            </p:cNvPr>
            <p:cNvGrpSpPr/>
            <p:nvPr/>
          </p:nvGrpSpPr>
          <p:grpSpPr>
            <a:xfrm>
              <a:off x="2634215" y="2215301"/>
              <a:ext cx="404680" cy="360041"/>
              <a:chOff x="6694721" y="2976046"/>
              <a:chExt cx="404680" cy="360041"/>
            </a:xfrm>
          </p:grpSpPr>
          <p:sp>
            <p:nvSpPr>
              <p:cNvPr id="98" name="椭圆 97">
                <a:extLst>
                  <a:ext uri="{FF2B5EF4-FFF2-40B4-BE49-F238E27FC236}">
                    <a16:creationId xmlns:a16="http://schemas.microsoft.com/office/drawing/2014/main" id="{C546AAB0-6569-4829-9017-2D77BFC1905C}"/>
                  </a:ext>
                </a:extLst>
              </p:cNvPr>
              <p:cNvSpPr/>
              <p:nvPr/>
            </p:nvSpPr>
            <p:spPr>
              <a:xfrm>
                <a:off x="6694721" y="2976046"/>
                <a:ext cx="404680"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8" name="加号 37">
                <a:extLst>
                  <a:ext uri="{FF2B5EF4-FFF2-40B4-BE49-F238E27FC236}">
                    <a16:creationId xmlns:a16="http://schemas.microsoft.com/office/drawing/2014/main" id="{04ADD837-455A-4841-AFA9-6A1E1BCA2122}"/>
                  </a:ext>
                </a:extLst>
              </p:cNvPr>
              <p:cNvSpPr/>
              <p:nvPr/>
            </p:nvSpPr>
            <p:spPr>
              <a:xfrm>
                <a:off x="6717040" y="2976046"/>
                <a:ext cx="360041" cy="360041"/>
              </a:xfrm>
              <a:prstGeom prst="mathPlus">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101" name="组合 100">
              <a:extLst>
                <a:ext uri="{FF2B5EF4-FFF2-40B4-BE49-F238E27FC236}">
                  <a16:creationId xmlns:a16="http://schemas.microsoft.com/office/drawing/2014/main" id="{B5919DE1-DE73-4B2E-B95D-795371B20ADA}"/>
                </a:ext>
              </a:extLst>
            </p:cNvPr>
            <p:cNvGrpSpPr/>
            <p:nvPr/>
          </p:nvGrpSpPr>
          <p:grpSpPr>
            <a:xfrm>
              <a:off x="3912877" y="2225976"/>
              <a:ext cx="404680" cy="360041"/>
              <a:chOff x="6694721" y="2976046"/>
              <a:chExt cx="404680" cy="360041"/>
            </a:xfrm>
          </p:grpSpPr>
          <p:sp>
            <p:nvSpPr>
              <p:cNvPr id="102" name="椭圆 101">
                <a:extLst>
                  <a:ext uri="{FF2B5EF4-FFF2-40B4-BE49-F238E27FC236}">
                    <a16:creationId xmlns:a16="http://schemas.microsoft.com/office/drawing/2014/main" id="{61C180A8-D35C-471B-A1DA-EBBE8FC580C7}"/>
                  </a:ext>
                </a:extLst>
              </p:cNvPr>
              <p:cNvSpPr/>
              <p:nvPr/>
            </p:nvSpPr>
            <p:spPr>
              <a:xfrm>
                <a:off x="6694721" y="2976046"/>
                <a:ext cx="404680"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03" name="加号 102">
                <a:extLst>
                  <a:ext uri="{FF2B5EF4-FFF2-40B4-BE49-F238E27FC236}">
                    <a16:creationId xmlns:a16="http://schemas.microsoft.com/office/drawing/2014/main" id="{B00EE55A-5CC5-4CA1-8C81-A5D0AE2AA86D}"/>
                  </a:ext>
                </a:extLst>
              </p:cNvPr>
              <p:cNvSpPr/>
              <p:nvPr/>
            </p:nvSpPr>
            <p:spPr>
              <a:xfrm>
                <a:off x="6717040" y="2976046"/>
                <a:ext cx="360041" cy="360041"/>
              </a:xfrm>
              <a:prstGeom prst="mathPlus">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104" name="组合 103">
              <a:extLst>
                <a:ext uri="{FF2B5EF4-FFF2-40B4-BE49-F238E27FC236}">
                  <a16:creationId xmlns:a16="http://schemas.microsoft.com/office/drawing/2014/main" id="{6C6725B5-236C-4F26-9BBE-5B4193F20A87}"/>
                </a:ext>
              </a:extLst>
            </p:cNvPr>
            <p:cNvGrpSpPr/>
            <p:nvPr/>
          </p:nvGrpSpPr>
          <p:grpSpPr>
            <a:xfrm>
              <a:off x="5744041" y="2222037"/>
              <a:ext cx="404680" cy="360041"/>
              <a:chOff x="6694721" y="2976046"/>
              <a:chExt cx="404680" cy="360041"/>
            </a:xfrm>
          </p:grpSpPr>
          <p:sp>
            <p:nvSpPr>
              <p:cNvPr id="109" name="椭圆 108">
                <a:extLst>
                  <a:ext uri="{FF2B5EF4-FFF2-40B4-BE49-F238E27FC236}">
                    <a16:creationId xmlns:a16="http://schemas.microsoft.com/office/drawing/2014/main" id="{CFF96967-0CCD-410E-9227-4C1770FD122B}"/>
                  </a:ext>
                </a:extLst>
              </p:cNvPr>
              <p:cNvSpPr/>
              <p:nvPr/>
            </p:nvSpPr>
            <p:spPr>
              <a:xfrm>
                <a:off x="6694721" y="2976046"/>
                <a:ext cx="404680"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0" name="加号 109">
                <a:extLst>
                  <a:ext uri="{FF2B5EF4-FFF2-40B4-BE49-F238E27FC236}">
                    <a16:creationId xmlns:a16="http://schemas.microsoft.com/office/drawing/2014/main" id="{2F83E485-BFB9-43BF-9459-DC5DD04515B9}"/>
                  </a:ext>
                </a:extLst>
              </p:cNvPr>
              <p:cNvSpPr/>
              <p:nvPr/>
            </p:nvSpPr>
            <p:spPr>
              <a:xfrm>
                <a:off x="6717040" y="2976046"/>
                <a:ext cx="360041" cy="360041"/>
              </a:xfrm>
              <a:prstGeom prst="mathPlus">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112" name="组合 111">
              <a:extLst>
                <a:ext uri="{FF2B5EF4-FFF2-40B4-BE49-F238E27FC236}">
                  <a16:creationId xmlns:a16="http://schemas.microsoft.com/office/drawing/2014/main" id="{D2D5512F-B6C0-43A1-8085-A82B784F82ED}"/>
                </a:ext>
              </a:extLst>
            </p:cNvPr>
            <p:cNvGrpSpPr/>
            <p:nvPr/>
          </p:nvGrpSpPr>
          <p:grpSpPr>
            <a:xfrm>
              <a:off x="3252433" y="2696987"/>
              <a:ext cx="404680" cy="360041"/>
              <a:chOff x="6694721" y="2976046"/>
              <a:chExt cx="404680" cy="360041"/>
            </a:xfrm>
          </p:grpSpPr>
          <p:sp>
            <p:nvSpPr>
              <p:cNvPr id="115" name="椭圆 114">
                <a:extLst>
                  <a:ext uri="{FF2B5EF4-FFF2-40B4-BE49-F238E27FC236}">
                    <a16:creationId xmlns:a16="http://schemas.microsoft.com/office/drawing/2014/main" id="{F428AB74-7F6B-4AC2-8CCF-3E1E53678614}"/>
                  </a:ext>
                </a:extLst>
              </p:cNvPr>
              <p:cNvSpPr/>
              <p:nvPr/>
            </p:nvSpPr>
            <p:spPr>
              <a:xfrm>
                <a:off x="6694721" y="2976046"/>
                <a:ext cx="404680"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6" name="加号 115">
                <a:extLst>
                  <a:ext uri="{FF2B5EF4-FFF2-40B4-BE49-F238E27FC236}">
                    <a16:creationId xmlns:a16="http://schemas.microsoft.com/office/drawing/2014/main" id="{4D1952E9-9DC0-4CF5-987D-661762F6CD1A}"/>
                  </a:ext>
                </a:extLst>
              </p:cNvPr>
              <p:cNvSpPr/>
              <p:nvPr/>
            </p:nvSpPr>
            <p:spPr>
              <a:xfrm>
                <a:off x="6717040" y="2976046"/>
                <a:ext cx="360041" cy="360041"/>
              </a:xfrm>
              <a:prstGeom prst="mathPlus">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117" name="组合 116">
              <a:extLst>
                <a:ext uri="{FF2B5EF4-FFF2-40B4-BE49-F238E27FC236}">
                  <a16:creationId xmlns:a16="http://schemas.microsoft.com/office/drawing/2014/main" id="{88465E6C-D17D-4F07-9928-6A197DC76B1D}"/>
                </a:ext>
              </a:extLst>
            </p:cNvPr>
            <p:cNvGrpSpPr/>
            <p:nvPr/>
          </p:nvGrpSpPr>
          <p:grpSpPr>
            <a:xfrm>
              <a:off x="3804910" y="3458332"/>
              <a:ext cx="404680" cy="360041"/>
              <a:chOff x="6694721" y="2976046"/>
              <a:chExt cx="404680" cy="360041"/>
            </a:xfrm>
          </p:grpSpPr>
          <p:sp>
            <p:nvSpPr>
              <p:cNvPr id="118" name="椭圆 117">
                <a:extLst>
                  <a:ext uri="{FF2B5EF4-FFF2-40B4-BE49-F238E27FC236}">
                    <a16:creationId xmlns:a16="http://schemas.microsoft.com/office/drawing/2014/main" id="{358DBE00-3F1E-400C-9F17-83B41BFBE521}"/>
                  </a:ext>
                </a:extLst>
              </p:cNvPr>
              <p:cNvSpPr/>
              <p:nvPr/>
            </p:nvSpPr>
            <p:spPr>
              <a:xfrm>
                <a:off x="6694721" y="2976046"/>
                <a:ext cx="404680"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9" name="加号 118">
                <a:extLst>
                  <a:ext uri="{FF2B5EF4-FFF2-40B4-BE49-F238E27FC236}">
                    <a16:creationId xmlns:a16="http://schemas.microsoft.com/office/drawing/2014/main" id="{D747B79B-7B4E-4F0F-A9F4-0B2168312B85}"/>
                  </a:ext>
                </a:extLst>
              </p:cNvPr>
              <p:cNvSpPr/>
              <p:nvPr/>
            </p:nvSpPr>
            <p:spPr>
              <a:xfrm>
                <a:off x="6717040" y="2976046"/>
                <a:ext cx="360041" cy="360041"/>
              </a:xfrm>
              <a:prstGeom prst="mathPlus">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120" name="组合 119">
              <a:extLst>
                <a:ext uri="{FF2B5EF4-FFF2-40B4-BE49-F238E27FC236}">
                  <a16:creationId xmlns:a16="http://schemas.microsoft.com/office/drawing/2014/main" id="{15586FCD-C926-45AF-A47C-799E555EC8C0}"/>
                </a:ext>
              </a:extLst>
            </p:cNvPr>
            <p:cNvGrpSpPr/>
            <p:nvPr/>
          </p:nvGrpSpPr>
          <p:grpSpPr>
            <a:xfrm>
              <a:off x="4720798" y="3457063"/>
              <a:ext cx="404680" cy="360041"/>
              <a:chOff x="6694721" y="2976046"/>
              <a:chExt cx="404680" cy="360041"/>
            </a:xfrm>
          </p:grpSpPr>
          <p:sp>
            <p:nvSpPr>
              <p:cNvPr id="121" name="椭圆 120">
                <a:extLst>
                  <a:ext uri="{FF2B5EF4-FFF2-40B4-BE49-F238E27FC236}">
                    <a16:creationId xmlns:a16="http://schemas.microsoft.com/office/drawing/2014/main" id="{E74A1469-2731-45E9-A9A2-F32BC495CEA3}"/>
                  </a:ext>
                </a:extLst>
              </p:cNvPr>
              <p:cNvSpPr/>
              <p:nvPr/>
            </p:nvSpPr>
            <p:spPr>
              <a:xfrm>
                <a:off x="6694721" y="2976046"/>
                <a:ext cx="404680"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22" name="加号 121">
                <a:extLst>
                  <a:ext uri="{FF2B5EF4-FFF2-40B4-BE49-F238E27FC236}">
                    <a16:creationId xmlns:a16="http://schemas.microsoft.com/office/drawing/2014/main" id="{697359AF-6EC5-4228-9B42-27E455F50B7B}"/>
                  </a:ext>
                </a:extLst>
              </p:cNvPr>
              <p:cNvSpPr/>
              <p:nvPr/>
            </p:nvSpPr>
            <p:spPr>
              <a:xfrm>
                <a:off x="6717040" y="2976046"/>
                <a:ext cx="360041" cy="360041"/>
              </a:xfrm>
              <a:prstGeom prst="mathPlus">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123" name="组合 122">
              <a:extLst>
                <a:ext uri="{FF2B5EF4-FFF2-40B4-BE49-F238E27FC236}">
                  <a16:creationId xmlns:a16="http://schemas.microsoft.com/office/drawing/2014/main" id="{40D35B80-3919-47AA-8C3F-A7E09BE46D76}"/>
                </a:ext>
              </a:extLst>
            </p:cNvPr>
            <p:cNvGrpSpPr/>
            <p:nvPr/>
          </p:nvGrpSpPr>
          <p:grpSpPr>
            <a:xfrm>
              <a:off x="4251700" y="4076868"/>
              <a:ext cx="404680" cy="360041"/>
              <a:chOff x="6694721" y="2976046"/>
              <a:chExt cx="404680" cy="360041"/>
            </a:xfrm>
          </p:grpSpPr>
          <p:sp>
            <p:nvSpPr>
              <p:cNvPr id="124" name="椭圆 123">
                <a:extLst>
                  <a:ext uri="{FF2B5EF4-FFF2-40B4-BE49-F238E27FC236}">
                    <a16:creationId xmlns:a16="http://schemas.microsoft.com/office/drawing/2014/main" id="{10CD4CC7-61FD-4FB1-9D5E-38EB8BB80158}"/>
                  </a:ext>
                </a:extLst>
              </p:cNvPr>
              <p:cNvSpPr/>
              <p:nvPr/>
            </p:nvSpPr>
            <p:spPr>
              <a:xfrm>
                <a:off x="6694721" y="2976046"/>
                <a:ext cx="404680"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25" name="加号 124">
                <a:extLst>
                  <a:ext uri="{FF2B5EF4-FFF2-40B4-BE49-F238E27FC236}">
                    <a16:creationId xmlns:a16="http://schemas.microsoft.com/office/drawing/2014/main" id="{00449134-ECDF-471E-BCEA-36803906138D}"/>
                  </a:ext>
                </a:extLst>
              </p:cNvPr>
              <p:cNvSpPr/>
              <p:nvPr/>
            </p:nvSpPr>
            <p:spPr>
              <a:xfrm>
                <a:off x="6717040" y="2976046"/>
                <a:ext cx="360041" cy="360041"/>
              </a:xfrm>
              <a:prstGeom prst="mathPlus">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p:nvGrpSpPr>
            <p:cNvPr id="126" name="组合 125">
              <a:extLst>
                <a:ext uri="{FF2B5EF4-FFF2-40B4-BE49-F238E27FC236}">
                  <a16:creationId xmlns:a16="http://schemas.microsoft.com/office/drawing/2014/main" id="{0B3CAADA-5AFC-44EA-81BA-6377F7EBE2C1}"/>
                </a:ext>
              </a:extLst>
            </p:cNvPr>
            <p:cNvGrpSpPr/>
            <p:nvPr/>
          </p:nvGrpSpPr>
          <p:grpSpPr>
            <a:xfrm>
              <a:off x="5252177" y="2727780"/>
              <a:ext cx="404680" cy="360041"/>
              <a:chOff x="6694721" y="2976046"/>
              <a:chExt cx="404680" cy="360041"/>
            </a:xfrm>
          </p:grpSpPr>
          <p:sp>
            <p:nvSpPr>
              <p:cNvPr id="127" name="椭圆 126">
                <a:extLst>
                  <a:ext uri="{FF2B5EF4-FFF2-40B4-BE49-F238E27FC236}">
                    <a16:creationId xmlns:a16="http://schemas.microsoft.com/office/drawing/2014/main" id="{C3D59420-30CA-4B8A-91ED-D4B00F3C264A}"/>
                  </a:ext>
                </a:extLst>
              </p:cNvPr>
              <p:cNvSpPr/>
              <p:nvPr/>
            </p:nvSpPr>
            <p:spPr>
              <a:xfrm>
                <a:off x="6694721" y="2976046"/>
                <a:ext cx="404680" cy="360041"/>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28" name="加号 127">
                <a:extLst>
                  <a:ext uri="{FF2B5EF4-FFF2-40B4-BE49-F238E27FC236}">
                    <a16:creationId xmlns:a16="http://schemas.microsoft.com/office/drawing/2014/main" id="{B1DFA317-AE16-41C4-A205-B82E45B4F429}"/>
                  </a:ext>
                </a:extLst>
              </p:cNvPr>
              <p:cNvSpPr/>
              <p:nvPr/>
            </p:nvSpPr>
            <p:spPr>
              <a:xfrm>
                <a:off x="6717040" y="2976046"/>
                <a:ext cx="360041" cy="360041"/>
              </a:xfrm>
              <a:prstGeom prst="mathPlus">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grpSp>
      </p:grpSp>
      <mc:AlternateContent xmlns:mc="http://schemas.openxmlformats.org/markup-compatibility/2006" xmlns:a14="http://schemas.microsoft.com/office/drawing/2010/main">
        <mc:Choice Requires="a14">
          <p:sp>
            <p:nvSpPr>
              <p:cNvPr id="129" name="文本框 128">
                <a:extLst>
                  <a:ext uri="{FF2B5EF4-FFF2-40B4-BE49-F238E27FC236}">
                    <a16:creationId xmlns:a16="http://schemas.microsoft.com/office/drawing/2014/main" id="{D4CA94EE-2629-4512-9501-1CC10F829EE3}"/>
                  </a:ext>
                </a:extLst>
              </p:cNvPr>
              <p:cNvSpPr txBox="1"/>
              <p:nvPr/>
            </p:nvSpPr>
            <p:spPr>
              <a:xfrm>
                <a:off x="3291723" y="1420202"/>
                <a:ext cx="32868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𝐼𝐴</m:t>
                          </m:r>
                        </m:e>
                        <m:sub>
                          <m:r>
                            <a:rPr lang="en-US" altLang="zh-CN" sz="1400" b="0" i="1" smtClean="0">
                              <a:latin typeface="Cambria Math" panose="02040503050406030204" pitchFamily="18" charset="0"/>
                            </a:rPr>
                            <m:t>1 </m:t>
                          </m:r>
                        </m:sub>
                      </m:sSub>
                    </m:oMath>
                  </m:oMathPara>
                </a14:m>
                <a:endParaRPr lang="zh-CN" altLang="en-US" sz="1400" dirty="0"/>
              </a:p>
            </p:txBody>
          </p:sp>
        </mc:Choice>
        <mc:Fallback xmlns="">
          <p:sp>
            <p:nvSpPr>
              <p:cNvPr id="129" name="文本框 128">
                <a:extLst>
                  <a:ext uri="{FF2B5EF4-FFF2-40B4-BE49-F238E27FC236}">
                    <a16:creationId xmlns:a16="http://schemas.microsoft.com/office/drawing/2014/main" id="{D4CA94EE-2629-4512-9501-1CC10F829EE3}"/>
                  </a:ext>
                </a:extLst>
              </p:cNvPr>
              <p:cNvSpPr txBox="1">
                <a:spLocks noRot="1" noChangeAspect="1" noMove="1" noResize="1" noEditPoints="1" noAdjustHandles="1" noChangeArrowheads="1" noChangeShapeType="1" noTextEdit="1"/>
              </p:cNvSpPr>
              <p:nvPr/>
            </p:nvSpPr>
            <p:spPr>
              <a:xfrm>
                <a:off x="3291723" y="1420202"/>
                <a:ext cx="328680" cy="215444"/>
              </a:xfrm>
              <a:prstGeom prst="rect">
                <a:avLst/>
              </a:prstGeom>
              <a:blipFill>
                <a:blip r:embed="rId10"/>
                <a:stretch>
                  <a:fillRect l="-11111"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0" name="文本框 129">
                <a:extLst>
                  <a:ext uri="{FF2B5EF4-FFF2-40B4-BE49-F238E27FC236}">
                    <a16:creationId xmlns:a16="http://schemas.microsoft.com/office/drawing/2014/main" id="{7B08BAFB-FAAD-4323-8842-F35EE9A69497}"/>
                  </a:ext>
                </a:extLst>
              </p:cNvPr>
              <p:cNvSpPr txBox="1"/>
              <p:nvPr/>
            </p:nvSpPr>
            <p:spPr>
              <a:xfrm>
                <a:off x="4023128" y="1430441"/>
                <a:ext cx="332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𝐼𝐴</m:t>
                          </m:r>
                        </m:e>
                        <m:sub>
                          <m:r>
                            <a:rPr lang="en-US" altLang="zh-CN" sz="1400" b="0" i="1" smtClean="0">
                              <a:latin typeface="Cambria Math" panose="02040503050406030204" pitchFamily="18" charset="0"/>
                            </a:rPr>
                            <m:t>2 </m:t>
                          </m:r>
                        </m:sub>
                      </m:sSub>
                    </m:oMath>
                  </m:oMathPara>
                </a14:m>
                <a:endParaRPr lang="zh-CN" altLang="en-US" sz="1400" dirty="0"/>
              </a:p>
            </p:txBody>
          </p:sp>
        </mc:Choice>
        <mc:Fallback xmlns="">
          <p:sp>
            <p:nvSpPr>
              <p:cNvPr id="130" name="文本框 129">
                <a:extLst>
                  <a:ext uri="{FF2B5EF4-FFF2-40B4-BE49-F238E27FC236}">
                    <a16:creationId xmlns:a16="http://schemas.microsoft.com/office/drawing/2014/main" id="{7B08BAFB-FAAD-4323-8842-F35EE9A69497}"/>
                  </a:ext>
                </a:extLst>
              </p:cNvPr>
              <p:cNvSpPr txBox="1">
                <a:spLocks noRot="1" noChangeAspect="1" noMove="1" noResize="1" noEditPoints="1" noAdjustHandles="1" noChangeArrowheads="1" noChangeShapeType="1" noTextEdit="1"/>
              </p:cNvSpPr>
              <p:nvPr/>
            </p:nvSpPr>
            <p:spPr>
              <a:xfrm>
                <a:off x="4023128" y="1430441"/>
                <a:ext cx="332848" cy="215444"/>
              </a:xfrm>
              <a:prstGeom prst="rect">
                <a:avLst/>
              </a:prstGeom>
              <a:blipFill>
                <a:blip r:embed="rId11"/>
                <a:stretch>
                  <a:fillRect l="-12727"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0F9F223F-2A03-42F0-BB5F-A810369F61F7}"/>
                  </a:ext>
                </a:extLst>
              </p:cNvPr>
              <p:cNvSpPr txBox="1"/>
              <p:nvPr/>
            </p:nvSpPr>
            <p:spPr>
              <a:xfrm>
                <a:off x="4743208" y="1419908"/>
                <a:ext cx="332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𝐼𝐴</m:t>
                          </m:r>
                        </m:e>
                        <m:sub>
                          <m:r>
                            <a:rPr lang="en-US" altLang="zh-CN" sz="1400" b="0" i="1" smtClean="0">
                              <a:latin typeface="Cambria Math" panose="02040503050406030204" pitchFamily="18" charset="0"/>
                            </a:rPr>
                            <m:t>3 </m:t>
                          </m:r>
                        </m:sub>
                      </m:sSub>
                    </m:oMath>
                  </m:oMathPara>
                </a14:m>
                <a:endParaRPr lang="zh-CN" altLang="en-US" sz="1400" dirty="0"/>
              </a:p>
            </p:txBody>
          </p:sp>
        </mc:Choice>
        <mc:Fallback xmlns="">
          <p:sp>
            <p:nvSpPr>
              <p:cNvPr id="131" name="文本框 130">
                <a:extLst>
                  <a:ext uri="{FF2B5EF4-FFF2-40B4-BE49-F238E27FC236}">
                    <a16:creationId xmlns:a16="http://schemas.microsoft.com/office/drawing/2014/main" id="{0F9F223F-2A03-42F0-BB5F-A810369F61F7}"/>
                  </a:ext>
                </a:extLst>
              </p:cNvPr>
              <p:cNvSpPr txBox="1">
                <a:spLocks noRot="1" noChangeAspect="1" noMove="1" noResize="1" noEditPoints="1" noAdjustHandles="1" noChangeArrowheads="1" noChangeShapeType="1" noTextEdit="1"/>
              </p:cNvSpPr>
              <p:nvPr/>
            </p:nvSpPr>
            <p:spPr>
              <a:xfrm>
                <a:off x="4743208" y="1419908"/>
                <a:ext cx="332848" cy="215444"/>
              </a:xfrm>
              <a:prstGeom prst="rect">
                <a:avLst/>
              </a:prstGeom>
              <a:blipFill>
                <a:blip r:embed="rId12"/>
                <a:stretch>
                  <a:fillRect l="-12727"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2" name="文本框 131">
                <a:extLst>
                  <a:ext uri="{FF2B5EF4-FFF2-40B4-BE49-F238E27FC236}">
                    <a16:creationId xmlns:a16="http://schemas.microsoft.com/office/drawing/2014/main" id="{6AAF5159-9F3A-438A-B3A5-80A4CBC72AC2}"/>
                  </a:ext>
                </a:extLst>
              </p:cNvPr>
              <p:cNvSpPr txBox="1"/>
              <p:nvPr/>
            </p:nvSpPr>
            <p:spPr>
              <a:xfrm>
                <a:off x="6010930" y="1441255"/>
                <a:ext cx="40402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𝐼𝐴</m:t>
                          </m:r>
                        </m:e>
                        <m:sub>
                          <m:r>
                            <a:rPr lang="en-US" altLang="zh-CN" sz="1400" b="0" i="1" smtClean="0">
                              <a:latin typeface="Cambria Math" panose="02040503050406030204" pitchFamily="18" charset="0"/>
                            </a:rPr>
                            <m:t>14 </m:t>
                          </m:r>
                        </m:sub>
                      </m:sSub>
                    </m:oMath>
                  </m:oMathPara>
                </a14:m>
                <a:endParaRPr lang="zh-CN" altLang="en-US" sz="1400" dirty="0"/>
              </a:p>
            </p:txBody>
          </p:sp>
        </mc:Choice>
        <mc:Fallback xmlns="">
          <p:sp>
            <p:nvSpPr>
              <p:cNvPr id="132" name="文本框 131">
                <a:extLst>
                  <a:ext uri="{FF2B5EF4-FFF2-40B4-BE49-F238E27FC236}">
                    <a16:creationId xmlns:a16="http://schemas.microsoft.com/office/drawing/2014/main" id="{6AAF5159-9F3A-438A-B3A5-80A4CBC72AC2}"/>
                  </a:ext>
                </a:extLst>
              </p:cNvPr>
              <p:cNvSpPr txBox="1">
                <a:spLocks noRot="1" noChangeAspect="1" noMove="1" noResize="1" noEditPoints="1" noAdjustHandles="1" noChangeArrowheads="1" noChangeShapeType="1" noTextEdit="1"/>
              </p:cNvSpPr>
              <p:nvPr/>
            </p:nvSpPr>
            <p:spPr>
              <a:xfrm>
                <a:off x="6010930" y="1441255"/>
                <a:ext cx="404021" cy="215444"/>
              </a:xfrm>
              <a:prstGeom prst="rect">
                <a:avLst/>
              </a:prstGeom>
              <a:blipFill>
                <a:blip r:embed="rId13"/>
                <a:stretch>
                  <a:fillRect l="-9091" b="-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3" name="文本框 132">
                <a:extLst>
                  <a:ext uri="{FF2B5EF4-FFF2-40B4-BE49-F238E27FC236}">
                    <a16:creationId xmlns:a16="http://schemas.microsoft.com/office/drawing/2014/main" id="{CABAEED8-7A0A-47A7-81B6-873CF3ACA072}"/>
                  </a:ext>
                </a:extLst>
              </p:cNvPr>
              <p:cNvSpPr txBox="1"/>
              <p:nvPr/>
            </p:nvSpPr>
            <p:spPr>
              <a:xfrm>
                <a:off x="6862125" y="1441255"/>
                <a:ext cx="40402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𝐼𝐴</m:t>
                          </m:r>
                        </m:e>
                        <m:sub>
                          <m:r>
                            <a:rPr lang="en-US" altLang="zh-CN" sz="1400" b="0" i="1" smtClean="0">
                              <a:latin typeface="Cambria Math" panose="02040503050406030204" pitchFamily="18" charset="0"/>
                            </a:rPr>
                            <m:t>15 </m:t>
                          </m:r>
                        </m:sub>
                      </m:sSub>
                    </m:oMath>
                  </m:oMathPara>
                </a14:m>
                <a:endParaRPr lang="zh-CN" altLang="en-US" sz="1400" dirty="0"/>
              </a:p>
            </p:txBody>
          </p:sp>
        </mc:Choice>
        <mc:Fallback xmlns="">
          <p:sp>
            <p:nvSpPr>
              <p:cNvPr id="133" name="文本框 132">
                <a:extLst>
                  <a:ext uri="{FF2B5EF4-FFF2-40B4-BE49-F238E27FC236}">
                    <a16:creationId xmlns:a16="http://schemas.microsoft.com/office/drawing/2014/main" id="{CABAEED8-7A0A-47A7-81B6-873CF3ACA072}"/>
                  </a:ext>
                </a:extLst>
              </p:cNvPr>
              <p:cNvSpPr txBox="1">
                <a:spLocks noRot="1" noChangeAspect="1" noMove="1" noResize="1" noEditPoints="1" noAdjustHandles="1" noChangeArrowheads="1" noChangeShapeType="1" noTextEdit="1"/>
              </p:cNvSpPr>
              <p:nvPr/>
            </p:nvSpPr>
            <p:spPr>
              <a:xfrm>
                <a:off x="6862125" y="1441255"/>
                <a:ext cx="404021" cy="215444"/>
              </a:xfrm>
              <a:prstGeom prst="rect">
                <a:avLst/>
              </a:prstGeom>
              <a:blipFill>
                <a:blip r:embed="rId14"/>
                <a:stretch>
                  <a:fillRect l="-9091" b="-13889"/>
                </a:stretch>
              </a:blipFill>
            </p:spPr>
            <p:txBody>
              <a:bodyPr/>
              <a:lstStyle/>
              <a:p>
                <a:r>
                  <a:rPr lang="zh-CN" altLang="en-US">
                    <a:noFill/>
                  </a:rPr>
                  <a:t> </a:t>
                </a:r>
              </a:p>
            </p:txBody>
          </p:sp>
        </mc:Fallback>
      </mc:AlternateContent>
      <p:sp>
        <p:nvSpPr>
          <p:cNvPr id="76" name="矩形 75">
            <a:extLst>
              <a:ext uri="{FF2B5EF4-FFF2-40B4-BE49-F238E27FC236}">
                <a16:creationId xmlns:a16="http://schemas.microsoft.com/office/drawing/2014/main" id="{95BBC22D-633A-4BAE-8780-6F9974EF4CAF}"/>
              </a:ext>
            </a:extLst>
          </p:cNvPr>
          <p:cNvSpPr/>
          <p:nvPr/>
        </p:nvSpPr>
        <p:spPr>
          <a:xfrm>
            <a:off x="2202709" y="1656699"/>
            <a:ext cx="5063436" cy="305365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34" name="文本框 133">
            <a:extLst>
              <a:ext uri="{FF2B5EF4-FFF2-40B4-BE49-F238E27FC236}">
                <a16:creationId xmlns:a16="http://schemas.microsoft.com/office/drawing/2014/main" id="{29BD858B-103E-4E23-86C6-854EEC37F2FE}"/>
              </a:ext>
            </a:extLst>
          </p:cNvPr>
          <p:cNvSpPr txBox="1"/>
          <p:nvPr/>
        </p:nvSpPr>
        <p:spPr>
          <a:xfrm>
            <a:off x="5931372" y="3463474"/>
            <a:ext cx="1334773" cy="734945"/>
          </a:xfrm>
          <a:prstGeom prst="rect">
            <a:avLst/>
          </a:prstGeom>
          <a:noFill/>
        </p:spPr>
        <p:txBody>
          <a:bodyPr wrap="square" rtlCol="0">
            <a:spAutoFit/>
          </a:bodyPr>
          <a:lstStyle/>
          <a:p>
            <a:pPr>
              <a:lnSpc>
                <a:spcPct val="120000"/>
              </a:lnSpc>
            </a:pPr>
            <a:r>
              <a:rPr lang="en-US" altLang="zh-CN" dirty="0"/>
              <a:t>i-</a:t>
            </a:r>
            <a:r>
              <a:rPr lang="en-US" altLang="zh-CN" dirty="0" err="1"/>
              <a:t>th</a:t>
            </a:r>
            <a:r>
              <a:rPr lang="en-US" altLang="zh-CN" dirty="0"/>
              <a:t> Multiply Add Tree</a:t>
            </a:r>
          </a:p>
        </p:txBody>
      </p:sp>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B2E31B9B-0BC1-4430-AF15-79CF78C91403}"/>
                  </a:ext>
                </a:extLst>
              </p:cNvPr>
              <p:cNvSpPr txBox="1"/>
              <p:nvPr/>
            </p:nvSpPr>
            <p:spPr>
              <a:xfrm>
                <a:off x="803928" y="3524648"/>
                <a:ext cx="873509" cy="224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𝑊</m:t>
                          </m:r>
                        </m:e>
                        <m:sub>
                          <m:r>
                            <a:rPr lang="en-US" altLang="zh-CN" sz="1400" b="0" i="1" smtClean="0">
                              <a:latin typeface="Cambria Math" panose="02040503050406030204" pitchFamily="18" charset="0"/>
                            </a:rPr>
                            <m:t>𝑖𝑛𝑐h</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𝑜𝑢𝑡𝑐h</m:t>
                          </m:r>
                        </m:sub>
                      </m:sSub>
                    </m:oMath>
                  </m:oMathPara>
                </a14:m>
                <a:endParaRPr lang="zh-CN" altLang="en-US" sz="1400" dirty="0"/>
              </a:p>
            </p:txBody>
          </p:sp>
        </mc:Choice>
        <mc:Fallback xmlns="">
          <p:sp>
            <p:nvSpPr>
              <p:cNvPr id="87" name="文本框 86">
                <a:extLst>
                  <a:ext uri="{FF2B5EF4-FFF2-40B4-BE49-F238E27FC236}">
                    <a16:creationId xmlns:a16="http://schemas.microsoft.com/office/drawing/2014/main" id="{B2E31B9B-0BC1-4430-AF15-79CF78C91403}"/>
                  </a:ext>
                </a:extLst>
              </p:cNvPr>
              <p:cNvSpPr txBox="1">
                <a:spLocks noRot="1" noChangeAspect="1" noMove="1" noResize="1" noEditPoints="1" noAdjustHandles="1" noChangeArrowheads="1" noChangeShapeType="1" noTextEdit="1"/>
              </p:cNvSpPr>
              <p:nvPr/>
            </p:nvSpPr>
            <p:spPr>
              <a:xfrm>
                <a:off x="803928" y="3524648"/>
                <a:ext cx="873509" cy="224870"/>
              </a:xfrm>
              <a:prstGeom prst="rect">
                <a:avLst/>
              </a:prstGeom>
              <a:blipFill>
                <a:blip r:embed="rId15"/>
                <a:stretch>
                  <a:fillRect l="-4196" r="-699" b="-135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13325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92CCF8C5-15AB-4D46-958E-5C671B0681C5}"/>
              </a:ext>
            </a:extLst>
          </p:cNvPr>
          <p:cNvSpPr txBox="1"/>
          <p:nvPr/>
        </p:nvSpPr>
        <p:spPr>
          <a:xfrm>
            <a:off x="251520" y="748664"/>
            <a:ext cx="2829685" cy="402546"/>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en-US" altLang="zh-CN" dirty="0"/>
              <a:t>The parallelism in NVDLA</a:t>
            </a:r>
          </a:p>
        </p:txBody>
      </p:sp>
      <p:sp>
        <p:nvSpPr>
          <p:cNvPr id="15" name="标题 1">
            <a:extLst>
              <a:ext uri="{FF2B5EF4-FFF2-40B4-BE49-F238E27FC236}">
                <a16:creationId xmlns:a16="http://schemas.microsoft.com/office/drawing/2014/main" id="{C40E35DC-A903-4757-A371-5C5F8BF45D0C}"/>
              </a:ext>
            </a:extLst>
          </p:cNvPr>
          <p:cNvSpPr txBox="1">
            <a:spLocks/>
          </p:cNvSpPr>
          <p:nvPr/>
        </p:nvSpPr>
        <p:spPr>
          <a:xfrm>
            <a:off x="467544" y="339502"/>
            <a:ext cx="5256584" cy="569326"/>
          </a:xfrm>
          <a:prstGeom prst="rect">
            <a:avLst/>
          </a:prstGeom>
        </p:spPr>
        <p:txBody>
          <a:bodyPr vert="horz" lIns="0" tIns="0" rIns="0" bIns="0" rtlCol="0" anchor="t" anchorCtr="0">
            <a:normAutofit fontScale="97500"/>
          </a:bodyPr>
          <a:lstStyle>
            <a:lvl1pPr algn="l" defTabSz="457200" rtl="0" eaLnBrk="1" latinLnBrk="0" hangingPunct="1">
              <a:spcBef>
                <a:spcPct val="0"/>
              </a:spcBef>
              <a:buNone/>
              <a:defRPr sz="2600" kern="1200">
                <a:solidFill>
                  <a:srgbClr val="0000A8"/>
                </a:solidFill>
                <a:latin typeface="方正兰亭圆简体_准" panose="02000000000000000000" charset="-122"/>
                <a:ea typeface="方正兰亭圆简体_准" panose="02000000000000000000" charset="-122"/>
                <a:cs typeface="FZLanTingHei-R-GBK" panose="02000000000000000000" pitchFamily="2" charset="-122"/>
              </a:defRPr>
            </a:lvl1pPr>
          </a:lstStyle>
          <a:p>
            <a:r>
              <a:rPr kumimoji="1" lang="en-US" altLang="zh-CN" dirty="0"/>
              <a:t>Review: NVDLA</a:t>
            </a:r>
            <a:endParaRPr kumimoji="1" lang="zh-CN" altLang="en-US" dirty="0"/>
          </a:p>
        </p:txBody>
      </p:sp>
      <p:pic>
        <p:nvPicPr>
          <p:cNvPr id="6" name="图片 5">
            <a:extLst>
              <a:ext uri="{FF2B5EF4-FFF2-40B4-BE49-F238E27FC236}">
                <a16:creationId xmlns:a16="http://schemas.microsoft.com/office/drawing/2014/main" id="{4A76D681-725C-45CE-9E04-1239C4824FBB}"/>
              </a:ext>
            </a:extLst>
          </p:cNvPr>
          <p:cNvPicPr>
            <a:picLocks noChangeAspect="1"/>
          </p:cNvPicPr>
          <p:nvPr/>
        </p:nvPicPr>
        <p:blipFill rotWithShape="1">
          <a:blip r:embed="rId3"/>
          <a:srcRect l="53109" t="33143" r="3397" b="1230"/>
          <a:stretch/>
        </p:blipFill>
        <p:spPr>
          <a:xfrm>
            <a:off x="4691788" y="1436332"/>
            <a:ext cx="3977163" cy="2572991"/>
          </a:xfrm>
          <a:prstGeom prst="rect">
            <a:avLst/>
          </a:prstGeom>
        </p:spPr>
      </p:pic>
      <p:sp>
        <p:nvSpPr>
          <p:cNvPr id="2" name="矩形 1">
            <a:extLst>
              <a:ext uri="{FF2B5EF4-FFF2-40B4-BE49-F238E27FC236}">
                <a16:creationId xmlns:a16="http://schemas.microsoft.com/office/drawing/2014/main" id="{9B544698-A802-459E-B46E-22B475126119}"/>
              </a:ext>
            </a:extLst>
          </p:cNvPr>
          <p:cNvSpPr/>
          <p:nvPr/>
        </p:nvSpPr>
        <p:spPr>
          <a:xfrm>
            <a:off x="5299932" y="1779662"/>
            <a:ext cx="3304516" cy="216023"/>
          </a:xfrm>
          <a:prstGeom prst="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B7A81480-B14E-4CA1-957F-C39A9909B64B}"/>
              </a:ext>
            </a:extLst>
          </p:cNvPr>
          <p:cNvSpPr/>
          <p:nvPr/>
        </p:nvSpPr>
        <p:spPr>
          <a:xfrm>
            <a:off x="1397948" y="1354675"/>
            <a:ext cx="1080120" cy="10801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0-th</a:t>
            </a:r>
          </a:p>
          <a:p>
            <a:pPr algn="ctr"/>
            <a:r>
              <a:rPr lang="en-US" altLang="zh-CN" dirty="0"/>
              <a:t>Mul add tree</a:t>
            </a:r>
            <a:endParaRPr lang="zh-CN" altLang="en-US" dirty="0"/>
          </a:p>
        </p:txBody>
      </p:sp>
      <p:sp>
        <p:nvSpPr>
          <p:cNvPr id="78" name="矩形 77">
            <a:extLst>
              <a:ext uri="{FF2B5EF4-FFF2-40B4-BE49-F238E27FC236}">
                <a16:creationId xmlns:a16="http://schemas.microsoft.com/office/drawing/2014/main" id="{5023167A-1A9C-4D11-A4F1-47C4A965FEDD}"/>
              </a:ext>
            </a:extLst>
          </p:cNvPr>
          <p:cNvSpPr/>
          <p:nvPr/>
        </p:nvSpPr>
        <p:spPr>
          <a:xfrm>
            <a:off x="2838108" y="1354675"/>
            <a:ext cx="1080120" cy="10801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1-th</a:t>
            </a:r>
          </a:p>
          <a:p>
            <a:pPr algn="ctr"/>
            <a:r>
              <a:rPr lang="en-US" altLang="zh-CN" dirty="0"/>
              <a:t>Mul add tree</a:t>
            </a:r>
            <a:endParaRPr lang="zh-CN" altLang="en-US" dirty="0"/>
          </a:p>
        </p:txBody>
      </p:sp>
      <p:sp>
        <p:nvSpPr>
          <p:cNvPr id="80" name="椭圆 79">
            <a:extLst>
              <a:ext uri="{FF2B5EF4-FFF2-40B4-BE49-F238E27FC236}">
                <a16:creationId xmlns:a16="http://schemas.microsoft.com/office/drawing/2014/main" id="{E98B5E37-2D17-4BA6-9546-34052E5383EF}"/>
              </a:ext>
            </a:extLst>
          </p:cNvPr>
          <p:cNvSpPr/>
          <p:nvPr/>
        </p:nvSpPr>
        <p:spPr>
          <a:xfrm>
            <a:off x="2400268" y="2722828"/>
            <a:ext cx="112938" cy="11293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01357E55-3CD3-4E37-9740-21B52C568387}"/>
              </a:ext>
            </a:extLst>
          </p:cNvPr>
          <p:cNvSpPr/>
          <p:nvPr/>
        </p:nvSpPr>
        <p:spPr>
          <a:xfrm>
            <a:off x="2584066" y="2722828"/>
            <a:ext cx="112938" cy="11293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20373963-B697-4B11-B873-57E5294191A6}"/>
              </a:ext>
            </a:extLst>
          </p:cNvPr>
          <p:cNvSpPr/>
          <p:nvPr/>
        </p:nvSpPr>
        <p:spPr>
          <a:xfrm>
            <a:off x="2767052" y="2722828"/>
            <a:ext cx="112938" cy="11293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5" name="矩形 84">
            <a:extLst>
              <a:ext uri="{FF2B5EF4-FFF2-40B4-BE49-F238E27FC236}">
                <a16:creationId xmlns:a16="http://schemas.microsoft.com/office/drawing/2014/main" id="{624E9BE9-156E-4626-8F9C-051299D70BFE}"/>
              </a:ext>
            </a:extLst>
          </p:cNvPr>
          <p:cNvSpPr/>
          <p:nvPr/>
        </p:nvSpPr>
        <p:spPr>
          <a:xfrm>
            <a:off x="1383512" y="3098717"/>
            <a:ext cx="1080120" cy="10801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62-th</a:t>
            </a:r>
          </a:p>
          <a:p>
            <a:pPr algn="ctr"/>
            <a:r>
              <a:rPr lang="en-US" altLang="zh-CN" dirty="0"/>
              <a:t>Mul add tree</a:t>
            </a:r>
            <a:endParaRPr lang="zh-CN" altLang="en-US" dirty="0"/>
          </a:p>
        </p:txBody>
      </p:sp>
      <p:sp>
        <p:nvSpPr>
          <p:cNvPr id="86" name="矩形 85">
            <a:extLst>
              <a:ext uri="{FF2B5EF4-FFF2-40B4-BE49-F238E27FC236}">
                <a16:creationId xmlns:a16="http://schemas.microsoft.com/office/drawing/2014/main" id="{016FFDC4-2BF6-4E74-8CF6-C9A26AFF8DCF}"/>
              </a:ext>
            </a:extLst>
          </p:cNvPr>
          <p:cNvSpPr/>
          <p:nvPr/>
        </p:nvSpPr>
        <p:spPr>
          <a:xfrm>
            <a:off x="2823672" y="3098717"/>
            <a:ext cx="1080120" cy="10801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a:t>63-th</a:t>
            </a:r>
            <a:endParaRPr lang="en-US" altLang="zh-CN" dirty="0"/>
          </a:p>
          <a:p>
            <a:pPr algn="ctr"/>
            <a:r>
              <a:rPr lang="en-US" altLang="zh-CN" dirty="0"/>
              <a:t>Mul add tree</a:t>
            </a:r>
            <a:endParaRPr lang="zh-CN" altLang="en-US" dirty="0"/>
          </a:p>
        </p:txBody>
      </p:sp>
      <p:sp>
        <p:nvSpPr>
          <p:cNvPr id="87" name="文本框 86">
            <a:extLst>
              <a:ext uri="{FF2B5EF4-FFF2-40B4-BE49-F238E27FC236}">
                <a16:creationId xmlns:a16="http://schemas.microsoft.com/office/drawing/2014/main" id="{E2A905FA-CF5C-422B-B4DF-33036DEE27C3}"/>
              </a:ext>
            </a:extLst>
          </p:cNvPr>
          <p:cNvSpPr txBox="1"/>
          <p:nvPr/>
        </p:nvSpPr>
        <p:spPr>
          <a:xfrm>
            <a:off x="197815" y="4388849"/>
            <a:ext cx="8046593" cy="398058"/>
          </a:xfrm>
          <a:prstGeom prst="rect">
            <a:avLst/>
          </a:prstGeom>
          <a:noFill/>
        </p:spPr>
        <p:txBody>
          <a:bodyPr wrap="square" rtlCol="0">
            <a:spAutoFit/>
          </a:bodyPr>
          <a:lstStyle/>
          <a:p>
            <a:pPr>
              <a:lnSpc>
                <a:spcPct val="120000"/>
              </a:lnSpc>
            </a:pPr>
            <a:r>
              <a:rPr lang="zh-CN" altLang="en-US" dirty="0"/>
              <a:t>在所有计算单元都工作的理想情况下，</a:t>
            </a:r>
            <a:r>
              <a:rPr lang="en-US" altLang="zh-CN" dirty="0"/>
              <a:t>NVDLA</a:t>
            </a:r>
            <a:r>
              <a:rPr lang="zh-CN" altLang="en-US" dirty="0"/>
              <a:t>架构每个时钟周期能算</a:t>
            </a:r>
            <a:r>
              <a:rPr lang="en-US" altLang="zh-CN" dirty="0"/>
              <a:t>1024</a:t>
            </a:r>
            <a:r>
              <a:rPr lang="zh-CN" altLang="en-US" dirty="0"/>
              <a:t>次。</a:t>
            </a:r>
            <a:endParaRPr lang="en-US" altLang="zh-CN" dirty="0"/>
          </a:p>
        </p:txBody>
      </p:sp>
    </p:spTree>
    <p:extLst>
      <p:ext uri="{BB962C8B-B14F-4D97-AF65-F5344CB8AC3E}">
        <p14:creationId xmlns:p14="http://schemas.microsoft.com/office/powerpoint/2010/main" val="231641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Outlines</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372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Core PE design and weight reuse</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Inefficiency in CPU</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optimization</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Instruction decoding</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Datapath</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Memory system</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CASE study</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Google TPU</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Huawei Atlas (</a:t>
            </a:r>
            <a:r>
              <a:rPr lang="zh-CN" altLang="en-US" sz="1600" b="1" dirty="0">
                <a:latin typeface="微软雅黑" panose="020B0503020204020204" pitchFamily="34" charset="-122"/>
                <a:ea typeface="微软雅黑" panose="020B0503020204020204" pitchFamily="34" charset="-122"/>
              </a:rPr>
              <a:t>昇腾</a:t>
            </a:r>
            <a:r>
              <a:rPr lang="en-US" altLang="zh-CN"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71863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480720" cy="569326"/>
          </a:xfrm>
        </p:spPr>
        <p:txBody>
          <a:bodyPr>
            <a:normAutofit fontScale="90000"/>
          </a:bodyPr>
          <a:lstStyle/>
          <a:p>
            <a:r>
              <a:rPr kumimoji="1" lang="en-US" altLang="zh-CN" dirty="0"/>
              <a:t>Convolution: Multiply-and-Accumulation (MAC)</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356D0D08-5281-4D97-9631-1A248D1F25FE}"/>
              </a:ext>
            </a:extLst>
          </p:cNvPr>
          <p:cNvPicPr>
            <a:picLocks noChangeAspect="1"/>
          </p:cNvPicPr>
          <p:nvPr/>
        </p:nvPicPr>
        <p:blipFill>
          <a:blip r:embed="rId3"/>
          <a:stretch>
            <a:fillRect/>
          </a:stretch>
        </p:blipFill>
        <p:spPr>
          <a:xfrm>
            <a:off x="701824" y="1173340"/>
            <a:ext cx="7740352" cy="3405532"/>
          </a:xfrm>
          <a:prstGeom prst="rect">
            <a:avLst/>
          </a:prstGeom>
        </p:spPr>
      </p:pic>
    </p:spTree>
    <p:extLst>
      <p:ext uri="{BB962C8B-B14F-4D97-AF65-F5344CB8AC3E}">
        <p14:creationId xmlns:p14="http://schemas.microsoft.com/office/powerpoint/2010/main" val="2968009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480720" cy="569326"/>
          </a:xfrm>
        </p:spPr>
        <p:txBody>
          <a:bodyPr>
            <a:normAutofit/>
          </a:bodyPr>
          <a:lstStyle/>
          <a:p>
            <a:r>
              <a:rPr kumimoji="1" lang="en-US" altLang="zh-CN" dirty="0"/>
              <a:t>Processing Element (PE) Core Design</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B999F053-D15A-44AC-96F4-B36A4635808F}"/>
              </a:ext>
            </a:extLst>
          </p:cNvPr>
          <p:cNvPicPr>
            <a:picLocks noChangeAspect="1"/>
          </p:cNvPicPr>
          <p:nvPr/>
        </p:nvPicPr>
        <p:blipFill>
          <a:blip r:embed="rId2"/>
          <a:stretch>
            <a:fillRect/>
          </a:stretch>
        </p:blipFill>
        <p:spPr>
          <a:xfrm>
            <a:off x="1932787" y="1059582"/>
            <a:ext cx="5278426" cy="3485753"/>
          </a:xfrm>
          <a:prstGeom prst="rect">
            <a:avLst/>
          </a:prstGeom>
        </p:spPr>
      </p:pic>
    </p:spTree>
    <p:extLst>
      <p:ext uri="{BB962C8B-B14F-4D97-AF65-F5344CB8AC3E}">
        <p14:creationId xmlns:p14="http://schemas.microsoft.com/office/powerpoint/2010/main" val="542028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480720" cy="569326"/>
          </a:xfrm>
        </p:spPr>
        <p:txBody>
          <a:bodyPr>
            <a:normAutofit/>
          </a:bodyPr>
          <a:lstStyle/>
          <a:p>
            <a:r>
              <a:rPr kumimoji="1" lang="en-US" altLang="zh-CN" dirty="0"/>
              <a:t>Data Reuse with Buffer (OS)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00F229B3-72AE-4155-908C-2F3CE1D4CCF3}"/>
              </a:ext>
            </a:extLst>
          </p:cNvPr>
          <p:cNvPicPr>
            <a:picLocks noChangeAspect="1"/>
          </p:cNvPicPr>
          <p:nvPr/>
        </p:nvPicPr>
        <p:blipFill>
          <a:blip r:embed="rId3"/>
          <a:stretch>
            <a:fillRect/>
          </a:stretch>
        </p:blipFill>
        <p:spPr>
          <a:xfrm>
            <a:off x="278029" y="1161473"/>
            <a:ext cx="8590728" cy="3554784"/>
          </a:xfrm>
          <a:prstGeom prst="rect">
            <a:avLst/>
          </a:prstGeom>
        </p:spPr>
      </p:pic>
    </p:spTree>
    <p:extLst>
      <p:ext uri="{BB962C8B-B14F-4D97-AF65-F5344CB8AC3E}">
        <p14:creationId xmlns:p14="http://schemas.microsoft.com/office/powerpoint/2010/main" val="3815935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480720" cy="569326"/>
          </a:xfrm>
        </p:spPr>
        <p:txBody>
          <a:bodyPr>
            <a:normAutofit/>
          </a:bodyPr>
          <a:lstStyle/>
          <a:p>
            <a:r>
              <a:rPr kumimoji="1" lang="en-US" altLang="zh-CN" dirty="0"/>
              <a:t>Data Reuse with Buffer (WS)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E9513095-A57E-494A-AFD0-9B08C1AA0F55}"/>
              </a:ext>
            </a:extLst>
          </p:cNvPr>
          <p:cNvPicPr>
            <a:picLocks noChangeAspect="1"/>
          </p:cNvPicPr>
          <p:nvPr/>
        </p:nvPicPr>
        <p:blipFill>
          <a:blip r:embed="rId3"/>
          <a:stretch>
            <a:fillRect/>
          </a:stretch>
        </p:blipFill>
        <p:spPr>
          <a:xfrm>
            <a:off x="341784" y="1092052"/>
            <a:ext cx="8460432" cy="3749629"/>
          </a:xfrm>
          <a:prstGeom prst="rect">
            <a:avLst/>
          </a:prstGeom>
        </p:spPr>
      </p:pic>
    </p:spTree>
    <p:extLst>
      <p:ext uri="{BB962C8B-B14F-4D97-AF65-F5344CB8AC3E}">
        <p14:creationId xmlns:p14="http://schemas.microsoft.com/office/powerpoint/2010/main" val="2572151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Fully-Connected layer Loop Nesting</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436DCDED-3E37-41DE-8369-C235C18B8FAC}"/>
              </a:ext>
            </a:extLst>
          </p:cNvPr>
          <p:cNvSpPr txBox="1"/>
          <p:nvPr/>
        </p:nvSpPr>
        <p:spPr>
          <a:xfrm>
            <a:off x="4303864" y="1059582"/>
            <a:ext cx="4787771" cy="3539430"/>
          </a:xfrm>
          <a:prstGeom prst="rect">
            <a:avLst/>
          </a:prstGeom>
          <a:noFill/>
        </p:spPr>
        <p:txBody>
          <a:bodyPr wrap="square" rtlCol="0">
            <a:spAutoFit/>
          </a:bodyPr>
          <a:lstStyle/>
          <a:p>
            <a:pPr>
              <a:buSzPct val="140000"/>
            </a:pPr>
            <a:r>
              <a:rPr lang="en-US" altLang="zh-CN" sz="1600" dirty="0">
                <a:solidFill>
                  <a:srgbClr val="FF0000"/>
                </a:solidFill>
                <a:latin typeface="Arial" panose="020B0604020202020204" pitchFamily="34" charset="0"/>
                <a:cs typeface="Arial" panose="020B0604020202020204" pitchFamily="34" charset="0"/>
              </a:rPr>
              <a:t>Too large calculation overhead </a:t>
            </a:r>
            <a:r>
              <a:rPr lang="en-US" altLang="zh-CN" sz="1600" dirty="0">
                <a:latin typeface="Arial" panose="020B0604020202020204" pitchFamily="34" charset="0"/>
                <a:cs typeface="Arial" panose="020B0604020202020204" pitchFamily="34" charset="0"/>
              </a:rPr>
              <a:t>for raw 2D image data. Now only classifier layer (vector to vector) uses FC.</a:t>
            </a:r>
          </a:p>
          <a:p>
            <a:pPr>
              <a:buSzPct val="140000"/>
            </a:pPr>
            <a:endParaRPr lang="en-US" altLang="zh-CN" sz="1600" dirty="0">
              <a:latin typeface="Arial" panose="020B0604020202020204" pitchFamily="34" charset="0"/>
              <a:cs typeface="Arial" panose="020B0604020202020204" pitchFamily="34" charset="0"/>
            </a:endParaRPr>
          </a:p>
          <a:p>
            <a:pPr>
              <a:buSzPct val="140000"/>
            </a:pPr>
            <a:r>
              <a:rPr lang="en-US" altLang="zh-CN" sz="1600" dirty="0">
                <a:latin typeface="Arial" panose="020B0604020202020204" pitchFamily="34" charset="0"/>
                <a:cs typeface="Arial" panose="020B0604020202020204" pitchFamily="34" charset="0"/>
              </a:rPr>
              <a:t>for (n=0; n&lt;N; n++) {</a:t>
            </a:r>
          </a:p>
          <a:p>
            <a:pPr>
              <a:buSzPct val="140000"/>
            </a:pPr>
            <a:r>
              <a:rPr lang="en-US" altLang="zh-CN" sz="1600" dirty="0">
                <a:latin typeface="Arial" panose="020B0604020202020204" pitchFamily="34" charset="0"/>
                <a:cs typeface="Arial" panose="020B0604020202020204" pitchFamily="34" charset="0"/>
              </a:rPr>
              <a:t>    for (k=0; k&lt;K; k++) {</a:t>
            </a:r>
          </a:p>
          <a:p>
            <a:pPr>
              <a:buSzPct val="140000"/>
            </a:pPr>
            <a:r>
              <a:rPr lang="en-US" altLang="zh-CN" sz="1600" dirty="0">
                <a:latin typeface="Arial" panose="020B0604020202020204" pitchFamily="34" charset="0"/>
                <a:cs typeface="Arial" panose="020B0604020202020204" pitchFamily="34" charset="0"/>
              </a:rPr>
              <a:t>        for (p=0; p&lt;P; p++) {</a:t>
            </a:r>
          </a:p>
          <a:p>
            <a:pPr>
              <a:buSzPct val="140000"/>
            </a:pPr>
            <a:r>
              <a:rPr lang="en-US" altLang="zh-CN" sz="1600" dirty="0">
                <a:latin typeface="Arial" panose="020B0604020202020204" pitchFamily="34" charset="0"/>
                <a:cs typeface="Arial" panose="020B0604020202020204" pitchFamily="34" charset="0"/>
              </a:rPr>
              <a:t>            for (q=0; q&lt;Q; q++) {</a:t>
            </a:r>
          </a:p>
          <a:p>
            <a:pPr>
              <a:buSzPct val="140000"/>
            </a:pPr>
            <a:r>
              <a:rPr lang="en-US" altLang="zh-CN" sz="1600" dirty="0">
                <a:latin typeface="Arial" panose="020B0604020202020204" pitchFamily="34" charset="0"/>
                <a:cs typeface="Arial" panose="020B0604020202020204" pitchFamily="34" charset="0"/>
              </a:rPr>
              <a:t>                OA[n][k][p][q] = 0;</a:t>
            </a:r>
          </a:p>
          <a:p>
            <a:pPr>
              <a:buSzPct val="140000"/>
            </a:pPr>
            <a:r>
              <a:rPr lang="en-US" altLang="zh-CN" sz="1600" dirty="0">
                <a:latin typeface="Arial" panose="020B0604020202020204" pitchFamily="34" charset="0"/>
                <a:cs typeface="Arial" panose="020B0604020202020204" pitchFamily="34" charset="0"/>
              </a:rPr>
              <a:t>                    for (c=0; c&lt;C; </a:t>
            </a:r>
            <a:r>
              <a:rPr lang="en-US" altLang="zh-CN" sz="1600" dirty="0" err="1">
                <a:latin typeface="Arial" panose="020B0604020202020204" pitchFamily="34" charset="0"/>
                <a:cs typeface="Arial" panose="020B0604020202020204" pitchFamily="34" charset="0"/>
              </a:rPr>
              <a:t>c++</a:t>
            </a:r>
            <a:r>
              <a:rPr lang="en-US" altLang="zh-CN" sz="1600" dirty="0">
                <a:latin typeface="Arial" panose="020B0604020202020204" pitchFamily="34" charset="0"/>
                <a:cs typeface="Arial" panose="020B0604020202020204" pitchFamily="34" charset="0"/>
              </a:rPr>
              <a:t>) {</a:t>
            </a:r>
          </a:p>
          <a:p>
            <a:pPr lvl="3">
              <a:buSzPct val="140000"/>
            </a:pPr>
            <a:r>
              <a:rPr lang="en-US" altLang="zh-CN" sz="1600" dirty="0">
                <a:latin typeface="Arial" panose="020B0604020202020204" pitchFamily="34" charset="0"/>
                <a:cs typeface="Arial" panose="020B0604020202020204" pitchFamily="34" charset="0"/>
              </a:rPr>
              <a:t> for (h=0; h&lt;H; h++) {</a:t>
            </a:r>
          </a:p>
          <a:p>
            <a:pPr lvl="3">
              <a:buSzPct val="140000"/>
            </a:pPr>
            <a:r>
              <a:rPr lang="en-US" altLang="zh-CN" sz="1600" dirty="0">
                <a:latin typeface="Arial" panose="020B0604020202020204" pitchFamily="34" charset="0"/>
                <a:cs typeface="Arial" panose="020B0604020202020204" pitchFamily="34" charset="0"/>
              </a:rPr>
              <a:t>        for (w=0; w&lt;W; w++) {</a:t>
            </a:r>
          </a:p>
          <a:p>
            <a:pPr lvl="3">
              <a:buSzPct val="140000"/>
            </a:pPr>
            <a:r>
              <a:rPr lang="en-US" altLang="zh-CN" sz="1600" dirty="0">
                <a:latin typeface="Arial" panose="020B0604020202020204" pitchFamily="34" charset="0"/>
                <a:cs typeface="Arial" panose="020B0604020202020204" pitchFamily="34" charset="0"/>
              </a:rPr>
              <a:t> 		OA[n][k][p][q] += IA[n][c][h][w] * </a:t>
            </a:r>
            <a:r>
              <a:rPr lang="en-US" altLang="zh-CN" sz="1600" dirty="0">
                <a:solidFill>
                  <a:srgbClr val="FF0000"/>
                </a:solidFill>
                <a:latin typeface="Arial" panose="020B0604020202020204" pitchFamily="34" charset="0"/>
                <a:cs typeface="Arial" panose="020B0604020202020204" pitchFamily="34" charset="0"/>
              </a:rPr>
              <a:t>W[k][p][q][c][h][w];</a:t>
            </a:r>
          </a:p>
        </p:txBody>
      </p:sp>
      <p:pic>
        <p:nvPicPr>
          <p:cNvPr id="6" name="Picture 5">
            <a:extLst>
              <a:ext uri="{FF2B5EF4-FFF2-40B4-BE49-F238E27FC236}">
                <a16:creationId xmlns:a16="http://schemas.microsoft.com/office/drawing/2014/main" id="{07624CD3-FD6E-4F92-A382-FB9D1D862EC2}"/>
              </a:ext>
            </a:extLst>
          </p:cNvPr>
          <p:cNvPicPr>
            <a:picLocks noChangeAspect="1"/>
          </p:cNvPicPr>
          <p:nvPr/>
        </p:nvPicPr>
        <p:blipFill>
          <a:blip r:embed="rId2"/>
          <a:stretch>
            <a:fillRect/>
          </a:stretch>
        </p:blipFill>
        <p:spPr>
          <a:xfrm>
            <a:off x="244183" y="1201134"/>
            <a:ext cx="1630949" cy="3525484"/>
          </a:xfrm>
          <a:prstGeom prst="rect">
            <a:avLst/>
          </a:prstGeom>
        </p:spPr>
      </p:pic>
      <p:pic>
        <p:nvPicPr>
          <p:cNvPr id="7" name="Picture 6">
            <a:extLst>
              <a:ext uri="{FF2B5EF4-FFF2-40B4-BE49-F238E27FC236}">
                <a16:creationId xmlns:a16="http://schemas.microsoft.com/office/drawing/2014/main" id="{0D5E4C8A-96AC-4F71-9A18-1B8AD32E2451}"/>
              </a:ext>
            </a:extLst>
          </p:cNvPr>
          <p:cNvPicPr>
            <a:picLocks noChangeAspect="1"/>
          </p:cNvPicPr>
          <p:nvPr/>
        </p:nvPicPr>
        <p:blipFill>
          <a:blip r:embed="rId3"/>
          <a:stretch>
            <a:fillRect/>
          </a:stretch>
        </p:blipFill>
        <p:spPr>
          <a:xfrm>
            <a:off x="2824336" y="1477655"/>
            <a:ext cx="1387624" cy="3288480"/>
          </a:xfrm>
          <a:prstGeom prst="rect">
            <a:avLst/>
          </a:prstGeom>
        </p:spPr>
      </p:pic>
      <p:pic>
        <p:nvPicPr>
          <p:cNvPr id="8" name="Picture 7">
            <a:extLst>
              <a:ext uri="{FF2B5EF4-FFF2-40B4-BE49-F238E27FC236}">
                <a16:creationId xmlns:a16="http://schemas.microsoft.com/office/drawing/2014/main" id="{E959640E-08ED-4B76-9BB7-81706A8842DD}"/>
              </a:ext>
            </a:extLst>
          </p:cNvPr>
          <p:cNvPicPr>
            <a:picLocks noChangeAspect="1"/>
          </p:cNvPicPr>
          <p:nvPr/>
        </p:nvPicPr>
        <p:blipFill>
          <a:blip r:embed="rId4"/>
          <a:stretch>
            <a:fillRect/>
          </a:stretch>
        </p:blipFill>
        <p:spPr>
          <a:xfrm>
            <a:off x="2004573" y="1414114"/>
            <a:ext cx="755635" cy="1517676"/>
          </a:xfrm>
          <a:prstGeom prst="rect">
            <a:avLst/>
          </a:prstGeom>
        </p:spPr>
      </p:pic>
      <p:pic>
        <p:nvPicPr>
          <p:cNvPr id="10" name="Picture 9">
            <a:extLst>
              <a:ext uri="{FF2B5EF4-FFF2-40B4-BE49-F238E27FC236}">
                <a16:creationId xmlns:a16="http://schemas.microsoft.com/office/drawing/2014/main" id="{E650469D-1440-4F3E-8B00-2504D2EB4BFB}"/>
              </a:ext>
            </a:extLst>
          </p:cNvPr>
          <p:cNvPicPr>
            <a:picLocks noChangeAspect="1"/>
          </p:cNvPicPr>
          <p:nvPr/>
        </p:nvPicPr>
        <p:blipFill>
          <a:blip r:embed="rId4"/>
          <a:stretch>
            <a:fillRect/>
          </a:stretch>
        </p:blipFill>
        <p:spPr>
          <a:xfrm>
            <a:off x="1996566" y="3143609"/>
            <a:ext cx="755635" cy="1517676"/>
          </a:xfrm>
          <a:prstGeom prst="rect">
            <a:avLst/>
          </a:prstGeom>
        </p:spPr>
      </p:pic>
    </p:spTree>
    <p:extLst>
      <p:ext uri="{BB962C8B-B14F-4D97-AF65-F5344CB8AC3E}">
        <p14:creationId xmlns:p14="http://schemas.microsoft.com/office/powerpoint/2010/main" val="3212312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Convolution Layer Loop Nesting</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3537EC1A-5C44-4538-A958-2C0F1CC2CA54}"/>
              </a:ext>
            </a:extLst>
          </p:cNvPr>
          <p:cNvPicPr>
            <a:picLocks noChangeAspect="1"/>
          </p:cNvPicPr>
          <p:nvPr/>
        </p:nvPicPr>
        <p:blipFill>
          <a:blip r:embed="rId3"/>
          <a:stretch>
            <a:fillRect/>
          </a:stretch>
        </p:blipFill>
        <p:spPr>
          <a:xfrm>
            <a:off x="233772" y="1131590"/>
            <a:ext cx="8676456" cy="3214556"/>
          </a:xfrm>
          <a:prstGeom prst="rect">
            <a:avLst/>
          </a:prstGeom>
        </p:spPr>
      </p:pic>
    </p:spTree>
    <p:extLst>
      <p:ext uri="{BB962C8B-B14F-4D97-AF65-F5344CB8AC3E}">
        <p14:creationId xmlns:p14="http://schemas.microsoft.com/office/powerpoint/2010/main" val="2534501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Matrix Multiply</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12990324-CCAB-4FD3-97A1-A58D9C22BDE5}"/>
              </a:ext>
            </a:extLst>
          </p:cNvPr>
          <p:cNvPicPr>
            <a:picLocks noChangeAspect="1"/>
          </p:cNvPicPr>
          <p:nvPr/>
        </p:nvPicPr>
        <p:blipFill>
          <a:blip r:embed="rId3"/>
          <a:stretch>
            <a:fillRect/>
          </a:stretch>
        </p:blipFill>
        <p:spPr>
          <a:xfrm>
            <a:off x="669994" y="908828"/>
            <a:ext cx="7804012" cy="3825148"/>
          </a:xfrm>
          <a:prstGeom prst="rect">
            <a:avLst/>
          </a:prstGeom>
        </p:spPr>
      </p:pic>
    </p:spTree>
    <p:extLst>
      <p:ext uri="{BB962C8B-B14F-4D97-AF65-F5344CB8AC3E}">
        <p14:creationId xmlns:p14="http://schemas.microsoft.com/office/powerpoint/2010/main" val="3832939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Matrix Multiply</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6CAF2DBD-F8E1-475F-9F72-9B89F5541BAE}"/>
              </a:ext>
            </a:extLst>
          </p:cNvPr>
          <p:cNvPicPr>
            <a:picLocks noChangeAspect="1"/>
          </p:cNvPicPr>
          <p:nvPr/>
        </p:nvPicPr>
        <p:blipFill>
          <a:blip r:embed="rId3"/>
          <a:stretch>
            <a:fillRect/>
          </a:stretch>
        </p:blipFill>
        <p:spPr>
          <a:xfrm>
            <a:off x="110827" y="1071620"/>
            <a:ext cx="9036496" cy="3047979"/>
          </a:xfrm>
          <a:prstGeom prst="rect">
            <a:avLst/>
          </a:prstGeom>
        </p:spPr>
      </p:pic>
    </p:spTree>
    <p:extLst>
      <p:ext uri="{BB962C8B-B14F-4D97-AF65-F5344CB8AC3E}">
        <p14:creationId xmlns:p14="http://schemas.microsoft.com/office/powerpoint/2010/main" val="1816002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Converting Convolution to Matrix Multiply.</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AutoShape 4" descr="https://img-blog.csdnimg.cn/20190729110252778.png?x-oss-process=image/watermark,type_ZmFuZ3poZW5naGVpdGk,shadow_10,text_aHR0cHM6Ly9ibG9nLmNzZG4ubmV0L3FxXzMwNzA4NDQ1,size_16,color_FFFFFF,t_70">
            <a:extLst>
              <a:ext uri="{FF2B5EF4-FFF2-40B4-BE49-F238E27FC236}">
                <a16:creationId xmlns:a16="http://schemas.microsoft.com/office/drawing/2014/main" id="{E20197A2-A9A8-4E59-BBCD-FD47AE86FD4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B947DABC-3BD3-4E96-A1CA-B49A80A6C9D1}"/>
              </a:ext>
            </a:extLst>
          </p:cNvPr>
          <p:cNvPicPr>
            <a:picLocks noChangeAspect="1"/>
          </p:cNvPicPr>
          <p:nvPr/>
        </p:nvPicPr>
        <p:blipFill>
          <a:blip r:embed="rId3"/>
          <a:stretch>
            <a:fillRect/>
          </a:stretch>
        </p:blipFill>
        <p:spPr>
          <a:xfrm>
            <a:off x="1070342" y="987574"/>
            <a:ext cx="6698516" cy="3939902"/>
          </a:xfrm>
          <a:prstGeom prst="rect">
            <a:avLst/>
          </a:prstGeom>
        </p:spPr>
      </p:pic>
    </p:spTree>
    <p:extLst>
      <p:ext uri="{BB962C8B-B14F-4D97-AF65-F5344CB8AC3E}">
        <p14:creationId xmlns:p14="http://schemas.microsoft.com/office/powerpoint/2010/main" val="1287018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Outlines</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372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PE design and weight reuse</a:t>
            </a:r>
          </a:p>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Inefficiency in CPU</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optimization</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Instruction decoding</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Datapath</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Memory system</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CASE study</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Google TPU</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Huawei Atlas (</a:t>
            </a:r>
            <a:r>
              <a:rPr lang="zh-CN" altLang="en-US" sz="1600" b="1" dirty="0">
                <a:latin typeface="微软雅黑" panose="020B0503020204020204" pitchFamily="34" charset="-122"/>
                <a:ea typeface="微软雅黑" panose="020B0503020204020204" pitchFamily="34" charset="-122"/>
              </a:rPr>
              <a:t>昇腾</a:t>
            </a:r>
            <a:r>
              <a:rPr lang="en-US" altLang="zh-CN"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09826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Matrix Multiply in CPUs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3A62E31D-545D-4A38-AE89-517C5C2C57A3}"/>
              </a:ext>
            </a:extLst>
          </p:cNvPr>
          <p:cNvPicPr>
            <a:picLocks noChangeAspect="1"/>
          </p:cNvPicPr>
          <p:nvPr/>
        </p:nvPicPr>
        <p:blipFill>
          <a:blip r:embed="rId3"/>
          <a:stretch>
            <a:fillRect/>
          </a:stretch>
        </p:blipFill>
        <p:spPr>
          <a:xfrm>
            <a:off x="237381" y="930557"/>
            <a:ext cx="8568978" cy="3565078"/>
          </a:xfrm>
          <a:prstGeom prst="rect">
            <a:avLst/>
          </a:prstGeom>
        </p:spPr>
      </p:pic>
    </p:spTree>
    <p:extLst>
      <p:ext uri="{BB962C8B-B14F-4D97-AF65-F5344CB8AC3E}">
        <p14:creationId xmlns:p14="http://schemas.microsoft.com/office/powerpoint/2010/main" val="1048818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Source of Inefficiency in CPUs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C5DCE9D8-1B4B-445A-82C6-ECB4B82AF042}"/>
              </a:ext>
            </a:extLst>
          </p:cNvPr>
          <p:cNvPicPr>
            <a:picLocks noChangeAspect="1"/>
          </p:cNvPicPr>
          <p:nvPr/>
        </p:nvPicPr>
        <p:blipFill>
          <a:blip r:embed="rId3"/>
          <a:stretch>
            <a:fillRect/>
          </a:stretch>
        </p:blipFill>
        <p:spPr>
          <a:xfrm>
            <a:off x="251520" y="907687"/>
            <a:ext cx="8394184" cy="4030642"/>
          </a:xfrm>
          <a:prstGeom prst="rect">
            <a:avLst/>
          </a:prstGeom>
        </p:spPr>
      </p:pic>
    </p:spTree>
    <p:extLst>
      <p:ext uri="{BB962C8B-B14F-4D97-AF65-F5344CB8AC3E}">
        <p14:creationId xmlns:p14="http://schemas.microsoft.com/office/powerpoint/2010/main" val="2841625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Source of Inefficiency in CPUs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C5DCE9D8-1B4B-445A-82C6-ECB4B82AF042}"/>
              </a:ext>
            </a:extLst>
          </p:cNvPr>
          <p:cNvPicPr>
            <a:picLocks noChangeAspect="1"/>
          </p:cNvPicPr>
          <p:nvPr/>
        </p:nvPicPr>
        <p:blipFill>
          <a:blip r:embed="rId3"/>
          <a:stretch>
            <a:fillRect/>
          </a:stretch>
        </p:blipFill>
        <p:spPr>
          <a:xfrm>
            <a:off x="251520" y="907687"/>
            <a:ext cx="8394184" cy="4030642"/>
          </a:xfrm>
          <a:prstGeom prst="rect">
            <a:avLst/>
          </a:prstGeom>
        </p:spPr>
      </p:pic>
      <p:sp>
        <p:nvSpPr>
          <p:cNvPr id="7" name="矩形 6">
            <a:extLst>
              <a:ext uri="{FF2B5EF4-FFF2-40B4-BE49-F238E27FC236}">
                <a16:creationId xmlns:a16="http://schemas.microsoft.com/office/drawing/2014/main" id="{CA751C37-3149-4AD7-9EEE-A2D244E035F5}"/>
              </a:ext>
            </a:extLst>
          </p:cNvPr>
          <p:cNvSpPr/>
          <p:nvPr/>
        </p:nvSpPr>
        <p:spPr>
          <a:xfrm>
            <a:off x="611560" y="907687"/>
            <a:ext cx="3528392" cy="33489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40B0F0A1-3CDD-4CC6-A4D7-3E36E264974C}"/>
              </a:ext>
            </a:extLst>
          </p:cNvPr>
          <p:cNvPicPr>
            <a:picLocks noChangeAspect="1"/>
          </p:cNvPicPr>
          <p:nvPr/>
        </p:nvPicPr>
        <p:blipFill>
          <a:blip r:embed="rId4"/>
          <a:stretch>
            <a:fillRect/>
          </a:stretch>
        </p:blipFill>
        <p:spPr>
          <a:xfrm>
            <a:off x="633222" y="971095"/>
            <a:ext cx="2430472" cy="3348945"/>
          </a:xfrm>
          <a:prstGeom prst="rect">
            <a:avLst/>
          </a:prstGeom>
        </p:spPr>
      </p:pic>
      <p:sp>
        <p:nvSpPr>
          <p:cNvPr id="8" name="文本框 7">
            <a:extLst>
              <a:ext uri="{FF2B5EF4-FFF2-40B4-BE49-F238E27FC236}">
                <a16:creationId xmlns:a16="http://schemas.microsoft.com/office/drawing/2014/main" id="{9081219E-B32D-430F-A027-E16A8D86EA1C}"/>
              </a:ext>
            </a:extLst>
          </p:cNvPr>
          <p:cNvSpPr txBox="1"/>
          <p:nvPr/>
        </p:nvSpPr>
        <p:spPr>
          <a:xfrm>
            <a:off x="22179" y="4260979"/>
            <a:ext cx="3392438" cy="430887"/>
          </a:xfrm>
          <a:prstGeom prst="rect">
            <a:avLst/>
          </a:prstGeom>
          <a:noFill/>
        </p:spPr>
        <p:txBody>
          <a:bodyPr wrap="square" rtlCol="0">
            <a:spAutoFit/>
          </a:bodyPr>
          <a:lstStyle/>
          <a:p>
            <a:r>
              <a:rPr lang="en-US" altLang="zh-CN" sz="1100" i="1" dirty="0"/>
              <a:t>Designing Computing Systems based on Unconventional Technologies for Hardware Acceleration, 2021</a:t>
            </a:r>
            <a:endParaRPr lang="zh-CN" altLang="en-US" sz="1100" i="1" dirty="0"/>
          </a:p>
        </p:txBody>
      </p:sp>
    </p:spTree>
    <p:extLst>
      <p:ext uri="{BB962C8B-B14F-4D97-AF65-F5344CB8AC3E}">
        <p14:creationId xmlns:p14="http://schemas.microsoft.com/office/powerpoint/2010/main" val="1806897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The Efforts from CPU Designers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9D5DC0A6-DB7C-4B05-A771-25F8C3BAFC49}"/>
              </a:ext>
            </a:extLst>
          </p:cNvPr>
          <p:cNvSpPr txBox="1"/>
          <p:nvPr/>
        </p:nvSpPr>
        <p:spPr>
          <a:xfrm>
            <a:off x="827584" y="987574"/>
            <a:ext cx="1650965" cy="369332"/>
          </a:xfrm>
          <a:prstGeom prst="rect">
            <a:avLst/>
          </a:prstGeom>
          <a:noFill/>
        </p:spPr>
        <p:txBody>
          <a:bodyPr wrap="none" rtlCol="0">
            <a:spAutoFit/>
          </a:bodyPr>
          <a:lstStyle/>
          <a:p>
            <a:r>
              <a:rPr lang="en-US" altLang="zh-CN" u="sng" dirty="0"/>
              <a:t>SIMD extension</a:t>
            </a:r>
            <a:endParaRPr lang="zh-CN" altLang="en-US" u="sng" dirty="0"/>
          </a:p>
        </p:txBody>
      </p:sp>
      <p:pic>
        <p:nvPicPr>
          <p:cNvPr id="11" name="图片 10">
            <a:extLst>
              <a:ext uri="{FF2B5EF4-FFF2-40B4-BE49-F238E27FC236}">
                <a16:creationId xmlns:a16="http://schemas.microsoft.com/office/drawing/2014/main" id="{0BE5E454-B724-40A5-A29A-D18AE355D938}"/>
              </a:ext>
            </a:extLst>
          </p:cNvPr>
          <p:cNvPicPr>
            <a:picLocks noChangeAspect="1"/>
          </p:cNvPicPr>
          <p:nvPr/>
        </p:nvPicPr>
        <p:blipFill>
          <a:blip r:embed="rId3"/>
          <a:stretch>
            <a:fillRect/>
          </a:stretch>
        </p:blipFill>
        <p:spPr>
          <a:xfrm>
            <a:off x="323528" y="1435652"/>
            <a:ext cx="4000203" cy="3003798"/>
          </a:xfrm>
          <a:prstGeom prst="rect">
            <a:avLst/>
          </a:prstGeom>
        </p:spPr>
      </p:pic>
      <p:sp>
        <p:nvSpPr>
          <p:cNvPr id="12" name="文本框 11">
            <a:extLst>
              <a:ext uri="{FF2B5EF4-FFF2-40B4-BE49-F238E27FC236}">
                <a16:creationId xmlns:a16="http://schemas.microsoft.com/office/drawing/2014/main" id="{99EBE963-24EA-421F-BA19-9FC4FECF810B}"/>
              </a:ext>
            </a:extLst>
          </p:cNvPr>
          <p:cNvSpPr txBox="1"/>
          <p:nvPr/>
        </p:nvSpPr>
        <p:spPr>
          <a:xfrm>
            <a:off x="3133946" y="4529161"/>
            <a:ext cx="2876108" cy="253916"/>
          </a:xfrm>
          <a:prstGeom prst="rect">
            <a:avLst/>
          </a:prstGeom>
          <a:noFill/>
        </p:spPr>
        <p:txBody>
          <a:bodyPr wrap="none" rtlCol="0">
            <a:spAutoFit/>
          </a:bodyPr>
          <a:lstStyle/>
          <a:p>
            <a:r>
              <a:rPr lang="en-US" altLang="zh-CN" sz="1050" b="1" i="1" dirty="0">
                <a:effectLst/>
              </a:rPr>
              <a:t>Advanced Systems Lab - Spring 2021,</a:t>
            </a:r>
            <a:r>
              <a:rPr lang="zh-CN" altLang="en-US" sz="1050" b="1" i="1" dirty="0">
                <a:effectLst/>
              </a:rPr>
              <a:t> </a:t>
            </a:r>
            <a:r>
              <a:rPr lang="en-US" altLang="zh-CN" sz="1050" b="1" i="1" dirty="0">
                <a:effectLst/>
              </a:rPr>
              <a:t>ETH</a:t>
            </a:r>
            <a:r>
              <a:rPr lang="zh-CN" altLang="en-US" sz="1050" b="1" i="1" dirty="0">
                <a:effectLst/>
              </a:rPr>
              <a:t> </a:t>
            </a:r>
            <a:r>
              <a:rPr lang="en-US" altLang="zh-CN" sz="1050" b="1" i="1" dirty="0">
                <a:effectLst/>
              </a:rPr>
              <a:t>Zurich</a:t>
            </a:r>
          </a:p>
        </p:txBody>
      </p:sp>
      <p:pic>
        <p:nvPicPr>
          <p:cNvPr id="14" name="图片 13">
            <a:extLst>
              <a:ext uri="{FF2B5EF4-FFF2-40B4-BE49-F238E27FC236}">
                <a16:creationId xmlns:a16="http://schemas.microsoft.com/office/drawing/2014/main" id="{839AEA3C-F49C-4701-860D-73BD83D709BC}"/>
              </a:ext>
            </a:extLst>
          </p:cNvPr>
          <p:cNvPicPr>
            <a:picLocks noChangeAspect="1"/>
          </p:cNvPicPr>
          <p:nvPr/>
        </p:nvPicPr>
        <p:blipFill>
          <a:blip r:embed="rId4"/>
          <a:stretch>
            <a:fillRect/>
          </a:stretch>
        </p:blipFill>
        <p:spPr>
          <a:xfrm>
            <a:off x="4993057" y="3215314"/>
            <a:ext cx="3488019" cy="1224136"/>
          </a:xfrm>
          <a:prstGeom prst="rect">
            <a:avLst/>
          </a:prstGeom>
        </p:spPr>
      </p:pic>
      <p:pic>
        <p:nvPicPr>
          <p:cNvPr id="16" name="图片 15">
            <a:extLst>
              <a:ext uri="{FF2B5EF4-FFF2-40B4-BE49-F238E27FC236}">
                <a16:creationId xmlns:a16="http://schemas.microsoft.com/office/drawing/2014/main" id="{F8BDF12A-2957-49AA-B5DD-6A9E978DA174}"/>
              </a:ext>
            </a:extLst>
          </p:cNvPr>
          <p:cNvPicPr>
            <a:picLocks noChangeAspect="1"/>
          </p:cNvPicPr>
          <p:nvPr/>
        </p:nvPicPr>
        <p:blipFill>
          <a:blip r:embed="rId5"/>
          <a:stretch>
            <a:fillRect/>
          </a:stretch>
        </p:blipFill>
        <p:spPr>
          <a:xfrm>
            <a:off x="5053727" y="831588"/>
            <a:ext cx="3284421" cy="2294015"/>
          </a:xfrm>
          <a:prstGeom prst="rect">
            <a:avLst/>
          </a:prstGeom>
        </p:spPr>
      </p:pic>
    </p:spTree>
    <p:extLst>
      <p:ext uri="{BB962C8B-B14F-4D97-AF65-F5344CB8AC3E}">
        <p14:creationId xmlns:p14="http://schemas.microsoft.com/office/powerpoint/2010/main" val="16279115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Outlines</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372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PE design and weight reuse</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Inefficiency in CPU</a:t>
            </a:r>
          </a:p>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Core optimization</a:t>
            </a:r>
          </a:p>
          <a:p>
            <a:pPr marL="800100" lvl="1"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Instruction decoding</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Datapath</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Memory system</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CASE study</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Google TPU</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Huawei Atlas (</a:t>
            </a:r>
            <a:r>
              <a:rPr lang="zh-CN" altLang="en-US" sz="1600" b="1" dirty="0">
                <a:latin typeface="微软雅黑" panose="020B0503020204020204" pitchFamily="34" charset="-122"/>
                <a:ea typeface="微软雅黑" panose="020B0503020204020204" pitchFamily="34" charset="-122"/>
              </a:rPr>
              <a:t>昇腾</a:t>
            </a:r>
            <a:r>
              <a:rPr lang="en-US" altLang="zh-CN"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942787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Inst. Decoding Logic Optimization</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905B4CD5-390D-4A73-86DB-C771AAB73BBC}"/>
              </a:ext>
            </a:extLst>
          </p:cNvPr>
          <p:cNvPicPr>
            <a:picLocks noChangeAspect="1"/>
          </p:cNvPicPr>
          <p:nvPr/>
        </p:nvPicPr>
        <p:blipFill>
          <a:blip r:embed="rId3"/>
          <a:stretch>
            <a:fillRect/>
          </a:stretch>
        </p:blipFill>
        <p:spPr>
          <a:xfrm>
            <a:off x="177577" y="891564"/>
            <a:ext cx="8802978" cy="3912434"/>
          </a:xfrm>
          <a:prstGeom prst="rect">
            <a:avLst/>
          </a:prstGeom>
        </p:spPr>
      </p:pic>
    </p:spTree>
    <p:extLst>
      <p:ext uri="{BB962C8B-B14F-4D97-AF65-F5344CB8AC3E}">
        <p14:creationId xmlns:p14="http://schemas.microsoft.com/office/powerpoint/2010/main" val="738954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Inst. Decoding Logic Optimization</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183E98EE-C47C-489A-BC1E-97EE7EDF68DA}"/>
              </a:ext>
            </a:extLst>
          </p:cNvPr>
          <p:cNvPicPr>
            <a:picLocks noChangeAspect="1"/>
          </p:cNvPicPr>
          <p:nvPr/>
        </p:nvPicPr>
        <p:blipFill>
          <a:blip r:embed="rId3"/>
          <a:stretch>
            <a:fillRect/>
          </a:stretch>
        </p:blipFill>
        <p:spPr>
          <a:xfrm>
            <a:off x="180897" y="836538"/>
            <a:ext cx="8728301" cy="3931667"/>
          </a:xfrm>
          <a:prstGeom prst="rect">
            <a:avLst/>
          </a:prstGeom>
        </p:spPr>
      </p:pic>
      <p:sp>
        <p:nvSpPr>
          <p:cNvPr id="5" name="矩形 4">
            <a:extLst>
              <a:ext uri="{FF2B5EF4-FFF2-40B4-BE49-F238E27FC236}">
                <a16:creationId xmlns:a16="http://schemas.microsoft.com/office/drawing/2014/main" id="{3A18DC12-6A62-4E64-BA4D-AC30649CE72D}"/>
              </a:ext>
            </a:extLst>
          </p:cNvPr>
          <p:cNvSpPr/>
          <p:nvPr/>
        </p:nvSpPr>
        <p:spPr>
          <a:xfrm>
            <a:off x="46992" y="4447327"/>
            <a:ext cx="924608" cy="56932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68725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Inst. Decoding Logic Optimization</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6B0A4FFC-994A-418D-A9CD-2A1D2A356202}"/>
              </a:ext>
            </a:extLst>
          </p:cNvPr>
          <p:cNvPicPr>
            <a:picLocks noChangeAspect="1"/>
          </p:cNvPicPr>
          <p:nvPr/>
        </p:nvPicPr>
        <p:blipFill>
          <a:blip r:embed="rId3"/>
          <a:stretch>
            <a:fillRect/>
          </a:stretch>
        </p:blipFill>
        <p:spPr>
          <a:xfrm>
            <a:off x="405408" y="881791"/>
            <a:ext cx="8388424" cy="3811429"/>
          </a:xfrm>
          <a:prstGeom prst="rect">
            <a:avLst/>
          </a:prstGeom>
        </p:spPr>
      </p:pic>
      <p:sp>
        <p:nvSpPr>
          <p:cNvPr id="6" name="矩形 5">
            <a:extLst>
              <a:ext uri="{FF2B5EF4-FFF2-40B4-BE49-F238E27FC236}">
                <a16:creationId xmlns:a16="http://schemas.microsoft.com/office/drawing/2014/main" id="{009689A7-B3DB-4C73-95C8-3C8615BDEF4B}"/>
              </a:ext>
            </a:extLst>
          </p:cNvPr>
          <p:cNvSpPr/>
          <p:nvPr/>
        </p:nvSpPr>
        <p:spPr>
          <a:xfrm>
            <a:off x="77248" y="4265078"/>
            <a:ext cx="780592" cy="56932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87384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Outlines</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372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PE design and weight reuse</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Inefficiency in CPU</a:t>
            </a:r>
          </a:p>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Core optimization</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Instruction decoding</a:t>
            </a:r>
          </a:p>
          <a:p>
            <a:pPr marL="800100" lvl="1"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Datapath</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Memory system</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CASE study</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Google TPU</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Huawei Atlas (</a:t>
            </a:r>
            <a:r>
              <a:rPr lang="zh-CN" altLang="en-US" sz="1600" b="1" dirty="0">
                <a:latin typeface="微软雅黑" panose="020B0503020204020204" pitchFamily="34" charset="-122"/>
                <a:ea typeface="微软雅黑" panose="020B0503020204020204" pitchFamily="34" charset="-122"/>
              </a:rPr>
              <a:t>昇腾</a:t>
            </a:r>
            <a:r>
              <a:rPr lang="en-US" altLang="zh-CN"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415487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Dataflow Recap</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95676CCB-A1AE-4DB9-AEC0-F42B371CFC1E}"/>
              </a:ext>
            </a:extLst>
          </p:cNvPr>
          <p:cNvPicPr>
            <a:picLocks noChangeAspect="1"/>
          </p:cNvPicPr>
          <p:nvPr/>
        </p:nvPicPr>
        <p:blipFill>
          <a:blip r:embed="rId3"/>
          <a:stretch>
            <a:fillRect/>
          </a:stretch>
        </p:blipFill>
        <p:spPr>
          <a:xfrm>
            <a:off x="470570" y="1203598"/>
            <a:ext cx="8281976" cy="2411208"/>
          </a:xfrm>
          <a:prstGeom prst="rect">
            <a:avLst/>
          </a:prstGeom>
        </p:spPr>
      </p:pic>
    </p:spTree>
    <p:extLst>
      <p:ext uri="{BB962C8B-B14F-4D97-AF65-F5344CB8AC3E}">
        <p14:creationId xmlns:p14="http://schemas.microsoft.com/office/powerpoint/2010/main" val="[student ID removed]"/>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Matrix Multiply Dataflow</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11C8A1E4-82E9-400B-87E5-25C1BBCEF09A}"/>
              </a:ext>
            </a:extLst>
          </p:cNvPr>
          <p:cNvPicPr>
            <a:picLocks noChangeAspect="1"/>
          </p:cNvPicPr>
          <p:nvPr/>
        </p:nvPicPr>
        <p:blipFill>
          <a:blip r:embed="rId3"/>
          <a:stretch>
            <a:fillRect/>
          </a:stretch>
        </p:blipFill>
        <p:spPr>
          <a:xfrm>
            <a:off x="175667" y="1419622"/>
            <a:ext cx="8792665" cy="2400160"/>
          </a:xfrm>
          <a:prstGeom prst="rect">
            <a:avLst/>
          </a:prstGeom>
        </p:spPr>
      </p:pic>
    </p:spTree>
    <p:extLst>
      <p:ext uri="{BB962C8B-B14F-4D97-AF65-F5344CB8AC3E}">
        <p14:creationId xmlns:p14="http://schemas.microsoft.com/office/powerpoint/2010/main" val="25666080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Datapath Optimization 1: Spatial-K</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5D161763-0BF0-4130-9CCD-DD85E82DEFD6}"/>
              </a:ext>
            </a:extLst>
          </p:cNvPr>
          <p:cNvPicPr>
            <a:picLocks noChangeAspect="1"/>
          </p:cNvPicPr>
          <p:nvPr/>
        </p:nvPicPr>
        <p:blipFill>
          <a:blip r:embed="rId3"/>
          <a:stretch>
            <a:fillRect/>
          </a:stretch>
        </p:blipFill>
        <p:spPr>
          <a:xfrm>
            <a:off x="683568" y="962663"/>
            <a:ext cx="8028384" cy="3737538"/>
          </a:xfrm>
          <a:prstGeom prst="rect">
            <a:avLst/>
          </a:prstGeom>
        </p:spPr>
      </p:pic>
      <p:sp>
        <p:nvSpPr>
          <p:cNvPr id="5" name="矩形 4">
            <a:extLst>
              <a:ext uri="{FF2B5EF4-FFF2-40B4-BE49-F238E27FC236}">
                <a16:creationId xmlns:a16="http://schemas.microsoft.com/office/drawing/2014/main" id="{E74D1BC1-0529-4314-8A31-2125A92C6A3F}"/>
              </a:ext>
            </a:extLst>
          </p:cNvPr>
          <p:cNvSpPr/>
          <p:nvPr/>
        </p:nvSpPr>
        <p:spPr>
          <a:xfrm>
            <a:off x="418528" y="4407386"/>
            <a:ext cx="841104" cy="56932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4678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Datapath Optimization 1: Spatial-K</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E7799162-6375-4FFA-9081-C8A562B23EEA}"/>
              </a:ext>
            </a:extLst>
          </p:cNvPr>
          <p:cNvPicPr>
            <a:picLocks noChangeAspect="1"/>
          </p:cNvPicPr>
          <p:nvPr/>
        </p:nvPicPr>
        <p:blipFill>
          <a:blip r:embed="rId3"/>
          <a:stretch>
            <a:fillRect/>
          </a:stretch>
        </p:blipFill>
        <p:spPr>
          <a:xfrm>
            <a:off x="809836" y="1059582"/>
            <a:ext cx="7524328" cy="3558804"/>
          </a:xfrm>
          <a:prstGeom prst="rect">
            <a:avLst/>
          </a:prstGeom>
        </p:spPr>
      </p:pic>
      <p:sp>
        <p:nvSpPr>
          <p:cNvPr id="6" name="矩形 5">
            <a:extLst>
              <a:ext uri="{FF2B5EF4-FFF2-40B4-BE49-F238E27FC236}">
                <a16:creationId xmlns:a16="http://schemas.microsoft.com/office/drawing/2014/main" id="{832DD26B-F028-414B-AE32-2CB2C80D69B5}"/>
              </a:ext>
            </a:extLst>
          </p:cNvPr>
          <p:cNvSpPr/>
          <p:nvPr/>
        </p:nvSpPr>
        <p:spPr>
          <a:xfrm>
            <a:off x="611560" y="4333723"/>
            <a:ext cx="841104" cy="56932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22377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Datapath Optimization 2: Spatial-N</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D114569A-B9AD-453C-BCEE-1A23A1285600}"/>
              </a:ext>
            </a:extLst>
          </p:cNvPr>
          <p:cNvPicPr>
            <a:picLocks noChangeAspect="1"/>
          </p:cNvPicPr>
          <p:nvPr/>
        </p:nvPicPr>
        <p:blipFill>
          <a:blip r:embed="rId3"/>
          <a:stretch>
            <a:fillRect/>
          </a:stretch>
        </p:blipFill>
        <p:spPr>
          <a:xfrm>
            <a:off x="449796" y="905781"/>
            <a:ext cx="8244408" cy="3740032"/>
          </a:xfrm>
          <a:prstGeom prst="rect">
            <a:avLst/>
          </a:prstGeom>
        </p:spPr>
      </p:pic>
    </p:spTree>
    <p:extLst>
      <p:ext uri="{BB962C8B-B14F-4D97-AF65-F5344CB8AC3E}">
        <p14:creationId xmlns:p14="http://schemas.microsoft.com/office/powerpoint/2010/main" val="14929389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Datapath Optimization 2: Spatial-N</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ACBA347A-0E37-4F5A-B464-1293374CC0D8}"/>
              </a:ext>
            </a:extLst>
          </p:cNvPr>
          <p:cNvPicPr>
            <a:picLocks noChangeAspect="1"/>
          </p:cNvPicPr>
          <p:nvPr/>
        </p:nvPicPr>
        <p:blipFill>
          <a:blip r:embed="rId3"/>
          <a:stretch>
            <a:fillRect/>
          </a:stretch>
        </p:blipFill>
        <p:spPr>
          <a:xfrm>
            <a:off x="755576" y="1131590"/>
            <a:ext cx="7457605" cy="3349776"/>
          </a:xfrm>
          <a:prstGeom prst="rect">
            <a:avLst/>
          </a:prstGeom>
        </p:spPr>
      </p:pic>
    </p:spTree>
    <p:extLst>
      <p:ext uri="{BB962C8B-B14F-4D97-AF65-F5344CB8AC3E}">
        <p14:creationId xmlns:p14="http://schemas.microsoft.com/office/powerpoint/2010/main" val="28062093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Datapath Optimization Combined: NVDLA</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2EE1EC90-2A0F-42F3-B441-72ED58C4510F}"/>
              </a:ext>
            </a:extLst>
          </p:cNvPr>
          <p:cNvPicPr>
            <a:picLocks noChangeAspect="1"/>
          </p:cNvPicPr>
          <p:nvPr/>
        </p:nvPicPr>
        <p:blipFill>
          <a:blip r:embed="rId3"/>
          <a:stretch>
            <a:fillRect/>
          </a:stretch>
        </p:blipFill>
        <p:spPr>
          <a:xfrm>
            <a:off x="477056" y="1100588"/>
            <a:ext cx="8189887" cy="3422894"/>
          </a:xfrm>
          <a:prstGeom prst="rect">
            <a:avLst/>
          </a:prstGeom>
        </p:spPr>
      </p:pic>
    </p:spTree>
    <p:extLst>
      <p:ext uri="{BB962C8B-B14F-4D97-AF65-F5344CB8AC3E}">
        <p14:creationId xmlns:p14="http://schemas.microsoft.com/office/powerpoint/2010/main" val="9900468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Datapath Optimization Combined: TPU</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E3164434-AC3E-4CC5-8488-77D28128A8FE}"/>
              </a:ext>
            </a:extLst>
          </p:cNvPr>
          <p:cNvPicPr>
            <a:picLocks noChangeAspect="1"/>
          </p:cNvPicPr>
          <p:nvPr/>
        </p:nvPicPr>
        <p:blipFill>
          <a:blip r:embed="rId3"/>
          <a:stretch>
            <a:fillRect/>
          </a:stretch>
        </p:blipFill>
        <p:spPr>
          <a:xfrm>
            <a:off x="257200" y="956510"/>
            <a:ext cx="8170897" cy="3775480"/>
          </a:xfrm>
          <a:prstGeom prst="rect">
            <a:avLst/>
          </a:prstGeom>
        </p:spPr>
      </p:pic>
    </p:spTree>
    <p:extLst>
      <p:ext uri="{BB962C8B-B14F-4D97-AF65-F5344CB8AC3E}">
        <p14:creationId xmlns:p14="http://schemas.microsoft.com/office/powerpoint/2010/main" val="2800263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Datapath Optimization Recap</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4B2D2F6E-F8DC-4F0F-9A8D-44A8BA9E39BA}"/>
              </a:ext>
            </a:extLst>
          </p:cNvPr>
          <p:cNvPicPr>
            <a:picLocks noChangeAspect="1"/>
          </p:cNvPicPr>
          <p:nvPr/>
        </p:nvPicPr>
        <p:blipFill>
          <a:blip r:embed="rId3"/>
          <a:stretch>
            <a:fillRect/>
          </a:stretch>
        </p:blipFill>
        <p:spPr>
          <a:xfrm>
            <a:off x="197768" y="1175804"/>
            <a:ext cx="8748464" cy="2924096"/>
          </a:xfrm>
          <a:prstGeom prst="rect">
            <a:avLst/>
          </a:prstGeom>
        </p:spPr>
      </p:pic>
    </p:spTree>
    <p:extLst>
      <p:ext uri="{BB962C8B-B14F-4D97-AF65-F5344CB8AC3E}">
        <p14:creationId xmlns:p14="http://schemas.microsoft.com/office/powerpoint/2010/main" val="5080957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Outlines</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372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PE design and weight reuse</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Inefficiency in CPU</a:t>
            </a:r>
          </a:p>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Core optimization</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Instruction decoding</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Datapath</a:t>
            </a:r>
          </a:p>
          <a:p>
            <a:pPr marL="800100" lvl="1"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Memory system</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CASE study</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Google TPU</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Huawei Atlas (</a:t>
            </a:r>
            <a:r>
              <a:rPr lang="zh-CN" altLang="en-US" sz="1600" b="1" dirty="0">
                <a:latin typeface="微软雅黑" panose="020B0503020204020204" pitchFamily="34" charset="-122"/>
                <a:ea typeface="微软雅黑" panose="020B0503020204020204" pitchFamily="34" charset="-122"/>
              </a:rPr>
              <a:t>昇腾</a:t>
            </a:r>
            <a:r>
              <a:rPr lang="en-US" altLang="zh-CN"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9720868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lang="en-US" dirty="0"/>
              <a:t>Mem Opt. 1: Short-lived intermediate results </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DE0BF454-DD58-4804-954F-D70E15E0E22B}"/>
              </a:ext>
            </a:extLst>
          </p:cNvPr>
          <p:cNvPicPr>
            <a:picLocks noChangeAspect="1"/>
          </p:cNvPicPr>
          <p:nvPr/>
        </p:nvPicPr>
        <p:blipFill>
          <a:blip r:embed="rId3"/>
          <a:stretch>
            <a:fillRect/>
          </a:stretch>
        </p:blipFill>
        <p:spPr>
          <a:xfrm>
            <a:off x="755576" y="932839"/>
            <a:ext cx="7380312" cy="3730142"/>
          </a:xfrm>
          <a:prstGeom prst="rect">
            <a:avLst/>
          </a:prstGeom>
        </p:spPr>
      </p:pic>
    </p:spTree>
    <p:extLst>
      <p:ext uri="{BB962C8B-B14F-4D97-AF65-F5344CB8AC3E}">
        <p14:creationId xmlns:p14="http://schemas.microsoft.com/office/powerpoint/2010/main" val="4959053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fontScale="90000"/>
          </a:bodyPr>
          <a:lstStyle/>
          <a:p>
            <a:r>
              <a:rPr lang="en-US" dirty="0"/>
              <a:t>Mem Opt. 2: App-specific storage size/BW</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1E242C94-2179-4D81-A8AA-992C6EB242DD}"/>
              </a:ext>
            </a:extLst>
          </p:cNvPr>
          <p:cNvPicPr>
            <a:picLocks noChangeAspect="1"/>
          </p:cNvPicPr>
          <p:nvPr/>
        </p:nvPicPr>
        <p:blipFill>
          <a:blip r:embed="rId3"/>
          <a:stretch>
            <a:fillRect/>
          </a:stretch>
        </p:blipFill>
        <p:spPr>
          <a:xfrm>
            <a:off x="557808" y="1068996"/>
            <a:ext cx="8028384" cy="3556950"/>
          </a:xfrm>
          <a:prstGeom prst="rect">
            <a:avLst/>
          </a:prstGeom>
        </p:spPr>
      </p:pic>
    </p:spTree>
    <p:extLst>
      <p:ext uri="{BB962C8B-B14F-4D97-AF65-F5344CB8AC3E}">
        <p14:creationId xmlns:p14="http://schemas.microsoft.com/office/powerpoint/2010/main" val="37568819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Mem Opt. 3: App-specific data delivery</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3CCF07F0-3CB1-4202-8290-583D968C685A}"/>
              </a:ext>
            </a:extLst>
          </p:cNvPr>
          <p:cNvPicPr>
            <a:picLocks noChangeAspect="1"/>
          </p:cNvPicPr>
          <p:nvPr/>
        </p:nvPicPr>
        <p:blipFill>
          <a:blip r:embed="rId3"/>
          <a:stretch>
            <a:fillRect/>
          </a:stretch>
        </p:blipFill>
        <p:spPr>
          <a:xfrm>
            <a:off x="504677" y="1059582"/>
            <a:ext cx="8134646" cy="3617174"/>
          </a:xfrm>
          <a:prstGeom prst="rect">
            <a:avLst/>
          </a:prstGeom>
        </p:spPr>
      </p:pic>
      <p:sp>
        <p:nvSpPr>
          <p:cNvPr id="5" name="矩形 4">
            <a:extLst>
              <a:ext uri="{FF2B5EF4-FFF2-40B4-BE49-F238E27FC236}">
                <a16:creationId xmlns:a16="http://schemas.microsoft.com/office/drawing/2014/main" id="{E9208A3C-0BE4-4164-9E30-3C03959ED4CA}"/>
              </a:ext>
            </a:extLst>
          </p:cNvPr>
          <p:cNvSpPr/>
          <p:nvPr/>
        </p:nvSpPr>
        <p:spPr>
          <a:xfrm>
            <a:off x="418528" y="4407386"/>
            <a:ext cx="841104" cy="56932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796995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Mem Opt. 3: App-specific data delivery</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EF394372-6C87-4F6D-8D7F-6B0631B8D096}"/>
              </a:ext>
            </a:extLst>
          </p:cNvPr>
          <p:cNvPicPr>
            <a:picLocks noChangeAspect="1"/>
          </p:cNvPicPr>
          <p:nvPr/>
        </p:nvPicPr>
        <p:blipFill>
          <a:blip r:embed="rId3"/>
          <a:stretch>
            <a:fillRect/>
          </a:stretch>
        </p:blipFill>
        <p:spPr>
          <a:xfrm>
            <a:off x="813958" y="908828"/>
            <a:ext cx="7516084" cy="3535130"/>
          </a:xfrm>
          <a:prstGeom prst="rect">
            <a:avLst/>
          </a:prstGeom>
        </p:spPr>
      </p:pic>
      <p:sp>
        <p:nvSpPr>
          <p:cNvPr id="6" name="矩形 5">
            <a:extLst>
              <a:ext uri="{FF2B5EF4-FFF2-40B4-BE49-F238E27FC236}">
                <a16:creationId xmlns:a16="http://schemas.microsoft.com/office/drawing/2014/main" id="{3D4FB562-CAA4-4FDF-8590-7948C63EF3E0}"/>
              </a:ext>
            </a:extLst>
          </p:cNvPr>
          <p:cNvSpPr/>
          <p:nvPr/>
        </p:nvSpPr>
        <p:spPr>
          <a:xfrm>
            <a:off x="431281" y="4299942"/>
            <a:ext cx="841104" cy="56932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65777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Outlines</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372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PE design and weight reuse</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Inefficiency in CPU</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optimization</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Instruction decoding</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Datapath</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Memory system</a:t>
            </a:r>
          </a:p>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CASE study</a:t>
            </a:r>
          </a:p>
          <a:p>
            <a:pPr marL="800100" lvl="1"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Google TPU</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Huawei Atlas (</a:t>
            </a:r>
            <a:r>
              <a:rPr lang="zh-CN" altLang="en-US" sz="1600" b="1" dirty="0">
                <a:latin typeface="微软雅黑" panose="020B0503020204020204" pitchFamily="34" charset="-122"/>
                <a:ea typeface="微软雅黑" panose="020B0503020204020204" pitchFamily="34" charset="-122"/>
              </a:rPr>
              <a:t>昇腾</a:t>
            </a:r>
            <a:r>
              <a:rPr lang="en-US" altLang="zh-CN"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9896258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Tensor Processing Unit</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A4C098AD-4C95-482F-AFBC-4AA9124A1DBE}"/>
              </a:ext>
            </a:extLst>
          </p:cNvPr>
          <p:cNvPicPr>
            <a:picLocks noChangeAspect="1"/>
          </p:cNvPicPr>
          <p:nvPr/>
        </p:nvPicPr>
        <p:blipFill>
          <a:blip r:embed="rId3"/>
          <a:stretch>
            <a:fillRect/>
          </a:stretch>
        </p:blipFill>
        <p:spPr>
          <a:xfrm>
            <a:off x="297129" y="972452"/>
            <a:ext cx="8549741" cy="3643700"/>
          </a:xfrm>
          <a:prstGeom prst="rect">
            <a:avLst/>
          </a:prstGeom>
        </p:spPr>
      </p:pic>
    </p:spTree>
    <p:extLst>
      <p:ext uri="{BB962C8B-B14F-4D97-AF65-F5344CB8AC3E}">
        <p14:creationId xmlns:p14="http://schemas.microsoft.com/office/powerpoint/2010/main" val="19924359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Tensor Processing Unit:</a:t>
            </a:r>
            <a:r>
              <a:rPr lang="zh-CN" altLang="en-US" dirty="0"/>
              <a:t> </a:t>
            </a:r>
            <a:r>
              <a:rPr lang="en-US" altLang="zh-CN" dirty="0"/>
              <a:t>Systolic Dataflow</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图片 4">
            <a:extLst>
              <a:ext uri="{FF2B5EF4-FFF2-40B4-BE49-F238E27FC236}">
                <a16:creationId xmlns:a16="http://schemas.microsoft.com/office/drawing/2014/main" id="{D51AC2E2-8FB0-F3B5-0283-D2C5BF901AF5}"/>
              </a:ext>
            </a:extLst>
          </p:cNvPr>
          <p:cNvPicPr>
            <a:picLocks noChangeAspect="1"/>
          </p:cNvPicPr>
          <p:nvPr/>
        </p:nvPicPr>
        <p:blipFill>
          <a:blip r:embed="rId3"/>
          <a:stretch>
            <a:fillRect/>
          </a:stretch>
        </p:blipFill>
        <p:spPr>
          <a:xfrm>
            <a:off x="1442577" y="699542"/>
            <a:ext cx="6258845" cy="4306007"/>
          </a:xfrm>
          <a:prstGeom prst="rect">
            <a:avLst/>
          </a:prstGeom>
        </p:spPr>
      </p:pic>
    </p:spTree>
    <p:extLst>
      <p:ext uri="{BB962C8B-B14F-4D97-AF65-F5344CB8AC3E}">
        <p14:creationId xmlns:p14="http://schemas.microsoft.com/office/powerpoint/2010/main" val="11462509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Tensor Processing Unit:</a:t>
            </a:r>
            <a:r>
              <a:rPr lang="zh-CN" altLang="en-US" dirty="0"/>
              <a:t> </a:t>
            </a:r>
            <a:r>
              <a:rPr lang="en-US" altLang="zh-CN" dirty="0"/>
              <a:t>Systolic Dataflow</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7" name="文本框 4">
            <a:extLst>
              <a:ext uri="{FF2B5EF4-FFF2-40B4-BE49-F238E27FC236}">
                <a16:creationId xmlns:a16="http://schemas.microsoft.com/office/drawing/2014/main" id="{AA26A156-74B0-44A9-A4F2-B81F62B156C8}"/>
              </a:ext>
            </a:extLst>
          </p:cNvPr>
          <p:cNvSpPr txBox="1"/>
          <p:nvPr/>
        </p:nvSpPr>
        <p:spPr>
          <a:xfrm>
            <a:off x="5439865" y="1203598"/>
            <a:ext cx="3448846" cy="2308324"/>
          </a:xfrm>
          <a:prstGeom prst="rect">
            <a:avLst/>
          </a:prstGeom>
          <a:noFill/>
        </p:spPr>
        <p:txBody>
          <a:bodyPr wrap="square" rtlCol="0">
            <a:spAutoFit/>
          </a:bodyPr>
          <a:lstStyle/>
          <a:p>
            <a:pPr>
              <a:buSzPct val="140000"/>
            </a:pPr>
            <a:r>
              <a:rPr lang="zh-CN" altLang="en-US" sz="1600" dirty="0">
                <a:latin typeface="Arial" panose="020B0604020202020204" pitchFamily="34" charset="0"/>
                <a:cs typeface="Arial" panose="020B0604020202020204" pitchFamily="34" charset="0"/>
              </a:rPr>
              <a:t>脉动阵列的主体部分是一个二维的滑动阵列，其中每一个节点都是一个脉动计算单元，可以在一个时钟周期内完成一次乘加操作。</a:t>
            </a:r>
            <a:endParaRPr lang="en-US" altLang="zh-CN" sz="1600" dirty="0">
              <a:latin typeface="Arial" panose="020B0604020202020204" pitchFamily="34" charset="0"/>
              <a:cs typeface="Arial" panose="020B0604020202020204" pitchFamily="34" charset="0"/>
            </a:endParaRPr>
          </a:p>
          <a:p>
            <a:pPr>
              <a:buSzPct val="140000"/>
            </a:pPr>
            <a:endParaRPr lang="en-US" altLang="zh-CN" sz="1600" dirty="0">
              <a:latin typeface="Arial" panose="020B0604020202020204" pitchFamily="34" charset="0"/>
              <a:cs typeface="Arial" panose="020B0604020202020204" pitchFamily="34" charset="0"/>
            </a:endParaRPr>
          </a:p>
          <a:p>
            <a:pPr>
              <a:buSzPct val="140000"/>
            </a:pPr>
            <a:r>
              <a:rPr lang="zh-CN" altLang="en-US" sz="1600" dirty="0">
                <a:latin typeface="Arial" panose="020B0604020202020204" pitchFamily="34" charset="0"/>
                <a:cs typeface="Arial" panose="020B0604020202020204" pitchFamily="34" charset="0"/>
              </a:rPr>
              <a:t>脉动阵列中的行数和列数可以相等，也可以不相等，在每行每列的计算单元之间通过横向或纵向的数据通路来实现数据的向右和向下滑动传递</a:t>
            </a:r>
            <a:endParaRPr lang="en-US" altLang="zh-CN" sz="16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B966EF90-71D0-4395-8038-C4598F7B9FD3}"/>
              </a:ext>
            </a:extLst>
          </p:cNvPr>
          <p:cNvPicPr>
            <a:picLocks noChangeAspect="1"/>
          </p:cNvPicPr>
          <p:nvPr/>
        </p:nvPicPr>
        <p:blipFill>
          <a:blip r:embed="rId3"/>
          <a:stretch>
            <a:fillRect/>
          </a:stretch>
        </p:blipFill>
        <p:spPr>
          <a:xfrm>
            <a:off x="611560" y="792088"/>
            <a:ext cx="4402924" cy="4011910"/>
          </a:xfrm>
          <a:prstGeom prst="rect">
            <a:avLst/>
          </a:prstGeom>
        </p:spPr>
      </p:pic>
    </p:spTree>
    <p:extLst>
      <p:ext uri="{BB962C8B-B14F-4D97-AF65-F5344CB8AC3E}">
        <p14:creationId xmlns:p14="http://schemas.microsoft.com/office/powerpoint/2010/main" val="33786236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Tensor Processing Unit:</a:t>
            </a:r>
            <a:r>
              <a:rPr lang="zh-CN" altLang="en-US" dirty="0"/>
              <a:t> </a:t>
            </a:r>
            <a:r>
              <a:rPr lang="en-US" altLang="zh-CN" dirty="0"/>
              <a:t>Systolic Dataflow</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BB94AA0F-8E3F-4EFE-AFBD-21A688D84057}"/>
              </a:ext>
            </a:extLst>
          </p:cNvPr>
          <p:cNvPicPr>
            <a:picLocks noChangeAspect="1"/>
          </p:cNvPicPr>
          <p:nvPr/>
        </p:nvPicPr>
        <p:blipFill>
          <a:blip r:embed="rId3"/>
          <a:stretch>
            <a:fillRect/>
          </a:stretch>
        </p:blipFill>
        <p:spPr>
          <a:xfrm>
            <a:off x="395536" y="1059582"/>
            <a:ext cx="3913917" cy="3588544"/>
          </a:xfrm>
          <a:prstGeom prst="rect">
            <a:avLst/>
          </a:prstGeom>
        </p:spPr>
      </p:pic>
      <p:pic>
        <p:nvPicPr>
          <p:cNvPr id="5" name="Picture 4">
            <a:extLst>
              <a:ext uri="{FF2B5EF4-FFF2-40B4-BE49-F238E27FC236}">
                <a16:creationId xmlns:a16="http://schemas.microsoft.com/office/drawing/2014/main" id="{2E4464EB-3779-4BCF-A61D-3A38DB7D2A41}"/>
              </a:ext>
            </a:extLst>
          </p:cNvPr>
          <p:cNvPicPr>
            <a:picLocks noChangeAspect="1"/>
          </p:cNvPicPr>
          <p:nvPr/>
        </p:nvPicPr>
        <p:blipFill>
          <a:blip r:embed="rId4"/>
          <a:stretch>
            <a:fillRect/>
          </a:stretch>
        </p:blipFill>
        <p:spPr>
          <a:xfrm>
            <a:off x="4826140" y="1100658"/>
            <a:ext cx="4146559" cy="3703340"/>
          </a:xfrm>
          <a:prstGeom prst="rect">
            <a:avLst/>
          </a:prstGeom>
        </p:spPr>
      </p:pic>
    </p:spTree>
    <p:extLst>
      <p:ext uri="{BB962C8B-B14F-4D97-AF65-F5344CB8AC3E}">
        <p14:creationId xmlns:p14="http://schemas.microsoft.com/office/powerpoint/2010/main" val="1722843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Tensor Processing Unit:</a:t>
            </a:r>
            <a:r>
              <a:rPr lang="zh-CN" altLang="en-US" dirty="0"/>
              <a:t> </a:t>
            </a:r>
            <a:r>
              <a:rPr lang="en-US" altLang="zh-CN" dirty="0"/>
              <a:t>Systolic Dataflow</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2D34789E-0343-4956-914E-9229793E789D}"/>
              </a:ext>
            </a:extLst>
          </p:cNvPr>
          <p:cNvPicPr>
            <a:picLocks noChangeAspect="1"/>
          </p:cNvPicPr>
          <p:nvPr/>
        </p:nvPicPr>
        <p:blipFill>
          <a:blip r:embed="rId3"/>
          <a:stretch>
            <a:fillRect/>
          </a:stretch>
        </p:blipFill>
        <p:spPr>
          <a:xfrm>
            <a:off x="293812" y="1126182"/>
            <a:ext cx="3881404" cy="3435846"/>
          </a:xfrm>
          <a:prstGeom prst="rect">
            <a:avLst/>
          </a:prstGeom>
        </p:spPr>
      </p:pic>
      <p:pic>
        <p:nvPicPr>
          <p:cNvPr id="7" name="Picture 6">
            <a:extLst>
              <a:ext uri="{FF2B5EF4-FFF2-40B4-BE49-F238E27FC236}">
                <a16:creationId xmlns:a16="http://schemas.microsoft.com/office/drawing/2014/main" id="{127FF092-D898-417E-995D-C2B1118A96F2}"/>
              </a:ext>
            </a:extLst>
          </p:cNvPr>
          <p:cNvPicPr>
            <a:picLocks noChangeAspect="1"/>
          </p:cNvPicPr>
          <p:nvPr/>
        </p:nvPicPr>
        <p:blipFill>
          <a:blip r:embed="rId4"/>
          <a:stretch>
            <a:fillRect/>
          </a:stretch>
        </p:blipFill>
        <p:spPr>
          <a:xfrm>
            <a:off x="4666767" y="1115144"/>
            <a:ext cx="4041861" cy="3646462"/>
          </a:xfrm>
          <a:prstGeom prst="rect">
            <a:avLst/>
          </a:prstGeom>
        </p:spPr>
      </p:pic>
    </p:spTree>
    <p:extLst>
      <p:ext uri="{BB962C8B-B14F-4D97-AF65-F5344CB8AC3E}">
        <p14:creationId xmlns:p14="http://schemas.microsoft.com/office/powerpoint/2010/main" val="42630768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Tensor Processing Unit:</a:t>
            </a:r>
            <a:r>
              <a:rPr lang="zh-CN" altLang="en-US" dirty="0"/>
              <a:t> </a:t>
            </a:r>
            <a:r>
              <a:rPr lang="en-US" altLang="zh-CN" dirty="0"/>
              <a:t>Systolic Dataflow</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8" name="文本框 4">
            <a:extLst>
              <a:ext uri="{FF2B5EF4-FFF2-40B4-BE49-F238E27FC236}">
                <a16:creationId xmlns:a16="http://schemas.microsoft.com/office/drawing/2014/main" id="{D38495CF-5F30-4C28-A9FD-1354DBB2FB60}"/>
              </a:ext>
            </a:extLst>
          </p:cNvPr>
          <p:cNvSpPr txBox="1"/>
          <p:nvPr/>
        </p:nvSpPr>
        <p:spPr>
          <a:xfrm>
            <a:off x="649448" y="1235621"/>
            <a:ext cx="7845103" cy="2456313"/>
          </a:xfrm>
          <a:prstGeom prst="rect">
            <a:avLst/>
          </a:prstGeom>
          <a:noFill/>
        </p:spPr>
        <p:txBody>
          <a:bodyPr wrap="square" rtlCol="0">
            <a:spAutoFit/>
          </a:bodyPr>
          <a:lstStyle/>
          <a:p>
            <a:pPr marL="285750" indent="-285750">
              <a:lnSpc>
                <a:spcPct val="200000"/>
              </a:lnSpc>
              <a:buSzPct val="140000"/>
              <a:buFont typeface="Arial" panose="020B0604020202020204" pitchFamily="34" charset="0"/>
              <a:buChar char="•"/>
            </a:pPr>
            <a:r>
              <a:rPr lang="zh-CN" altLang="en-US" sz="2000" dirty="0">
                <a:solidFill>
                  <a:srgbClr val="FF0000"/>
                </a:solidFill>
                <a:latin typeface="Arial" panose="020B0604020202020204" pitchFamily="34" charset="0"/>
                <a:cs typeface="Arial" panose="020B0604020202020204" pitchFamily="34" charset="0"/>
              </a:rPr>
              <a:t>固定卷积核权重，横向脉动输入特征值</a:t>
            </a:r>
            <a:r>
              <a:rPr lang="en-US" altLang="zh-CN" sz="2000" dirty="0">
                <a:latin typeface="Arial" panose="020B0604020202020204" pitchFamily="34" charset="0"/>
                <a:cs typeface="Arial" panose="020B0604020202020204" pitchFamily="34" charset="0"/>
              </a:rPr>
              <a:t>,</a:t>
            </a:r>
            <a:r>
              <a:rPr lang="zh-CN" altLang="en-US" sz="2000" dirty="0">
                <a:latin typeface="Arial" panose="020B0604020202020204" pitchFamily="34" charset="0"/>
                <a:cs typeface="Arial" panose="020B0604020202020204" pitchFamily="34" charset="0"/>
              </a:rPr>
              <a:t>纵向脉动部分和的方式</a:t>
            </a:r>
            <a:endParaRPr lang="en-US" altLang="zh-CN" sz="2000" dirty="0">
              <a:latin typeface="Arial" panose="020B0604020202020204" pitchFamily="34" charset="0"/>
              <a:cs typeface="Arial" panose="020B0604020202020204" pitchFamily="34" charset="0"/>
            </a:endParaRPr>
          </a:p>
          <a:p>
            <a:pPr marL="285750" indent="-285750">
              <a:lnSpc>
                <a:spcPct val="200000"/>
              </a:lnSpc>
              <a:buSzPct val="140000"/>
              <a:buFont typeface="Arial" panose="020B0604020202020204" pitchFamily="34" charset="0"/>
              <a:buChar char="•"/>
            </a:pPr>
            <a:r>
              <a:rPr lang="zh-CN" altLang="en-US" sz="2000" dirty="0">
                <a:solidFill>
                  <a:srgbClr val="FF0000"/>
                </a:solidFill>
                <a:latin typeface="Arial" panose="020B0604020202020204" pitchFamily="34" charset="0"/>
                <a:cs typeface="Arial" panose="020B0604020202020204" pitchFamily="34" charset="0"/>
              </a:rPr>
              <a:t>固定部分和，横向脉动输入特征值，纵向脉动卷积核权重</a:t>
            </a:r>
            <a:r>
              <a:rPr lang="zh-CN" altLang="en-US" sz="2000" dirty="0">
                <a:latin typeface="Arial" panose="020B0604020202020204" pitchFamily="34" charset="0"/>
                <a:cs typeface="Arial" panose="020B0604020202020204" pitchFamily="34" charset="0"/>
              </a:rPr>
              <a:t>的方式</a:t>
            </a:r>
            <a:endParaRPr lang="en-US" altLang="zh-CN" sz="2000" dirty="0">
              <a:latin typeface="Arial" panose="020B0604020202020204" pitchFamily="34" charset="0"/>
              <a:cs typeface="Arial" panose="020B0604020202020204" pitchFamily="34" charset="0"/>
            </a:endParaRPr>
          </a:p>
          <a:p>
            <a:pPr marL="285750" indent="-285750">
              <a:lnSpc>
                <a:spcPct val="200000"/>
              </a:lnSpc>
              <a:buSzPct val="140000"/>
              <a:buFont typeface="Arial" panose="020B0604020202020204" pitchFamily="34" charset="0"/>
              <a:buChar char="•"/>
            </a:pPr>
            <a:r>
              <a:rPr lang="zh-CN" altLang="en-US" sz="2000" dirty="0">
                <a:latin typeface="Arial" panose="020B0604020202020204" pitchFamily="34" charset="0"/>
                <a:cs typeface="Arial" panose="020B0604020202020204" pitchFamily="34" charset="0"/>
              </a:rPr>
              <a:t>当计算的卷积核过大或者通道太多时，怎么处理？</a:t>
            </a:r>
            <a:endParaRPr lang="en-US" altLang="zh-CN" sz="2000" dirty="0">
              <a:latin typeface="Arial" panose="020B0604020202020204" pitchFamily="34" charset="0"/>
              <a:cs typeface="Arial" panose="020B0604020202020204" pitchFamily="34" charset="0"/>
            </a:endParaRPr>
          </a:p>
          <a:p>
            <a:pPr marL="285750" indent="-285750">
              <a:lnSpc>
                <a:spcPct val="200000"/>
              </a:lnSpc>
              <a:buSzPct val="140000"/>
              <a:buFont typeface="Arial" panose="020B0604020202020204" pitchFamily="34" charset="0"/>
              <a:buChar char="•"/>
            </a:pPr>
            <a:r>
              <a:rPr lang="zh-CN" altLang="en-US" sz="2000" dirty="0">
                <a:latin typeface="Arial" panose="020B0604020202020204" pitchFamily="34" charset="0"/>
                <a:cs typeface="Arial" panose="020B0604020202020204" pitchFamily="34" charset="0"/>
              </a:rPr>
              <a:t>分割计算、末端累加的方式</a:t>
            </a:r>
          </a:p>
        </p:txBody>
      </p:sp>
    </p:spTree>
    <p:extLst>
      <p:ext uri="{BB962C8B-B14F-4D97-AF65-F5344CB8AC3E}">
        <p14:creationId xmlns:p14="http://schemas.microsoft.com/office/powerpoint/2010/main" val="16249611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Outlines</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90177148-93FD-4063-8E2C-0BD308B697F6}"/>
              </a:ext>
            </a:extLst>
          </p:cNvPr>
          <p:cNvSpPr txBox="1"/>
          <p:nvPr/>
        </p:nvSpPr>
        <p:spPr>
          <a:xfrm>
            <a:off x="622176" y="884470"/>
            <a:ext cx="8054280" cy="3372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PE design and weight reuse</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Inefficiency in CPU</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optimization</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Instruction decoding</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Datapath</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Memory system</a:t>
            </a:r>
          </a:p>
          <a:p>
            <a:pPr marL="342900"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CASE study</a:t>
            </a:r>
          </a:p>
          <a:p>
            <a:pPr marL="800100" lvl="1"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Google TPU</a:t>
            </a:r>
          </a:p>
          <a:p>
            <a:pPr marL="800100" lvl="1" indent="-342900">
              <a:lnSpc>
                <a:spcPct val="150000"/>
              </a:lnSpc>
              <a:buFont typeface="Wingdings" panose="05000000000000000000" pitchFamily="2" charset="2"/>
              <a:buChar char="Ø"/>
            </a:pPr>
            <a:r>
              <a:rPr lang="en-US" altLang="zh-CN" sz="1600" b="1" dirty="0">
                <a:solidFill>
                  <a:srgbClr val="FF0000"/>
                </a:solidFill>
                <a:latin typeface="微软雅黑" panose="020B0503020204020204" pitchFamily="34" charset="-122"/>
                <a:ea typeface="微软雅黑" panose="020B0503020204020204" pitchFamily="34" charset="-122"/>
              </a:rPr>
              <a:t>Huawei Atlas (</a:t>
            </a:r>
            <a:r>
              <a:rPr lang="zh-CN" altLang="en-US" sz="1600" b="1" dirty="0">
                <a:solidFill>
                  <a:srgbClr val="FF0000"/>
                </a:solidFill>
                <a:latin typeface="微软雅黑" panose="020B0503020204020204" pitchFamily="34" charset="-122"/>
                <a:ea typeface="微软雅黑" panose="020B0503020204020204" pitchFamily="34" charset="-122"/>
              </a:rPr>
              <a:t>昇腾</a:t>
            </a:r>
            <a:r>
              <a:rPr lang="en-US" altLang="zh-CN" sz="1600" b="1" dirty="0">
                <a:solidFill>
                  <a:srgbClr val="FF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0189589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H</a:t>
            </a:r>
            <a:r>
              <a:rPr lang="en-US" altLang="zh-CN" dirty="0"/>
              <a:t>uawei Atlas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0353C6A2-0BDA-407D-8156-B03DF17F48EA}"/>
              </a:ext>
            </a:extLst>
          </p:cNvPr>
          <p:cNvPicPr>
            <a:picLocks noChangeAspect="1"/>
          </p:cNvPicPr>
          <p:nvPr/>
        </p:nvPicPr>
        <p:blipFill>
          <a:blip r:embed="rId3"/>
          <a:stretch>
            <a:fillRect/>
          </a:stretch>
        </p:blipFill>
        <p:spPr>
          <a:xfrm>
            <a:off x="35496" y="1563638"/>
            <a:ext cx="5255308" cy="2372097"/>
          </a:xfrm>
          <a:prstGeom prst="rect">
            <a:avLst/>
          </a:prstGeom>
        </p:spPr>
      </p:pic>
      <p:sp>
        <p:nvSpPr>
          <p:cNvPr id="7" name="文本框 4">
            <a:extLst>
              <a:ext uri="{FF2B5EF4-FFF2-40B4-BE49-F238E27FC236}">
                <a16:creationId xmlns:a16="http://schemas.microsoft.com/office/drawing/2014/main" id="{7A42F74D-9FBE-4492-8F1B-FD5BE92F52DF}"/>
              </a:ext>
            </a:extLst>
          </p:cNvPr>
          <p:cNvSpPr txBox="1"/>
          <p:nvPr/>
        </p:nvSpPr>
        <p:spPr>
          <a:xfrm>
            <a:off x="5652120" y="1472413"/>
            <a:ext cx="3384376" cy="2554545"/>
          </a:xfrm>
          <a:prstGeom prst="rect">
            <a:avLst/>
          </a:prstGeom>
          <a:noFill/>
        </p:spPr>
        <p:txBody>
          <a:bodyPr wrap="square" rtlCol="0">
            <a:spAutoFit/>
          </a:bodyPr>
          <a:lstStyle/>
          <a:p>
            <a:pPr>
              <a:buSzPct val="140000"/>
            </a:pPr>
            <a:r>
              <a:rPr lang="zh-CN" altLang="en-US" sz="1600" dirty="0">
                <a:latin typeface="Arial" panose="020B0604020202020204" pitchFamily="34" charset="0"/>
                <a:cs typeface="Arial" panose="020B0604020202020204" pitchFamily="34" charset="0"/>
              </a:rPr>
              <a:t>本质上是一个片上系统</a:t>
            </a:r>
            <a:r>
              <a:rPr lang="en-US" altLang="zh-CN" sz="1600" dirty="0">
                <a:latin typeface="Arial" panose="020B0604020202020204" pitchFamily="34" charset="0"/>
                <a:cs typeface="Arial" panose="020B0604020202020204" pitchFamily="34" charset="0"/>
              </a:rPr>
              <a:t>SoC</a:t>
            </a:r>
            <a:r>
              <a:rPr lang="zh-CN" altLang="en-US" sz="1600" dirty="0">
                <a:latin typeface="Arial" panose="020B0604020202020204" pitchFamily="34" charset="0"/>
                <a:cs typeface="Arial" panose="020B0604020202020204" pitchFamily="34" charset="0"/>
              </a:rPr>
              <a:t>，基于</a:t>
            </a:r>
            <a:r>
              <a:rPr lang="en-US" altLang="zh-CN" sz="1600" dirty="0">
                <a:latin typeface="Arial" panose="020B0604020202020204" pitchFamily="34" charset="0"/>
                <a:cs typeface="Arial" panose="020B0604020202020204" pitchFamily="34" charset="0"/>
              </a:rPr>
              <a:t>PCIe</a:t>
            </a:r>
            <a:r>
              <a:rPr lang="zh-CN" altLang="en-US" sz="1600" dirty="0">
                <a:latin typeface="Arial" panose="020B0604020202020204" pitchFamily="34" charset="0"/>
                <a:cs typeface="Arial" panose="020B0604020202020204" pitchFamily="34" charset="0"/>
              </a:rPr>
              <a:t>总线接口实现互联。</a:t>
            </a:r>
            <a:endParaRPr lang="en-US" altLang="zh-CN" sz="1600" dirty="0">
              <a:latin typeface="Arial" panose="020B0604020202020204" pitchFamily="34" charset="0"/>
              <a:cs typeface="Arial" panose="020B0604020202020204" pitchFamily="34" charset="0"/>
            </a:endParaRPr>
          </a:p>
          <a:p>
            <a:pPr>
              <a:buSzPct val="140000"/>
            </a:pPr>
            <a:endParaRPr lang="en-US" altLang="zh-CN" sz="1600" dirty="0">
              <a:latin typeface="Arial" panose="020B0604020202020204" pitchFamily="34" charset="0"/>
              <a:cs typeface="Arial" panose="020B0604020202020204" pitchFamily="34" charset="0"/>
            </a:endParaRPr>
          </a:p>
          <a:p>
            <a:pPr>
              <a:buSzPct val="140000"/>
            </a:pPr>
            <a:r>
              <a:rPr lang="en-US" altLang="zh-CN" sz="1600" dirty="0">
                <a:solidFill>
                  <a:srgbClr val="FF0000"/>
                </a:solidFill>
                <a:latin typeface="Arial" panose="020B0604020202020204" pitchFamily="34" charset="0"/>
                <a:cs typeface="Arial" panose="020B0604020202020204" pitchFamily="34" charset="0"/>
              </a:rPr>
              <a:t>AI Core</a:t>
            </a:r>
            <a:r>
              <a:rPr lang="en-US" altLang="zh-CN" sz="1600" dirty="0">
                <a:latin typeface="Arial" panose="020B0604020202020204" pitchFamily="34" charset="0"/>
                <a:cs typeface="Arial" panose="020B0604020202020204" pitchFamily="34" charset="0"/>
              </a:rPr>
              <a:t>: </a:t>
            </a:r>
            <a:r>
              <a:rPr lang="zh-CN" altLang="en-US" sz="1600" dirty="0">
                <a:latin typeface="Arial" panose="020B0604020202020204" pitchFamily="34" charset="0"/>
                <a:cs typeface="Arial" panose="020B0604020202020204" pitchFamily="34" charset="0"/>
              </a:rPr>
              <a:t>达芬奇架构矩阵乘、神经网络计算优化核心。</a:t>
            </a:r>
            <a:endParaRPr lang="en-US" altLang="zh-CN" sz="1600" dirty="0">
              <a:latin typeface="Arial" panose="020B0604020202020204" pitchFamily="34" charset="0"/>
              <a:cs typeface="Arial" panose="020B0604020202020204" pitchFamily="34" charset="0"/>
            </a:endParaRPr>
          </a:p>
          <a:p>
            <a:pPr>
              <a:buSzPct val="140000"/>
            </a:pPr>
            <a:endParaRPr lang="en-US" altLang="zh-CN" sz="1600" dirty="0">
              <a:latin typeface="Arial" panose="020B0604020202020204" pitchFamily="34" charset="0"/>
              <a:cs typeface="Arial" panose="020B0604020202020204" pitchFamily="34" charset="0"/>
            </a:endParaRPr>
          </a:p>
          <a:p>
            <a:pPr>
              <a:buSzPct val="140000"/>
            </a:pPr>
            <a:r>
              <a:rPr lang="en-US" altLang="zh-CN" sz="1600" dirty="0">
                <a:latin typeface="Arial" panose="020B0604020202020204" pitchFamily="34" charset="0"/>
                <a:cs typeface="Arial" panose="020B0604020202020204" pitchFamily="34" charset="0"/>
              </a:rPr>
              <a:t>AI CPU: </a:t>
            </a:r>
            <a:r>
              <a:rPr lang="zh-CN" altLang="en-US" sz="1600" dirty="0">
                <a:latin typeface="Arial" panose="020B0604020202020204" pitchFamily="34" charset="0"/>
                <a:cs typeface="Arial" panose="020B0604020202020204" pitchFamily="34" charset="0"/>
              </a:rPr>
              <a:t>专用于承担非矩阵类复杂计算。</a:t>
            </a:r>
            <a:endParaRPr lang="en-US" altLang="zh-CN" sz="1600" dirty="0">
              <a:latin typeface="Arial" panose="020B0604020202020204" pitchFamily="34" charset="0"/>
              <a:cs typeface="Arial" panose="020B0604020202020204" pitchFamily="34" charset="0"/>
            </a:endParaRPr>
          </a:p>
          <a:p>
            <a:pPr>
              <a:buSzPct val="140000"/>
            </a:pPr>
            <a:r>
              <a:rPr lang="zh-CN" altLang="en-US" sz="1600" dirty="0">
                <a:latin typeface="Arial" panose="020B0604020202020204" pitchFamily="34" charset="0"/>
                <a:cs typeface="Arial" panose="020B0604020202020204" pitchFamily="34" charset="0"/>
              </a:rPr>
              <a:t>控制</a:t>
            </a:r>
            <a:r>
              <a:rPr lang="en-US" altLang="zh-CN" sz="1600" dirty="0">
                <a:latin typeface="Arial" panose="020B0604020202020204" pitchFamily="34" charset="0"/>
                <a:cs typeface="Arial" panose="020B0604020202020204" pitchFamily="34" charset="0"/>
              </a:rPr>
              <a:t>CPU</a:t>
            </a:r>
            <a:r>
              <a:rPr lang="zh-CN" altLang="en-US" sz="1600" dirty="0">
                <a:latin typeface="Arial" panose="020B0604020202020204" pitchFamily="34" charset="0"/>
                <a:cs typeface="Arial" panose="020B0604020202020204" pitchFamily="34" charset="0"/>
              </a:rPr>
              <a:t>：处理器整体控制。</a:t>
            </a:r>
            <a:endParaRPr lang="en-US" altLang="zh-CN" sz="1600" dirty="0">
              <a:latin typeface="Arial" panose="020B0604020202020204" pitchFamily="34" charset="0"/>
              <a:cs typeface="Arial" panose="020B0604020202020204" pitchFamily="34" charset="0"/>
            </a:endParaRPr>
          </a:p>
          <a:p>
            <a:pPr>
              <a:buSzPct val="140000"/>
            </a:pPr>
            <a:r>
              <a:rPr lang="zh-CN" altLang="en-US" sz="1600" dirty="0">
                <a:latin typeface="Arial" panose="020B0604020202020204" pitchFamily="34" charset="0"/>
                <a:cs typeface="Arial" panose="020B0604020202020204" pitchFamily="34" charset="0"/>
              </a:rPr>
              <a:t>二者核心数可以动态控制。</a:t>
            </a:r>
            <a:endParaRPr lang="en-US" altLang="zh-C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74235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altLang="zh-CN" dirty="0"/>
              <a:t>AI Core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7" name="文本框 4">
            <a:extLst>
              <a:ext uri="{FF2B5EF4-FFF2-40B4-BE49-F238E27FC236}">
                <a16:creationId xmlns:a16="http://schemas.microsoft.com/office/drawing/2014/main" id="{7A42F74D-9FBE-4492-8F1B-FD5BE92F52DF}"/>
              </a:ext>
            </a:extLst>
          </p:cNvPr>
          <p:cNvSpPr txBox="1"/>
          <p:nvPr/>
        </p:nvSpPr>
        <p:spPr>
          <a:xfrm>
            <a:off x="5652120" y="1472413"/>
            <a:ext cx="3384376" cy="2308324"/>
          </a:xfrm>
          <a:prstGeom prst="rect">
            <a:avLst/>
          </a:prstGeom>
          <a:noFill/>
        </p:spPr>
        <p:txBody>
          <a:bodyPr wrap="square" rtlCol="0">
            <a:spAutoFit/>
          </a:bodyPr>
          <a:lstStyle/>
          <a:p>
            <a:pPr>
              <a:buSzPct val="140000"/>
            </a:pPr>
            <a:r>
              <a:rPr lang="zh-CN" altLang="en-US" sz="1600" dirty="0">
                <a:latin typeface="Arial" panose="020B0604020202020204" pitchFamily="34" charset="0"/>
                <a:cs typeface="Arial" panose="020B0604020202020204" pitchFamily="34" charset="0"/>
              </a:rPr>
              <a:t>三种计算资源：矩阵计算单元，向量计算单元，标量计算单元，三条独立流水线设计，对应三个指令发射序列。</a:t>
            </a:r>
            <a:endParaRPr lang="en-US" altLang="zh-CN" sz="1600" dirty="0">
              <a:latin typeface="Arial" panose="020B0604020202020204" pitchFamily="34" charset="0"/>
              <a:cs typeface="Arial" panose="020B0604020202020204" pitchFamily="34" charset="0"/>
            </a:endParaRPr>
          </a:p>
          <a:p>
            <a:pPr>
              <a:buSzPct val="140000"/>
            </a:pPr>
            <a:endParaRPr lang="en-US" altLang="zh-CN" sz="1600" dirty="0">
              <a:latin typeface="Arial" panose="020B0604020202020204" pitchFamily="34" charset="0"/>
              <a:cs typeface="Arial" panose="020B0604020202020204" pitchFamily="34" charset="0"/>
            </a:endParaRPr>
          </a:p>
          <a:p>
            <a:pPr>
              <a:buSzPct val="140000"/>
            </a:pPr>
            <a:r>
              <a:rPr lang="zh-CN" altLang="en-US" sz="1600" dirty="0">
                <a:solidFill>
                  <a:srgbClr val="FF0000"/>
                </a:solidFill>
                <a:latin typeface="Arial" panose="020B0604020202020204" pitchFamily="34" charset="0"/>
                <a:cs typeface="Arial" panose="020B0604020202020204" pitchFamily="34" charset="0"/>
              </a:rPr>
              <a:t>存储转换单元</a:t>
            </a:r>
            <a:r>
              <a:rPr lang="zh-CN" altLang="en-US" sz="1600" dirty="0">
                <a:latin typeface="Arial" panose="020B0604020202020204" pitchFamily="34" charset="0"/>
                <a:cs typeface="Arial" panose="020B0604020202020204" pitchFamily="34" charset="0"/>
              </a:rPr>
              <a:t>：硬件完成</a:t>
            </a:r>
            <a:r>
              <a:rPr lang="en-US" altLang="zh-CN" sz="1600" dirty="0">
                <a:latin typeface="Arial" panose="020B0604020202020204" pitchFamily="34" charset="0"/>
                <a:cs typeface="Arial" panose="020B0604020202020204" pitchFamily="34" charset="0"/>
              </a:rPr>
              <a:t>Img2Col</a:t>
            </a:r>
            <a:r>
              <a:rPr lang="zh-CN" altLang="en-US" sz="1600" dirty="0">
                <a:latin typeface="Arial" panose="020B0604020202020204" pitchFamily="34" charset="0"/>
                <a:cs typeface="Arial" panose="020B0604020202020204" pitchFamily="34" charset="0"/>
              </a:rPr>
              <a:t>将输入网络和特征值重排进行输入。对比</a:t>
            </a:r>
            <a:r>
              <a:rPr lang="en-US" altLang="zh-CN" sz="1600" dirty="0">
                <a:latin typeface="Arial" panose="020B0604020202020204" pitchFamily="34" charset="0"/>
                <a:cs typeface="Arial" panose="020B0604020202020204" pitchFamily="34" charset="0"/>
              </a:rPr>
              <a:t>GPU</a:t>
            </a:r>
            <a:r>
              <a:rPr lang="zh-CN" altLang="en-US" sz="1600" dirty="0">
                <a:latin typeface="Arial" panose="020B0604020202020204" pitchFamily="34" charset="0"/>
                <a:cs typeface="Arial" panose="020B0604020202020204" pitchFamily="34" charset="0"/>
              </a:rPr>
              <a:t>使用软件实现效率更高。</a:t>
            </a:r>
            <a:endParaRPr lang="en-US" altLang="zh-CN" sz="1600" dirty="0">
              <a:latin typeface="Arial" panose="020B0604020202020204" pitchFamily="34" charset="0"/>
              <a:cs typeface="Arial" panose="020B0604020202020204" pitchFamily="34" charset="0"/>
            </a:endParaRPr>
          </a:p>
          <a:p>
            <a:pPr>
              <a:buSzPct val="140000"/>
            </a:pPr>
            <a:endParaRPr lang="en-US" altLang="zh-CN"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419F66C-8DA7-48F6-BF35-84A0E3AA5B02}"/>
              </a:ext>
            </a:extLst>
          </p:cNvPr>
          <p:cNvPicPr>
            <a:picLocks noChangeAspect="1"/>
          </p:cNvPicPr>
          <p:nvPr/>
        </p:nvPicPr>
        <p:blipFill>
          <a:blip r:embed="rId3"/>
          <a:stretch>
            <a:fillRect/>
          </a:stretch>
        </p:blipFill>
        <p:spPr>
          <a:xfrm>
            <a:off x="107504" y="1189831"/>
            <a:ext cx="5549267" cy="3507854"/>
          </a:xfrm>
          <a:prstGeom prst="rect">
            <a:avLst/>
          </a:prstGeom>
        </p:spPr>
      </p:pic>
    </p:spTree>
    <p:extLst>
      <p:ext uri="{BB962C8B-B14F-4D97-AF65-F5344CB8AC3E}">
        <p14:creationId xmlns:p14="http://schemas.microsoft.com/office/powerpoint/2010/main" val="11911335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zh-CN" altLang="en-US" dirty="0"/>
              <a:t>矩阵计算单元</a:t>
            </a:r>
            <a:r>
              <a:rPr lang="en-US" altLang="zh-CN" dirty="0"/>
              <a:t>	</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7" name="文本框 4">
            <a:extLst>
              <a:ext uri="{FF2B5EF4-FFF2-40B4-BE49-F238E27FC236}">
                <a16:creationId xmlns:a16="http://schemas.microsoft.com/office/drawing/2014/main" id="{7A42F74D-9FBE-4492-8F1B-FD5BE92F52DF}"/>
              </a:ext>
            </a:extLst>
          </p:cNvPr>
          <p:cNvSpPr txBox="1"/>
          <p:nvPr/>
        </p:nvSpPr>
        <p:spPr>
          <a:xfrm>
            <a:off x="6228184" y="1506551"/>
            <a:ext cx="2664296" cy="1569660"/>
          </a:xfrm>
          <a:prstGeom prst="rect">
            <a:avLst/>
          </a:prstGeom>
          <a:noFill/>
        </p:spPr>
        <p:txBody>
          <a:bodyPr wrap="square" rtlCol="0">
            <a:spAutoFit/>
          </a:bodyPr>
          <a:lstStyle/>
          <a:p>
            <a:pPr>
              <a:buSzPct val="140000"/>
            </a:pPr>
            <a:r>
              <a:rPr lang="zh-CN" altLang="en-US" sz="1600" dirty="0">
                <a:latin typeface="Arial" panose="020B0604020202020204" pitchFamily="34" charset="0"/>
                <a:cs typeface="Arial" panose="020B0604020202020204" pitchFamily="34" charset="0"/>
              </a:rPr>
              <a:t>采用</a:t>
            </a:r>
            <a:r>
              <a:rPr lang="en-US" altLang="zh-CN" sz="1600" dirty="0">
                <a:latin typeface="Arial" panose="020B0604020202020204" pitchFamily="34" charset="0"/>
                <a:cs typeface="Arial" panose="020B0604020202020204" pitchFamily="34" charset="0"/>
              </a:rPr>
              <a:t>Adder tree</a:t>
            </a:r>
            <a:r>
              <a:rPr lang="zh-CN" altLang="en-US" sz="1600" dirty="0">
                <a:latin typeface="Arial" panose="020B0604020202020204" pitchFamily="34" charset="0"/>
                <a:cs typeface="Arial" panose="020B0604020202020204" pitchFamily="34" charset="0"/>
              </a:rPr>
              <a:t>模式设计。</a:t>
            </a:r>
            <a:endParaRPr lang="en-US" altLang="zh-CN" sz="1600" dirty="0">
              <a:latin typeface="Arial" panose="020B0604020202020204" pitchFamily="34" charset="0"/>
              <a:cs typeface="Arial" panose="020B0604020202020204" pitchFamily="34" charset="0"/>
            </a:endParaRPr>
          </a:p>
          <a:p>
            <a:pPr>
              <a:buSzPct val="140000"/>
            </a:pPr>
            <a:r>
              <a:rPr lang="zh-CN" altLang="en-US" sz="1600" dirty="0">
                <a:latin typeface="Arial" panose="020B0604020202020204" pitchFamily="34" charset="0"/>
                <a:cs typeface="Arial" panose="020B0604020202020204" pitchFamily="34" charset="0"/>
              </a:rPr>
              <a:t>矩阵</a:t>
            </a:r>
            <a:r>
              <a:rPr lang="en-US" altLang="zh-CN" sz="1600" dirty="0">
                <a:latin typeface="Arial" panose="020B0604020202020204" pitchFamily="34" charset="0"/>
                <a:cs typeface="Arial" panose="020B0604020202020204" pitchFamily="34" charset="0"/>
              </a:rPr>
              <a:t>A</a:t>
            </a:r>
            <a:r>
              <a:rPr lang="zh-CN" altLang="en-US" sz="1600" dirty="0">
                <a:latin typeface="Arial" panose="020B0604020202020204" pitchFamily="34" charset="0"/>
                <a:cs typeface="Arial" panose="020B0604020202020204" pitchFamily="34" charset="0"/>
              </a:rPr>
              <a:t>：以行为顺序存储。</a:t>
            </a:r>
            <a:endParaRPr lang="en-US" altLang="zh-CN" sz="1600" dirty="0">
              <a:latin typeface="Arial" panose="020B0604020202020204" pitchFamily="34" charset="0"/>
              <a:cs typeface="Arial" panose="020B0604020202020204" pitchFamily="34" charset="0"/>
            </a:endParaRPr>
          </a:p>
          <a:p>
            <a:pPr>
              <a:buSzPct val="140000"/>
            </a:pPr>
            <a:r>
              <a:rPr lang="zh-CN" altLang="en-US" sz="1600" dirty="0">
                <a:latin typeface="Arial" panose="020B0604020202020204" pitchFamily="34" charset="0"/>
                <a:cs typeface="Arial" panose="020B0604020202020204" pitchFamily="34" charset="0"/>
              </a:rPr>
              <a:t>矩阵</a:t>
            </a:r>
            <a:r>
              <a:rPr lang="en-US" altLang="zh-CN" sz="1600" dirty="0">
                <a:latin typeface="Arial" panose="020B0604020202020204" pitchFamily="34" charset="0"/>
                <a:cs typeface="Arial" panose="020B0604020202020204" pitchFamily="34" charset="0"/>
              </a:rPr>
              <a:t>B</a:t>
            </a:r>
            <a:r>
              <a:rPr lang="zh-CN" altLang="en-US" sz="1600" dirty="0">
                <a:latin typeface="Arial" panose="020B0604020202020204" pitchFamily="34" charset="0"/>
                <a:cs typeface="Arial" panose="020B0604020202020204" pitchFamily="34" charset="0"/>
              </a:rPr>
              <a:t>：以列为顺序存储。</a:t>
            </a:r>
            <a:endParaRPr lang="en-US" altLang="zh-CN" sz="1600" dirty="0">
              <a:latin typeface="Arial" panose="020B0604020202020204" pitchFamily="34" charset="0"/>
              <a:cs typeface="Arial" panose="020B0604020202020204" pitchFamily="34" charset="0"/>
            </a:endParaRPr>
          </a:p>
          <a:p>
            <a:pPr>
              <a:buSzPct val="140000"/>
            </a:pPr>
            <a:endParaRPr lang="en-US" altLang="zh-CN" sz="1600" dirty="0">
              <a:latin typeface="Arial" panose="020B0604020202020204" pitchFamily="34" charset="0"/>
              <a:cs typeface="Arial" panose="020B0604020202020204" pitchFamily="34" charset="0"/>
            </a:endParaRPr>
          </a:p>
          <a:p>
            <a:pPr>
              <a:buSzPct val="140000"/>
            </a:pPr>
            <a:r>
              <a:rPr lang="zh-CN" altLang="en-US" sz="1600" dirty="0">
                <a:latin typeface="Arial" panose="020B0604020202020204" pitchFamily="34" charset="0"/>
                <a:cs typeface="Arial" panose="020B0604020202020204" pitchFamily="34" charset="0"/>
              </a:rPr>
              <a:t>一个周期执行</a:t>
            </a:r>
            <a:r>
              <a:rPr lang="en-US" altLang="zh-CN" sz="1600" dirty="0">
                <a:latin typeface="Arial" panose="020B0604020202020204" pitchFamily="34" charset="0"/>
                <a:cs typeface="Arial" panose="020B0604020202020204" pitchFamily="34" charset="0"/>
              </a:rPr>
              <a:t>16x16</a:t>
            </a:r>
            <a:r>
              <a:rPr lang="zh-CN" altLang="en-US" sz="1600" dirty="0">
                <a:latin typeface="Arial" panose="020B0604020202020204" pitchFamily="34" charset="0"/>
                <a:cs typeface="Arial" panose="020B0604020202020204" pitchFamily="34" charset="0"/>
              </a:rPr>
              <a:t>次乘法计算出一个值并存储。</a:t>
            </a:r>
            <a:endParaRPr lang="en-US" altLang="zh-CN" sz="16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5FEEB04-64DF-486D-9B67-F1F87DCAA45A}"/>
              </a:ext>
            </a:extLst>
          </p:cNvPr>
          <p:cNvPicPr>
            <a:picLocks noChangeAspect="1"/>
          </p:cNvPicPr>
          <p:nvPr/>
        </p:nvPicPr>
        <p:blipFill>
          <a:blip r:embed="rId3"/>
          <a:stretch>
            <a:fillRect/>
          </a:stretch>
        </p:blipFill>
        <p:spPr>
          <a:xfrm>
            <a:off x="179512" y="1347614"/>
            <a:ext cx="5752321" cy="3384376"/>
          </a:xfrm>
          <a:prstGeom prst="rect">
            <a:avLst/>
          </a:prstGeom>
        </p:spPr>
      </p:pic>
    </p:spTree>
    <p:extLst>
      <p:ext uri="{BB962C8B-B14F-4D97-AF65-F5344CB8AC3E}">
        <p14:creationId xmlns:p14="http://schemas.microsoft.com/office/powerpoint/2010/main" val="[student ID removed]"/>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zh-CN" altLang="en-US" dirty="0"/>
              <a:t>矩阵切块：大</a:t>
            </a:r>
            <a:r>
              <a:rPr lang="en-US" altLang="zh-CN" dirty="0"/>
              <a:t>Z</a:t>
            </a:r>
            <a:r>
              <a:rPr lang="zh-CN" altLang="en-US" dirty="0"/>
              <a:t>小</a:t>
            </a:r>
            <a:r>
              <a:rPr lang="en-US" altLang="zh-CN" dirty="0"/>
              <a:t>N</a:t>
            </a:r>
            <a:r>
              <a:rPr lang="zh-CN" altLang="en-US" dirty="0"/>
              <a:t>排列方式</a:t>
            </a:r>
            <a:r>
              <a:rPr lang="en-US" altLang="zh-CN" dirty="0"/>
              <a:t>	</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7" name="文本框 4">
            <a:extLst>
              <a:ext uri="{FF2B5EF4-FFF2-40B4-BE49-F238E27FC236}">
                <a16:creationId xmlns:a16="http://schemas.microsoft.com/office/drawing/2014/main" id="{7A42F74D-9FBE-4492-8F1B-FD5BE92F52DF}"/>
              </a:ext>
            </a:extLst>
          </p:cNvPr>
          <p:cNvSpPr txBox="1"/>
          <p:nvPr/>
        </p:nvSpPr>
        <p:spPr>
          <a:xfrm>
            <a:off x="5508104" y="1506551"/>
            <a:ext cx="3384376" cy="3293209"/>
          </a:xfrm>
          <a:prstGeom prst="rect">
            <a:avLst/>
          </a:prstGeom>
          <a:noFill/>
        </p:spPr>
        <p:txBody>
          <a:bodyPr wrap="square" rtlCol="0">
            <a:spAutoFit/>
          </a:bodyPr>
          <a:lstStyle/>
          <a:p>
            <a:pPr>
              <a:buSzPct val="140000"/>
            </a:pPr>
            <a:r>
              <a:rPr lang="zh-CN" altLang="en-US" sz="1600" dirty="0">
                <a:latin typeface="Arial" panose="020B0604020202020204" pitchFamily="34" charset="0"/>
                <a:cs typeface="Arial" panose="020B0604020202020204" pitchFamily="34" charset="0"/>
              </a:rPr>
              <a:t>矩阵规模大于</a:t>
            </a:r>
            <a:r>
              <a:rPr lang="en-US" altLang="zh-CN" sz="1600" dirty="0">
                <a:latin typeface="Arial" panose="020B0604020202020204" pitchFamily="34" charset="0"/>
                <a:cs typeface="Arial" panose="020B0604020202020204" pitchFamily="34" charset="0"/>
              </a:rPr>
              <a:t>16x16</a:t>
            </a:r>
            <a:r>
              <a:rPr lang="zh-CN" altLang="en-US" sz="1600" dirty="0">
                <a:latin typeface="Arial" panose="020B0604020202020204" pitchFamily="34" charset="0"/>
                <a:cs typeface="Arial" panose="020B0604020202020204" pitchFamily="34" charset="0"/>
              </a:rPr>
              <a:t>时需要进行切块。</a:t>
            </a:r>
            <a:endParaRPr lang="en-US" altLang="zh-CN" sz="1600" dirty="0">
              <a:latin typeface="Arial" panose="020B0604020202020204" pitchFamily="34" charset="0"/>
              <a:cs typeface="Arial" panose="020B0604020202020204" pitchFamily="34" charset="0"/>
            </a:endParaRPr>
          </a:p>
          <a:p>
            <a:pPr>
              <a:buSzPct val="140000"/>
            </a:pPr>
            <a:endParaRPr lang="en-US" altLang="zh-CN" sz="1600" dirty="0">
              <a:latin typeface="Arial" panose="020B0604020202020204" pitchFamily="34" charset="0"/>
              <a:cs typeface="Arial" panose="020B0604020202020204" pitchFamily="34" charset="0"/>
            </a:endParaRPr>
          </a:p>
          <a:p>
            <a:pPr>
              <a:buSzPct val="140000"/>
            </a:pPr>
            <a:r>
              <a:rPr lang="en-US" altLang="zh-CN" sz="1600" dirty="0">
                <a:latin typeface="Arial" panose="020B0604020202020204" pitchFamily="34" charset="0"/>
                <a:cs typeface="Arial" panose="020B0604020202020204" pitchFamily="34" charset="0"/>
              </a:rPr>
              <a:t>C1</a:t>
            </a:r>
            <a:r>
              <a:rPr lang="zh-CN" altLang="en-US" sz="1600" dirty="0">
                <a:latin typeface="Arial" panose="020B0604020202020204" pitchFamily="34" charset="0"/>
                <a:cs typeface="Arial" panose="020B0604020202020204" pitchFamily="34" charset="0"/>
              </a:rPr>
              <a:t>的计算为例：第一步将</a:t>
            </a:r>
            <a:r>
              <a:rPr lang="en-US" altLang="zh-CN" sz="1600" dirty="0">
                <a:latin typeface="Arial" panose="020B0604020202020204" pitchFamily="34" charset="0"/>
                <a:cs typeface="Arial" panose="020B0604020202020204" pitchFamily="34" charset="0"/>
              </a:rPr>
              <a:t>A1</a:t>
            </a:r>
            <a:r>
              <a:rPr lang="zh-CN" altLang="en-US" sz="1600" dirty="0">
                <a:latin typeface="Arial" panose="020B0604020202020204" pitchFamily="34" charset="0"/>
                <a:cs typeface="Arial" panose="020B0604020202020204" pitchFamily="34" charset="0"/>
              </a:rPr>
              <a:t>和</a:t>
            </a:r>
            <a:r>
              <a:rPr lang="en-US" altLang="zh-CN" sz="1600" dirty="0">
                <a:latin typeface="Arial" panose="020B0604020202020204" pitchFamily="34" charset="0"/>
                <a:cs typeface="Arial" panose="020B0604020202020204" pitchFamily="34" charset="0"/>
              </a:rPr>
              <a:t>B1</a:t>
            </a:r>
          </a:p>
          <a:p>
            <a:pPr>
              <a:buSzPct val="140000"/>
            </a:pPr>
            <a:r>
              <a:rPr lang="zh-CN" altLang="en-US" sz="1600" dirty="0">
                <a:latin typeface="Arial" panose="020B0604020202020204" pitchFamily="34" charset="0"/>
                <a:cs typeface="Arial" panose="020B0604020202020204" pitchFamily="34" charset="0"/>
              </a:rPr>
              <a:t>搬移到矩阵计算单元中，算出中间结果；第二步将</a:t>
            </a:r>
            <a:r>
              <a:rPr lang="en-US" altLang="zh-CN" sz="1600" dirty="0">
                <a:latin typeface="Arial" panose="020B0604020202020204" pitchFamily="34" charset="0"/>
                <a:cs typeface="Arial" panose="020B0604020202020204" pitchFamily="34" charset="0"/>
              </a:rPr>
              <a:t>A2</a:t>
            </a:r>
            <a:r>
              <a:rPr lang="zh-CN" altLang="en-US" sz="1600" dirty="0">
                <a:latin typeface="Arial" panose="020B0604020202020204" pitchFamily="34" charset="0"/>
                <a:cs typeface="Arial" panose="020B0604020202020204" pitchFamily="34" charset="0"/>
              </a:rPr>
              <a:t>和</a:t>
            </a:r>
            <a:r>
              <a:rPr lang="en-US" altLang="zh-CN" sz="1600" dirty="0">
                <a:latin typeface="Arial" panose="020B0604020202020204" pitchFamily="34" charset="0"/>
                <a:cs typeface="Arial" panose="020B0604020202020204" pitchFamily="34" charset="0"/>
              </a:rPr>
              <a:t>B2</a:t>
            </a:r>
            <a:r>
              <a:rPr lang="zh-CN" altLang="en-US" sz="1600" dirty="0">
                <a:latin typeface="Arial" panose="020B0604020202020204" pitchFamily="34" charset="0"/>
                <a:cs typeface="Arial" panose="020B0604020202020204" pitchFamily="34" charset="0"/>
              </a:rPr>
              <a:t>搬移到矩阵计算单元中，计算中间结果并把计算结果累加到上一次的中间结果，完成结果子矩阵 </a:t>
            </a:r>
            <a:r>
              <a:rPr lang="en-US" altLang="zh-CN" sz="1600" dirty="0">
                <a:latin typeface="Arial" panose="020B0604020202020204" pitchFamily="34" charset="0"/>
                <a:cs typeface="Arial" panose="020B0604020202020204" pitchFamily="34" charset="0"/>
              </a:rPr>
              <a:t>C1</a:t>
            </a:r>
            <a:r>
              <a:rPr lang="zh-CN" altLang="en-US" sz="1600" dirty="0">
                <a:latin typeface="Arial" panose="020B0604020202020204" pitchFamily="34" charset="0"/>
                <a:cs typeface="Arial" panose="020B0604020202020204" pitchFamily="34" charset="0"/>
              </a:rPr>
              <a:t>的计算，并写入输出缓冲区。</a:t>
            </a:r>
            <a:endParaRPr lang="en-US" altLang="zh-CN" sz="1600" dirty="0">
              <a:latin typeface="Arial" panose="020B0604020202020204" pitchFamily="34" charset="0"/>
              <a:cs typeface="Arial" panose="020B0604020202020204" pitchFamily="34" charset="0"/>
            </a:endParaRPr>
          </a:p>
          <a:p>
            <a:pPr>
              <a:buSzPct val="140000"/>
            </a:pPr>
            <a:endParaRPr lang="en-US" altLang="zh-CN" sz="1600" dirty="0">
              <a:latin typeface="Arial" panose="020B0604020202020204" pitchFamily="34" charset="0"/>
              <a:cs typeface="Arial" panose="020B0604020202020204" pitchFamily="34" charset="0"/>
            </a:endParaRPr>
          </a:p>
          <a:p>
            <a:pPr>
              <a:buSzPct val="140000"/>
            </a:pPr>
            <a:r>
              <a:rPr lang="zh-CN" altLang="en-US" sz="1600" dirty="0">
                <a:latin typeface="Arial" panose="020B0604020202020204" pitchFamily="34" charset="0"/>
                <a:cs typeface="Arial" panose="020B0604020202020204" pitchFamily="34" charset="0"/>
              </a:rPr>
              <a:t>在昇腾 </a:t>
            </a:r>
            <a:r>
              <a:rPr lang="en-US" altLang="zh-CN" sz="1600" dirty="0">
                <a:latin typeface="Arial" panose="020B0604020202020204" pitchFamily="34" charset="0"/>
                <a:cs typeface="Arial" panose="020B0604020202020204" pitchFamily="34" charset="0"/>
              </a:rPr>
              <a:t>AI </a:t>
            </a:r>
            <a:r>
              <a:rPr lang="zh-CN" altLang="en-US" sz="1600" dirty="0">
                <a:latin typeface="Arial" panose="020B0604020202020204" pitchFamily="34" charset="0"/>
                <a:cs typeface="Arial" panose="020B0604020202020204" pitchFamily="34" charset="0"/>
              </a:rPr>
              <a:t>处理器的实际计算过程中，会在一定程度上复用矩阵 </a:t>
            </a:r>
            <a:r>
              <a:rPr lang="en-US" altLang="zh-CN" sz="1600" dirty="0">
                <a:latin typeface="Arial" panose="020B0604020202020204" pitchFamily="34" charset="0"/>
                <a:cs typeface="Arial" panose="020B0604020202020204" pitchFamily="34" charset="0"/>
              </a:rPr>
              <a:t>A </a:t>
            </a:r>
            <a:r>
              <a:rPr lang="zh-CN" altLang="en-US" sz="1600" dirty="0">
                <a:latin typeface="Arial" panose="020B0604020202020204" pitchFamily="34" charset="0"/>
                <a:cs typeface="Arial" panose="020B0604020202020204" pitchFamily="34" charset="0"/>
              </a:rPr>
              <a:t>和矩阵 </a:t>
            </a:r>
            <a:r>
              <a:rPr lang="en-US" altLang="zh-CN" sz="1600" dirty="0">
                <a:latin typeface="Arial" panose="020B0604020202020204" pitchFamily="34" charset="0"/>
                <a:cs typeface="Arial" panose="020B0604020202020204" pitchFamily="34" charset="0"/>
              </a:rPr>
              <a:t>B </a:t>
            </a:r>
            <a:r>
              <a:rPr lang="zh-CN" altLang="en-US" sz="1600" dirty="0">
                <a:latin typeface="Arial" panose="020B0604020202020204" pitchFamily="34" charset="0"/>
                <a:cs typeface="Arial" panose="020B0604020202020204" pitchFamily="34" charset="0"/>
              </a:rPr>
              <a:t>的分块矩阵。</a:t>
            </a:r>
            <a:endParaRPr lang="en-US" altLang="zh-CN"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B0B7BB0-73AD-47CC-A9D2-31405509C3E3}"/>
              </a:ext>
            </a:extLst>
          </p:cNvPr>
          <p:cNvPicPr>
            <a:picLocks noChangeAspect="1"/>
          </p:cNvPicPr>
          <p:nvPr/>
        </p:nvPicPr>
        <p:blipFill>
          <a:blip r:embed="rId3"/>
          <a:stretch>
            <a:fillRect/>
          </a:stretch>
        </p:blipFill>
        <p:spPr>
          <a:xfrm>
            <a:off x="325091" y="1066840"/>
            <a:ext cx="4449960" cy="1569660"/>
          </a:xfrm>
          <a:prstGeom prst="rect">
            <a:avLst/>
          </a:prstGeom>
        </p:spPr>
      </p:pic>
      <p:pic>
        <p:nvPicPr>
          <p:cNvPr id="6" name="Picture 5">
            <a:extLst>
              <a:ext uri="{FF2B5EF4-FFF2-40B4-BE49-F238E27FC236}">
                <a16:creationId xmlns:a16="http://schemas.microsoft.com/office/drawing/2014/main" id="{0604825E-A0FA-49A3-B119-764D8ECCD58E}"/>
              </a:ext>
            </a:extLst>
          </p:cNvPr>
          <p:cNvPicPr>
            <a:picLocks noChangeAspect="1"/>
          </p:cNvPicPr>
          <p:nvPr/>
        </p:nvPicPr>
        <p:blipFill>
          <a:blip r:embed="rId4"/>
          <a:stretch>
            <a:fillRect/>
          </a:stretch>
        </p:blipFill>
        <p:spPr>
          <a:xfrm>
            <a:off x="467544" y="2764308"/>
            <a:ext cx="3952875" cy="1985963"/>
          </a:xfrm>
          <a:prstGeom prst="rect">
            <a:avLst/>
          </a:prstGeom>
        </p:spPr>
      </p:pic>
    </p:spTree>
    <p:extLst>
      <p:ext uri="{BB962C8B-B14F-4D97-AF65-F5344CB8AC3E}">
        <p14:creationId xmlns:p14="http://schemas.microsoft.com/office/powerpoint/2010/main" val="27002379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zh-CN" altLang="en-US" dirty="0"/>
              <a:t>指令执行与控制</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7" name="文本框 4">
            <a:extLst>
              <a:ext uri="{FF2B5EF4-FFF2-40B4-BE49-F238E27FC236}">
                <a16:creationId xmlns:a16="http://schemas.microsoft.com/office/drawing/2014/main" id="{7A42F74D-9FBE-4492-8F1B-FD5BE92F52DF}"/>
              </a:ext>
            </a:extLst>
          </p:cNvPr>
          <p:cNvSpPr txBox="1"/>
          <p:nvPr/>
        </p:nvSpPr>
        <p:spPr>
          <a:xfrm>
            <a:off x="863588" y="3886334"/>
            <a:ext cx="7416824" cy="338554"/>
          </a:xfrm>
          <a:prstGeom prst="rect">
            <a:avLst/>
          </a:prstGeom>
          <a:noFill/>
        </p:spPr>
        <p:txBody>
          <a:bodyPr wrap="square" rtlCol="0">
            <a:spAutoFit/>
          </a:bodyPr>
          <a:lstStyle/>
          <a:p>
            <a:pPr>
              <a:buSzPct val="140000"/>
            </a:pPr>
            <a:r>
              <a:rPr lang="zh-CN" altLang="en-US" sz="1600" dirty="0">
                <a:latin typeface="Arial" panose="020B0604020202020204" pitchFamily="34" charset="0"/>
                <a:cs typeface="Arial" panose="020B0604020202020204" pitchFamily="34" charset="0"/>
              </a:rPr>
              <a:t>对于可能的数据冲突：通过事件同步模块协调流水线进程。</a:t>
            </a:r>
            <a:endParaRPr lang="en-US" altLang="zh-CN" sz="16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F8BF6CD-CB4D-42E9-BC6E-B9FBDFC2B63D}"/>
              </a:ext>
            </a:extLst>
          </p:cNvPr>
          <p:cNvPicPr>
            <a:picLocks noChangeAspect="1"/>
          </p:cNvPicPr>
          <p:nvPr/>
        </p:nvPicPr>
        <p:blipFill>
          <a:blip r:embed="rId3"/>
          <a:stretch>
            <a:fillRect/>
          </a:stretch>
        </p:blipFill>
        <p:spPr>
          <a:xfrm>
            <a:off x="539552" y="1059582"/>
            <a:ext cx="7884368" cy="2666101"/>
          </a:xfrm>
          <a:prstGeom prst="rect">
            <a:avLst/>
          </a:prstGeom>
        </p:spPr>
      </p:pic>
    </p:spTree>
    <p:extLst>
      <p:ext uri="{BB962C8B-B14F-4D97-AF65-F5344CB8AC3E}">
        <p14:creationId xmlns:p14="http://schemas.microsoft.com/office/powerpoint/2010/main" val="32010575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zh-CN" altLang="en-US" dirty="0"/>
              <a:t>指令集设计</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7" name="文本框 4">
            <a:extLst>
              <a:ext uri="{FF2B5EF4-FFF2-40B4-BE49-F238E27FC236}">
                <a16:creationId xmlns:a16="http://schemas.microsoft.com/office/drawing/2014/main" id="{7A42F74D-9FBE-4492-8F1B-FD5BE92F52DF}"/>
              </a:ext>
            </a:extLst>
          </p:cNvPr>
          <p:cNvSpPr txBox="1"/>
          <p:nvPr/>
        </p:nvSpPr>
        <p:spPr>
          <a:xfrm>
            <a:off x="1043608" y="908828"/>
            <a:ext cx="7416824" cy="584775"/>
          </a:xfrm>
          <a:prstGeom prst="rect">
            <a:avLst/>
          </a:prstGeom>
          <a:noFill/>
        </p:spPr>
        <p:txBody>
          <a:bodyPr wrap="square" rtlCol="0">
            <a:spAutoFit/>
          </a:bodyPr>
          <a:lstStyle/>
          <a:p>
            <a:pPr>
              <a:buSzPct val="140000"/>
            </a:pPr>
            <a:r>
              <a:rPr lang="zh-CN" altLang="en-US" sz="1600" dirty="0">
                <a:latin typeface="Arial" panose="020B0604020202020204" pitchFamily="34" charset="0"/>
                <a:cs typeface="Arial" panose="020B0604020202020204" pitchFamily="34" charset="0"/>
              </a:rPr>
              <a:t>标量指令：类</a:t>
            </a:r>
            <a:r>
              <a:rPr lang="en-US" altLang="zh-CN" sz="1600" dirty="0">
                <a:latin typeface="Arial" panose="020B0604020202020204" pitchFamily="34" charset="0"/>
                <a:cs typeface="Arial" panose="020B0604020202020204" pitchFamily="34" charset="0"/>
              </a:rPr>
              <a:t>RISC</a:t>
            </a:r>
            <a:r>
              <a:rPr lang="zh-CN" altLang="en-US" sz="1600" dirty="0">
                <a:latin typeface="Arial" panose="020B0604020202020204" pitchFamily="34" charset="0"/>
                <a:cs typeface="Arial" panose="020B0604020202020204" pitchFamily="34" charset="0"/>
              </a:rPr>
              <a:t>；矩阵、向量、数据搬运指令：类</a:t>
            </a:r>
            <a:r>
              <a:rPr lang="en-US" altLang="zh-CN" sz="1600" dirty="0">
                <a:latin typeface="Arial" panose="020B0604020202020204" pitchFamily="34" charset="0"/>
                <a:cs typeface="Arial" panose="020B0604020202020204" pitchFamily="34" charset="0"/>
              </a:rPr>
              <a:t>CISC</a:t>
            </a:r>
            <a:r>
              <a:rPr lang="zh-CN" altLang="en-US" sz="1600" dirty="0">
                <a:latin typeface="Arial" panose="020B0604020202020204" pitchFamily="34" charset="0"/>
                <a:cs typeface="Arial" panose="020B0604020202020204" pitchFamily="34" charset="0"/>
              </a:rPr>
              <a:t>。</a:t>
            </a:r>
            <a:endParaRPr lang="en-US" altLang="zh-CN" sz="1600" dirty="0">
              <a:latin typeface="Arial" panose="020B0604020202020204" pitchFamily="34" charset="0"/>
              <a:cs typeface="Arial" panose="020B0604020202020204" pitchFamily="34" charset="0"/>
            </a:endParaRPr>
          </a:p>
          <a:p>
            <a:pPr>
              <a:buSzPct val="140000"/>
            </a:pPr>
            <a:r>
              <a:rPr lang="zh-CN" altLang="en-US" sz="1600" dirty="0">
                <a:latin typeface="Arial" panose="020B0604020202020204" pitchFamily="34" charset="0"/>
                <a:cs typeface="Arial" panose="020B0604020202020204" pitchFamily="34" charset="0"/>
              </a:rPr>
              <a:t>实现高效单指令的同时，保留了对于典型数据搬移、运算的的操作简单。</a:t>
            </a:r>
            <a:endParaRPr lang="en-US" altLang="zh-CN"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CE0AD7C-7902-4B3D-A9D4-E7C1601A8227}"/>
              </a:ext>
            </a:extLst>
          </p:cNvPr>
          <p:cNvPicPr>
            <a:picLocks noChangeAspect="1"/>
          </p:cNvPicPr>
          <p:nvPr/>
        </p:nvPicPr>
        <p:blipFill>
          <a:blip r:embed="rId3"/>
          <a:stretch>
            <a:fillRect/>
          </a:stretch>
        </p:blipFill>
        <p:spPr>
          <a:xfrm>
            <a:off x="366614" y="1698943"/>
            <a:ext cx="3977403" cy="2376263"/>
          </a:xfrm>
          <a:prstGeom prst="rect">
            <a:avLst/>
          </a:prstGeom>
        </p:spPr>
      </p:pic>
      <p:pic>
        <p:nvPicPr>
          <p:cNvPr id="9" name="Picture 8">
            <a:extLst>
              <a:ext uri="{FF2B5EF4-FFF2-40B4-BE49-F238E27FC236}">
                <a16:creationId xmlns:a16="http://schemas.microsoft.com/office/drawing/2014/main" id="{BB2AA01A-59D2-48B7-A073-4BF37173818F}"/>
              </a:ext>
            </a:extLst>
          </p:cNvPr>
          <p:cNvPicPr>
            <a:picLocks noChangeAspect="1"/>
          </p:cNvPicPr>
          <p:nvPr/>
        </p:nvPicPr>
        <p:blipFill>
          <a:blip r:embed="rId4"/>
          <a:stretch>
            <a:fillRect/>
          </a:stretch>
        </p:blipFill>
        <p:spPr>
          <a:xfrm>
            <a:off x="4792691" y="2889498"/>
            <a:ext cx="3916887" cy="834297"/>
          </a:xfrm>
          <a:prstGeom prst="rect">
            <a:avLst/>
          </a:prstGeom>
        </p:spPr>
      </p:pic>
      <p:pic>
        <p:nvPicPr>
          <p:cNvPr id="8" name="Picture 7">
            <a:extLst>
              <a:ext uri="{FF2B5EF4-FFF2-40B4-BE49-F238E27FC236}">
                <a16:creationId xmlns:a16="http://schemas.microsoft.com/office/drawing/2014/main" id="{899EA280-ABF9-4EDC-A28C-0C6EB19E561F}"/>
              </a:ext>
            </a:extLst>
          </p:cNvPr>
          <p:cNvPicPr>
            <a:picLocks noChangeAspect="1"/>
          </p:cNvPicPr>
          <p:nvPr/>
        </p:nvPicPr>
        <p:blipFill>
          <a:blip r:embed="rId5"/>
          <a:stretch>
            <a:fillRect/>
          </a:stretch>
        </p:blipFill>
        <p:spPr>
          <a:xfrm>
            <a:off x="4739469" y="1698943"/>
            <a:ext cx="3977403" cy="1208126"/>
          </a:xfrm>
          <a:prstGeom prst="rect">
            <a:avLst/>
          </a:prstGeom>
        </p:spPr>
      </p:pic>
      <p:sp>
        <p:nvSpPr>
          <p:cNvPr id="10" name="文本框 4">
            <a:extLst>
              <a:ext uri="{FF2B5EF4-FFF2-40B4-BE49-F238E27FC236}">
                <a16:creationId xmlns:a16="http://schemas.microsoft.com/office/drawing/2014/main" id="{4397433B-0960-4576-8F1D-50A304C3892B}"/>
              </a:ext>
            </a:extLst>
          </p:cNvPr>
          <p:cNvSpPr txBox="1"/>
          <p:nvPr/>
        </p:nvSpPr>
        <p:spPr>
          <a:xfrm>
            <a:off x="863588" y="4191181"/>
            <a:ext cx="7416824" cy="338554"/>
          </a:xfrm>
          <a:prstGeom prst="rect">
            <a:avLst/>
          </a:prstGeom>
          <a:noFill/>
        </p:spPr>
        <p:txBody>
          <a:bodyPr wrap="square" rtlCol="0">
            <a:spAutoFit/>
          </a:bodyPr>
          <a:lstStyle/>
          <a:p>
            <a:pPr>
              <a:buSzPct val="140000"/>
            </a:pPr>
            <a:r>
              <a:rPr lang="zh-CN" altLang="en-US" sz="1600" dirty="0">
                <a:latin typeface="Arial" panose="020B0604020202020204" pitchFamily="34" charset="0"/>
                <a:cs typeface="Arial" panose="020B0604020202020204" pitchFamily="34" charset="0"/>
              </a:rPr>
              <a:t>常用矩阵乘加指令：</a:t>
            </a:r>
            <a:r>
              <a:rPr lang="en-US" sz="1600" dirty="0" err="1"/>
              <a:t>MMAD.type</a:t>
            </a:r>
            <a:r>
              <a:rPr lang="en-US" sz="1600" dirty="0"/>
              <a:t> [</a:t>
            </a:r>
            <a:r>
              <a:rPr lang="en-US" sz="1600" dirty="0" err="1"/>
              <a:t>Xd</a:t>
            </a:r>
            <a:r>
              <a:rPr lang="en-US" sz="1600" dirty="0"/>
              <a:t>], [</a:t>
            </a:r>
            <a:r>
              <a:rPr lang="en-US" sz="1600" dirty="0" err="1"/>
              <a:t>Xn</a:t>
            </a:r>
            <a:r>
              <a:rPr lang="en-US" sz="1600" dirty="0"/>
              <a:t>], [</a:t>
            </a:r>
            <a:r>
              <a:rPr lang="en-US" sz="1600" dirty="0" err="1"/>
              <a:t>Xm</a:t>
            </a:r>
            <a:r>
              <a:rPr lang="en-US" sz="1600" dirty="0"/>
              <a:t>], </a:t>
            </a:r>
            <a:r>
              <a:rPr lang="en-US" sz="1600" dirty="0" err="1"/>
              <a:t>Xt</a:t>
            </a:r>
            <a:endParaRPr lang="en-US" altLang="zh-C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86177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zh-CN" altLang="en-US" dirty="0"/>
              <a:t>卷积典型数据流</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BFD5CFD9-BDA2-4D4A-B375-6EECC1EA026B}"/>
              </a:ext>
            </a:extLst>
          </p:cNvPr>
          <p:cNvPicPr>
            <a:picLocks noChangeAspect="1"/>
          </p:cNvPicPr>
          <p:nvPr/>
        </p:nvPicPr>
        <p:blipFill>
          <a:blip r:embed="rId3"/>
          <a:stretch>
            <a:fillRect/>
          </a:stretch>
        </p:blipFill>
        <p:spPr>
          <a:xfrm>
            <a:off x="880864" y="910103"/>
            <a:ext cx="7382272" cy="3972297"/>
          </a:xfrm>
          <a:prstGeom prst="rect">
            <a:avLst/>
          </a:prstGeom>
        </p:spPr>
      </p:pic>
    </p:spTree>
    <p:extLst>
      <p:ext uri="{BB962C8B-B14F-4D97-AF65-F5344CB8AC3E}">
        <p14:creationId xmlns:p14="http://schemas.microsoft.com/office/powerpoint/2010/main" val="235464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Review</a:t>
            </a:r>
            <a:endParaRPr kumimoji="1" lang="zh-CN" altLang="en-US" dirty="0"/>
          </a:p>
        </p:txBody>
      </p:sp>
      <p:cxnSp>
        <p:nvCxnSpPr>
          <p:cNvPr id="4" name="直线连接符 3"/>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6" name="文本框 3">
            <a:extLst>
              <a:ext uri="{FF2B5EF4-FFF2-40B4-BE49-F238E27FC236}">
                <a16:creationId xmlns:a16="http://schemas.microsoft.com/office/drawing/2014/main" id="{F1DB9AB7-7A47-46F3-9687-9E07367B214E}"/>
              </a:ext>
            </a:extLst>
          </p:cNvPr>
          <p:cNvSpPr txBox="1"/>
          <p:nvPr/>
        </p:nvSpPr>
        <p:spPr>
          <a:xfrm>
            <a:off x="622176" y="884470"/>
            <a:ext cx="8054280" cy="3234347"/>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PE design and weight reuse: </a:t>
            </a:r>
            <a:r>
              <a:rPr lang="en-US" altLang="zh-CN" sz="1600" b="1" dirty="0">
                <a:solidFill>
                  <a:srgbClr val="FF0000"/>
                </a:solidFill>
                <a:latin typeface="微软雅黑" panose="020B0503020204020204" pitchFamily="34" charset="-122"/>
                <a:ea typeface="微软雅黑" panose="020B0503020204020204" pitchFamily="34" charset="-122"/>
              </a:rPr>
              <a:t>MAC, OS/WS</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Inefficiency in CPU: </a:t>
            </a:r>
            <a:r>
              <a:rPr lang="en-US" altLang="zh-CN" sz="1600" b="1" dirty="0">
                <a:solidFill>
                  <a:srgbClr val="FF0000"/>
                </a:solidFill>
                <a:latin typeface="微软雅黑" panose="020B0503020204020204" pitchFamily="34" charset="-122"/>
                <a:ea typeface="微软雅黑" panose="020B0503020204020204" pitchFamily="34" charset="-122"/>
              </a:rPr>
              <a:t>IF, D-$ (data access)</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Core optimization</a:t>
            </a:r>
          </a:p>
          <a:p>
            <a:pPr marL="800100" lvl="1" indent="-342900">
              <a:lnSpc>
                <a:spcPct val="150000"/>
              </a:lnSpc>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Instruction decoding: </a:t>
            </a:r>
            <a:r>
              <a:rPr lang="en-US" altLang="zh-CN" sz="1400" b="1" dirty="0">
                <a:solidFill>
                  <a:srgbClr val="FF0000"/>
                </a:solidFill>
                <a:latin typeface="微软雅黑" panose="020B0503020204020204" pitchFamily="34" charset="-122"/>
                <a:ea typeface="微软雅黑" panose="020B0503020204020204" pitchFamily="34" charset="-122"/>
              </a:rPr>
              <a:t>coarse-grained, domain-specific, operation fusion</a:t>
            </a:r>
          </a:p>
          <a:p>
            <a:pPr marL="800100" lvl="1" indent="-342900">
              <a:lnSpc>
                <a:spcPct val="150000"/>
              </a:lnSpc>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Datapath: </a:t>
            </a:r>
            <a:r>
              <a:rPr lang="en-US" altLang="zh-CN" sz="1400" b="1" dirty="0">
                <a:solidFill>
                  <a:srgbClr val="FF0000"/>
                </a:solidFill>
                <a:latin typeface="微软雅黑" panose="020B0503020204020204" pitchFamily="34" charset="-122"/>
                <a:ea typeface="微软雅黑" panose="020B0503020204020204" pitchFamily="34" charset="-122"/>
              </a:rPr>
              <a:t>spatial-K (accumulation), spatial-M/N (data reuse)</a:t>
            </a:r>
          </a:p>
          <a:p>
            <a:pPr marL="800100" lvl="1" indent="-342900">
              <a:lnSpc>
                <a:spcPct val="150000"/>
              </a:lnSpc>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Memory system: </a:t>
            </a:r>
            <a:r>
              <a:rPr lang="en-US" altLang="zh-CN" sz="1400" b="1" dirty="0">
                <a:solidFill>
                  <a:srgbClr val="FF0000"/>
                </a:solidFill>
                <a:latin typeface="微软雅黑" panose="020B0503020204020204" pitchFamily="34" charset="-122"/>
                <a:ea typeface="微软雅黑" panose="020B0503020204020204" pitchFamily="34" charset="-122"/>
              </a:rPr>
              <a:t>short-lived values, dedicated storage, data delivery</a:t>
            </a:r>
          </a:p>
          <a:p>
            <a:pPr marL="342900" indent="-342900">
              <a:lnSpc>
                <a:spcPct val="150000"/>
              </a:lnSpc>
              <a:buFont typeface="Wingdings" panose="05000000000000000000" pitchFamily="2" charset="2"/>
              <a:buChar char="Ø"/>
            </a:pPr>
            <a:r>
              <a:rPr lang="en-US" altLang="zh-CN" sz="1600" b="1" dirty="0">
                <a:latin typeface="微软雅黑" panose="020B0503020204020204" pitchFamily="34" charset="-122"/>
                <a:ea typeface="微软雅黑" panose="020B0503020204020204" pitchFamily="34" charset="-122"/>
              </a:rPr>
              <a:t>CASE study</a:t>
            </a:r>
          </a:p>
          <a:p>
            <a:pPr marL="800100" lvl="1" indent="-342900">
              <a:lnSpc>
                <a:spcPct val="150000"/>
              </a:lnSpc>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Google TPU: </a:t>
            </a:r>
            <a:r>
              <a:rPr lang="en-US" altLang="zh-CN" sz="1400" b="1" dirty="0">
                <a:solidFill>
                  <a:srgbClr val="FF0000"/>
                </a:solidFill>
                <a:latin typeface="微软雅黑" panose="020B0503020204020204" pitchFamily="34" charset="-122"/>
                <a:ea typeface="微软雅黑" panose="020B0503020204020204" pitchFamily="34" charset="-122"/>
              </a:rPr>
              <a:t>systolic architecture</a:t>
            </a:r>
          </a:p>
          <a:p>
            <a:pPr marL="800100" lvl="1" indent="-342900">
              <a:lnSpc>
                <a:spcPct val="150000"/>
              </a:lnSpc>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Huawei Atlas (</a:t>
            </a:r>
            <a:r>
              <a:rPr lang="zh-CN" altLang="en-US" sz="1400" b="1" dirty="0">
                <a:latin typeface="微软雅黑" panose="020B0503020204020204" pitchFamily="34" charset="-122"/>
                <a:ea typeface="微软雅黑" panose="020B0503020204020204" pitchFamily="34" charset="-122"/>
              </a:rPr>
              <a:t>昇腾</a:t>
            </a:r>
            <a:r>
              <a:rPr lang="en-US" altLang="zh-CN" sz="1400" b="1">
                <a:latin typeface="微软雅黑" panose="020B0503020204020204" pitchFamily="34" charset="-122"/>
                <a:ea typeface="微软雅黑" panose="020B0503020204020204" pitchFamily="34" charset="-122"/>
              </a:rPr>
              <a:t>): </a:t>
            </a:r>
            <a:r>
              <a:rPr lang="en-US" altLang="zh-CN" sz="1400" b="1">
                <a:solidFill>
                  <a:srgbClr val="FF0000"/>
                </a:solidFill>
                <a:latin typeface="微软雅黑" panose="020B0503020204020204" pitchFamily="34" charset="-122"/>
                <a:ea typeface="微软雅黑" panose="020B0503020204020204" pitchFamily="34" charset="-122"/>
              </a:rPr>
              <a:t>adder-tree </a:t>
            </a:r>
            <a:r>
              <a:rPr lang="en-US" altLang="zh-CN" sz="1400" b="1" dirty="0">
                <a:solidFill>
                  <a:srgbClr val="FF0000"/>
                </a:solidFill>
                <a:latin typeface="微软雅黑" panose="020B0503020204020204" pitchFamily="34" charset="-122"/>
                <a:ea typeface="微软雅黑" panose="020B0503020204020204" pitchFamily="34" charset="-122"/>
              </a:rPr>
              <a:t>architecture</a:t>
            </a:r>
          </a:p>
        </p:txBody>
      </p:sp>
    </p:spTree>
    <p:extLst>
      <p:ext uri="{BB962C8B-B14F-4D97-AF65-F5344CB8AC3E}">
        <p14:creationId xmlns:p14="http://schemas.microsoft.com/office/powerpoint/2010/main" val="31290531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480720" cy="569326"/>
          </a:xfrm>
        </p:spPr>
        <p:txBody>
          <a:bodyPr>
            <a:normAutofit/>
          </a:bodyPr>
          <a:lstStyle/>
          <a:p>
            <a:r>
              <a:rPr kumimoji="1" lang="en-US" altLang="zh-CN" dirty="0"/>
              <a:t>Data Reuse with Buffer (OS)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00F229B3-72AE-4155-908C-2F3CE1D4CCF3}"/>
              </a:ext>
            </a:extLst>
          </p:cNvPr>
          <p:cNvPicPr>
            <a:picLocks noChangeAspect="1"/>
          </p:cNvPicPr>
          <p:nvPr/>
        </p:nvPicPr>
        <p:blipFill>
          <a:blip r:embed="rId2"/>
          <a:stretch>
            <a:fillRect/>
          </a:stretch>
        </p:blipFill>
        <p:spPr>
          <a:xfrm>
            <a:off x="278029" y="1161473"/>
            <a:ext cx="8590728" cy="3554784"/>
          </a:xfrm>
          <a:prstGeom prst="rect">
            <a:avLst/>
          </a:prstGeom>
        </p:spPr>
      </p:pic>
    </p:spTree>
    <p:extLst>
      <p:ext uri="{BB962C8B-B14F-4D97-AF65-F5344CB8AC3E}">
        <p14:creationId xmlns:p14="http://schemas.microsoft.com/office/powerpoint/2010/main" val="28485211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480720" cy="569326"/>
          </a:xfrm>
        </p:spPr>
        <p:txBody>
          <a:bodyPr>
            <a:normAutofit/>
          </a:bodyPr>
          <a:lstStyle/>
          <a:p>
            <a:r>
              <a:rPr kumimoji="1" lang="en-US" altLang="zh-CN" dirty="0"/>
              <a:t>Data Reuse with Buffer (WS)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E9513095-A57E-494A-AFD0-9B08C1AA0F55}"/>
              </a:ext>
            </a:extLst>
          </p:cNvPr>
          <p:cNvPicPr>
            <a:picLocks noChangeAspect="1"/>
          </p:cNvPicPr>
          <p:nvPr/>
        </p:nvPicPr>
        <p:blipFill>
          <a:blip r:embed="rId2"/>
          <a:stretch>
            <a:fillRect/>
          </a:stretch>
        </p:blipFill>
        <p:spPr>
          <a:xfrm>
            <a:off x="341784" y="1092052"/>
            <a:ext cx="8460432" cy="3749629"/>
          </a:xfrm>
          <a:prstGeom prst="rect">
            <a:avLst/>
          </a:prstGeom>
        </p:spPr>
      </p:pic>
    </p:spTree>
    <p:extLst>
      <p:ext uri="{BB962C8B-B14F-4D97-AF65-F5344CB8AC3E}">
        <p14:creationId xmlns:p14="http://schemas.microsoft.com/office/powerpoint/2010/main" val="13956136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kumimoji="1" lang="en-US" altLang="zh-CN" dirty="0"/>
              <a:t>Source of Inefficiency in CPUs</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C5DCE9D8-1B4B-445A-82C6-ECB4B82AF042}"/>
              </a:ext>
            </a:extLst>
          </p:cNvPr>
          <p:cNvPicPr>
            <a:picLocks noChangeAspect="1"/>
          </p:cNvPicPr>
          <p:nvPr/>
        </p:nvPicPr>
        <p:blipFill>
          <a:blip r:embed="rId3"/>
          <a:stretch>
            <a:fillRect/>
          </a:stretch>
        </p:blipFill>
        <p:spPr>
          <a:xfrm>
            <a:off x="251520" y="907687"/>
            <a:ext cx="8394184" cy="4030642"/>
          </a:xfrm>
          <a:prstGeom prst="rect">
            <a:avLst/>
          </a:prstGeom>
        </p:spPr>
      </p:pic>
    </p:spTree>
    <p:extLst>
      <p:ext uri="{BB962C8B-B14F-4D97-AF65-F5344CB8AC3E}">
        <p14:creationId xmlns:p14="http://schemas.microsoft.com/office/powerpoint/2010/main" val="[student ID removed]"/>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Inst. Decoding Logic Optimization</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183E98EE-C47C-489A-BC1E-97EE7EDF68DA}"/>
              </a:ext>
            </a:extLst>
          </p:cNvPr>
          <p:cNvPicPr>
            <a:picLocks noChangeAspect="1"/>
          </p:cNvPicPr>
          <p:nvPr/>
        </p:nvPicPr>
        <p:blipFill>
          <a:blip r:embed="rId3"/>
          <a:stretch>
            <a:fillRect/>
          </a:stretch>
        </p:blipFill>
        <p:spPr>
          <a:xfrm>
            <a:off x="180897" y="836538"/>
            <a:ext cx="8728301" cy="3931667"/>
          </a:xfrm>
          <a:prstGeom prst="rect">
            <a:avLst/>
          </a:prstGeom>
        </p:spPr>
      </p:pic>
      <p:sp>
        <p:nvSpPr>
          <p:cNvPr id="5" name="矩形 4">
            <a:extLst>
              <a:ext uri="{FF2B5EF4-FFF2-40B4-BE49-F238E27FC236}">
                <a16:creationId xmlns:a16="http://schemas.microsoft.com/office/drawing/2014/main" id="{9A3A8B18-1AF7-49FE-BD51-72D5C7C7A2C9}"/>
              </a:ext>
            </a:extLst>
          </p:cNvPr>
          <p:cNvSpPr/>
          <p:nvPr/>
        </p:nvSpPr>
        <p:spPr>
          <a:xfrm>
            <a:off x="176372" y="4407386"/>
            <a:ext cx="841104" cy="56932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343560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dirty="0"/>
              <a:t>Tensor Processing Unit</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A4C098AD-4C95-482F-AFBC-4AA9124A1DBE}"/>
              </a:ext>
            </a:extLst>
          </p:cNvPr>
          <p:cNvPicPr>
            <a:picLocks noChangeAspect="1"/>
          </p:cNvPicPr>
          <p:nvPr/>
        </p:nvPicPr>
        <p:blipFill>
          <a:blip r:embed="rId3"/>
          <a:stretch>
            <a:fillRect/>
          </a:stretch>
        </p:blipFill>
        <p:spPr>
          <a:xfrm>
            <a:off x="297129" y="972452"/>
            <a:ext cx="8549741" cy="3643700"/>
          </a:xfrm>
          <a:prstGeom prst="rect">
            <a:avLst/>
          </a:prstGeom>
        </p:spPr>
      </p:pic>
    </p:spTree>
    <p:extLst>
      <p:ext uri="{BB962C8B-B14F-4D97-AF65-F5344CB8AC3E}">
        <p14:creationId xmlns:p14="http://schemas.microsoft.com/office/powerpoint/2010/main" val="14834057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9502"/>
            <a:ext cx="6696744" cy="569326"/>
          </a:xfrm>
        </p:spPr>
        <p:txBody>
          <a:bodyPr>
            <a:normAutofit/>
          </a:bodyPr>
          <a:lstStyle/>
          <a:p>
            <a:r>
              <a:rPr lang="en-US" altLang="zh-CN" dirty="0"/>
              <a:t>Huawei Atlas AI Core</a:t>
            </a:r>
            <a:endParaRPr kumimoji="1" lang="zh-CN" altLang="en-US" dirty="0"/>
          </a:p>
        </p:txBody>
      </p:sp>
      <p:cxnSp>
        <p:nvCxnSpPr>
          <p:cNvPr id="4" name="直线连接符 3"/>
          <p:cNvCxnSpPr>
            <a:cxnSpLocks/>
          </p:cNvCxnSpPr>
          <p:nvPr/>
        </p:nvCxnSpPr>
        <p:spPr>
          <a:xfrm flipH="1">
            <a:off x="251520" y="411510"/>
            <a:ext cx="144016" cy="288032"/>
          </a:xfrm>
          <a:prstGeom prst="line">
            <a:avLst/>
          </a:prstGeom>
          <a:ln w="73025" cap="rnd">
            <a:solidFill>
              <a:srgbClr val="1190FF"/>
            </a:solidFill>
            <a:headEnd type="none" w="sm" len="sm"/>
            <a:tailEnd type="none" w="sm" len="sm"/>
          </a:ln>
          <a:effectLst/>
        </p:spPr>
        <p:style>
          <a:lnRef idx="2">
            <a:schemeClr val="accent1"/>
          </a:lnRef>
          <a:fillRef idx="0">
            <a:schemeClr val="accent1"/>
          </a:fillRef>
          <a:effectRef idx="1">
            <a:schemeClr val="accent1"/>
          </a:effectRef>
          <a:fontRef idx="minor">
            <a:schemeClr val="tx1"/>
          </a:fontRef>
        </p:style>
      </p:cxnSp>
      <p:sp>
        <p:nvSpPr>
          <p:cNvPr id="7" name="文本框 4">
            <a:extLst>
              <a:ext uri="{FF2B5EF4-FFF2-40B4-BE49-F238E27FC236}">
                <a16:creationId xmlns:a16="http://schemas.microsoft.com/office/drawing/2014/main" id="{7A42F74D-9FBE-4492-8F1B-FD5BE92F52DF}"/>
              </a:ext>
            </a:extLst>
          </p:cNvPr>
          <p:cNvSpPr txBox="1"/>
          <p:nvPr/>
        </p:nvSpPr>
        <p:spPr>
          <a:xfrm>
            <a:off x="5652120" y="1472413"/>
            <a:ext cx="3384376" cy="2308324"/>
          </a:xfrm>
          <a:prstGeom prst="rect">
            <a:avLst/>
          </a:prstGeom>
          <a:noFill/>
        </p:spPr>
        <p:txBody>
          <a:bodyPr wrap="square" rtlCol="0">
            <a:spAutoFit/>
          </a:bodyPr>
          <a:lstStyle/>
          <a:p>
            <a:pPr>
              <a:buSzPct val="140000"/>
            </a:pPr>
            <a:r>
              <a:rPr lang="zh-CN" altLang="en-US" sz="1600" dirty="0">
                <a:latin typeface="Arial" panose="020B0604020202020204" pitchFamily="34" charset="0"/>
                <a:cs typeface="Arial" panose="020B0604020202020204" pitchFamily="34" charset="0"/>
              </a:rPr>
              <a:t>三种计算资源：矩阵计算单元，向量计算单元，标量计算单元，三条独立流水线设计，对应三个指令发射序列。</a:t>
            </a:r>
            <a:endParaRPr lang="en-US" altLang="zh-CN" sz="1600" dirty="0">
              <a:latin typeface="Arial" panose="020B0604020202020204" pitchFamily="34" charset="0"/>
              <a:cs typeface="Arial" panose="020B0604020202020204" pitchFamily="34" charset="0"/>
            </a:endParaRPr>
          </a:p>
          <a:p>
            <a:pPr>
              <a:buSzPct val="140000"/>
            </a:pPr>
            <a:endParaRPr lang="en-US" altLang="zh-CN" sz="1600" dirty="0">
              <a:latin typeface="Arial" panose="020B0604020202020204" pitchFamily="34" charset="0"/>
              <a:cs typeface="Arial" panose="020B0604020202020204" pitchFamily="34" charset="0"/>
            </a:endParaRPr>
          </a:p>
          <a:p>
            <a:pPr>
              <a:buSzPct val="140000"/>
            </a:pPr>
            <a:r>
              <a:rPr lang="zh-CN" altLang="en-US" sz="1600" dirty="0">
                <a:solidFill>
                  <a:srgbClr val="FF0000"/>
                </a:solidFill>
                <a:latin typeface="Arial" panose="020B0604020202020204" pitchFamily="34" charset="0"/>
                <a:cs typeface="Arial" panose="020B0604020202020204" pitchFamily="34" charset="0"/>
              </a:rPr>
              <a:t>存储转换单元</a:t>
            </a:r>
            <a:r>
              <a:rPr lang="zh-CN" altLang="en-US" sz="1600" dirty="0">
                <a:latin typeface="Arial" panose="020B0604020202020204" pitchFamily="34" charset="0"/>
                <a:cs typeface="Arial" panose="020B0604020202020204" pitchFamily="34" charset="0"/>
              </a:rPr>
              <a:t>：硬件完成</a:t>
            </a:r>
            <a:r>
              <a:rPr lang="en-US" altLang="zh-CN" sz="1600" dirty="0">
                <a:latin typeface="Arial" panose="020B0604020202020204" pitchFamily="34" charset="0"/>
                <a:cs typeface="Arial" panose="020B0604020202020204" pitchFamily="34" charset="0"/>
              </a:rPr>
              <a:t>Img2Col</a:t>
            </a:r>
            <a:r>
              <a:rPr lang="zh-CN" altLang="en-US" sz="1600" dirty="0">
                <a:latin typeface="Arial" panose="020B0604020202020204" pitchFamily="34" charset="0"/>
                <a:cs typeface="Arial" panose="020B0604020202020204" pitchFamily="34" charset="0"/>
              </a:rPr>
              <a:t>将输入网络和特征值重排进行输入。对比</a:t>
            </a:r>
            <a:r>
              <a:rPr lang="en-US" altLang="zh-CN" sz="1600" dirty="0">
                <a:latin typeface="Arial" panose="020B0604020202020204" pitchFamily="34" charset="0"/>
                <a:cs typeface="Arial" panose="020B0604020202020204" pitchFamily="34" charset="0"/>
              </a:rPr>
              <a:t>GPU</a:t>
            </a:r>
            <a:r>
              <a:rPr lang="zh-CN" altLang="en-US" sz="1600" dirty="0">
                <a:latin typeface="Arial" panose="020B0604020202020204" pitchFamily="34" charset="0"/>
                <a:cs typeface="Arial" panose="020B0604020202020204" pitchFamily="34" charset="0"/>
              </a:rPr>
              <a:t>使用软件实现效率更高。</a:t>
            </a:r>
            <a:endParaRPr lang="en-US" altLang="zh-CN" sz="1600" dirty="0">
              <a:latin typeface="Arial" panose="020B0604020202020204" pitchFamily="34" charset="0"/>
              <a:cs typeface="Arial" panose="020B0604020202020204" pitchFamily="34" charset="0"/>
            </a:endParaRPr>
          </a:p>
          <a:p>
            <a:pPr>
              <a:buSzPct val="140000"/>
            </a:pPr>
            <a:endParaRPr lang="en-US" altLang="zh-CN"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419F66C-8DA7-48F6-BF35-84A0E3AA5B02}"/>
              </a:ext>
            </a:extLst>
          </p:cNvPr>
          <p:cNvPicPr>
            <a:picLocks noChangeAspect="1"/>
          </p:cNvPicPr>
          <p:nvPr/>
        </p:nvPicPr>
        <p:blipFill>
          <a:blip r:embed="rId3"/>
          <a:stretch>
            <a:fillRect/>
          </a:stretch>
        </p:blipFill>
        <p:spPr>
          <a:xfrm>
            <a:off x="107504" y="1189831"/>
            <a:ext cx="5549267" cy="3507854"/>
          </a:xfrm>
          <a:prstGeom prst="rect">
            <a:avLst/>
          </a:prstGeom>
        </p:spPr>
      </p:pic>
    </p:spTree>
    <p:extLst>
      <p:ext uri="{BB962C8B-B14F-4D97-AF65-F5344CB8AC3E}">
        <p14:creationId xmlns:p14="http://schemas.microsoft.com/office/powerpoint/2010/main" val="253323423"/>
      </p:ext>
    </p:extLst>
  </p:cSld>
  <p:clrMapOvr>
    <a:masterClrMapping/>
  </p:clrMapOvr>
</p:sld>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2476</TotalTime>
  <Words>1889</Words>
  <Application>Microsoft Office PowerPoint</Application>
  <PresentationFormat>全屏显示(16:9)</PresentationFormat>
  <Paragraphs>346</Paragraphs>
  <Slides>70</Slides>
  <Notes>50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70</vt:i4>
      </vt:variant>
    </vt:vector>
  </HeadingPairs>
  <TitlesOfParts>
    <vt:vector size="82" baseType="lpstr">
      <vt:lpstr>FZLanTingHei-R-GBK</vt:lpstr>
      <vt:lpstr>方正兰亭黑Pro_GB18030</vt:lpstr>
      <vt:lpstr>方正兰亭圆简体_准</vt:lpstr>
      <vt:lpstr>Microsoft YaHei</vt:lpstr>
      <vt:lpstr>Microsoft YaHei</vt:lpstr>
      <vt:lpstr>Arial</vt:lpstr>
      <vt:lpstr>Calibri</vt:lpstr>
      <vt:lpstr>Cambria Math</vt:lpstr>
      <vt:lpstr>Times New Roman</vt:lpstr>
      <vt:lpstr>Wingdings</vt:lpstr>
      <vt:lpstr>Office 主题</vt:lpstr>
      <vt:lpstr>自定义设计</vt:lpstr>
      <vt:lpstr>数字系统设计</vt:lpstr>
      <vt:lpstr>Review: Data Reuse</vt:lpstr>
      <vt:lpstr>Review: Data Reuse</vt:lpstr>
      <vt:lpstr>Review: Data Reuse</vt:lpstr>
      <vt:lpstr>Review: output stationary dataflow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Outlines</vt:lpstr>
      <vt:lpstr>Convolution: Multiply-and-Accumulation (MAC)</vt:lpstr>
      <vt:lpstr>Processing Element (PE) Core Design</vt:lpstr>
      <vt:lpstr>Data Reuse with Buffer (OS)</vt:lpstr>
      <vt:lpstr>Data Reuse with Buffer (WS)</vt:lpstr>
      <vt:lpstr>Fully-Connected layer Loop Nesting</vt:lpstr>
      <vt:lpstr>Convolution Layer Loop Nesting</vt:lpstr>
      <vt:lpstr>Matrix Multiply</vt:lpstr>
      <vt:lpstr>Matrix Multiply</vt:lpstr>
      <vt:lpstr>Converting Convolution to Matrix Multiply.</vt:lpstr>
      <vt:lpstr>Outlines</vt:lpstr>
      <vt:lpstr>Matrix Multiply in CPUs</vt:lpstr>
      <vt:lpstr>Source of Inefficiency in CPUs</vt:lpstr>
      <vt:lpstr>Source of Inefficiency in CPUs</vt:lpstr>
      <vt:lpstr>The Efforts from CPU Designers</vt:lpstr>
      <vt:lpstr>Outlines</vt:lpstr>
      <vt:lpstr>Inst. Decoding Logic Optimization</vt:lpstr>
      <vt:lpstr>Inst. Decoding Logic Optimization</vt:lpstr>
      <vt:lpstr>Inst. Decoding Logic Optimization</vt:lpstr>
      <vt:lpstr>Outlines</vt:lpstr>
      <vt:lpstr>Dataflow Recap</vt:lpstr>
      <vt:lpstr>Matrix Multiply Dataflow</vt:lpstr>
      <vt:lpstr>Datapath Optimization 1: Spatial-K</vt:lpstr>
      <vt:lpstr>Datapath Optimization 1: Spatial-K</vt:lpstr>
      <vt:lpstr>Datapath Optimization 2: Spatial-N</vt:lpstr>
      <vt:lpstr>Datapath Optimization 2: Spatial-N</vt:lpstr>
      <vt:lpstr>Datapath Optimization Combined: NVDLA</vt:lpstr>
      <vt:lpstr>Datapath Optimization Combined: TPU</vt:lpstr>
      <vt:lpstr>Datapath Optimization Recap</vt:lpstr>
      <vt:lpstr>Outlines</vt:lpstr>
      <vt:lpstr>Mem Opt. 1: Short-lived intermediate results </vt:lpstr>
      <vt:lpstr>Mem Opt. 2: App-specific storage size/BW</vt:lpstr>
      <vt:lpstr>Mem Opt. 3: App-specific data delivery</vt:lpstr>
      <vt:lpstr>Mem Opt. 3: App-specific data delivery</vt:lpstr>
      <vt:lpstr>Outlines</vt:lpstr>
      <vt:lpstr>Tensor Processing Unit</vt:lpstr>
      <vt:lpstr>Tensor Processing Unit: Systolic Dataflow</vt:lpstr>
      <vt:lpstr>Tensor Processing Unit: Systolic Dataflow</vt:lpstr>
      <vt:lpstr>Tensor Processing Unit: Systolic Dataflow</vt:lpstr>
      <vt:lpstr>Tensor Processing Unit: Systolic Dataflow</vt:lpstr>
      <vt:lpstr>Tensor Processing Unit: Systolic Dataflow</vt:lpstr>
      <vt:lpstr>Outlines</vt:lpstr>
      <vt:lpstr>Huawei Atlas</vt:lpstr>
      <vt:lpstr>AI Core</vt:lpstr>
      <vt:lpstr>矩阵计算单元 </vt:lpstr>
      <vt:lpstr>矩阵切块：大Z小N排列方式 </vt:lpstr>
      <vt:lpstr>指令执行与控制</vt:lpstr>
      <vt:lpstr>指令集设计</vt:lpstr>
      <vt:lpstr>卷积典型数据流</vt:lpstr>
      <vt:lpstr>Review</vt:lpstr>
      <vt:lpstr>Data Reuse with Buffer (OS)</vt:lpstr>
      <vt:lpstr>Data Reuse with Buffer (WS)</vt:lpstr>
      <vt:lpstr>Source of Inefficiency in CPUs</vt:lpstr>
      <vt:lpstr>Inst. Decoding Logic Optimization</vt:lpstr>
      <vt:lpstr>Tensor Processing Unit</vt:lpstr>
      <vt:lpstr>Huawei Atlas AI Core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Public copy</dc:creator>
  <cp:lastModifiedBy>Public copy</cp:lastModifiedBy>
  <cp:revision>606</cp:revision>
  <dcterms:created xsi:type="dcterms:W3CDTF">2021-03-02T03:13:00Z</dcterms:created>
  <dcterms:modified xsi:type="dcterms:W3CDTF">2025-03-25T04:49:34Z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2052-11.1.0.8597</vt:lpwstr>
  </property>
</Properties>
</file>