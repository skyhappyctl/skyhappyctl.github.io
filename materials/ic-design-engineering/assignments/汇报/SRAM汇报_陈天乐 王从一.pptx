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  <p:sldMasterId id="2147483668" r:id="rId4"/>
  </p:sldMasterIdLst>
  <p:notesMasterIdLst>
    <p:notesMasterId r:id="rId6"/>
  </p:notesMasterIdLst>
  <p:sldIdLst>
    <p:sldId id="264" r:id="rId5"/>
    <p:sldId id="3454" r:id="rId7"/>
    <p:sldId id="257" r:id="rId8"/>
    <p:sldId id="3455" r:id="rId9"/>
    <p:sldId id="3456" r:id="rId10"/>
    <p:sldId id="3457" r:id="rId11"/>
    <p:sldId id="3460" r:id="rId12"/>
    <p:sldId id="3461" r:id="rId13"/>
    <p:sldId id="3462" r:id="rId14"/>
    <p:sldId id="3463" r:id="rId15"/>
    <p:sldId id="3465" r:id="rId16"/>
    <p:sldId id="3464" r:id="rId17"/>
    <p:sldId id="3466" r:id="rId18"/>
    <p:sldId id="3467" r:id="rId19"/>
    <p:sldId id="3468" r:id="rId20"/>
    <p:sldId id="3469" r:id="rId21"/>
    <p:sldId id="3470" r:id="rId22"/>
    <p:sldId id="3471" r:id="rId23"/>
    <p:sldId id="3472" r:id="rId24"/>
    <p:sldId id="3473" r:id="rId25"/>
    <p:sldId id="3474" r:id="rId26"/>
    <p:sldId id="3476" r:id="rId27"/>
    <p:sldId id="3477" r:id="rId28"/>
    <p:sldId id="3475" r:id="rId29"/>
    <p:sldId id="3480" r:id="rId30"/>
    <p:sldId id="3459" r:id="rId31"/>
    <p:sldId id="3478" r:id="rId32"/>
    <p:sldId id="272" r:id="rId33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7131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7A3E880-A757-46B1-AF1E-ADCF06DEE401}" styleName="补充样式1">
    <a:wholeTbl>
      <a:tcTxStyle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dk1"/>
              </a:solidFill>
              <a:prstDash val="solid"/>
            </a:ln>
          </a:top>
          <a:bottom>
            <a:ln w="1905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dk1">
              <a:lumMod val="10001"/>
              <a:lumOff val="89999"/>
            </a:schemeClr>
          </a:solidFill>
        </a:fill>
      </a:tcStyle>
    </a:band2H>
    <a:band1V>
      <a:tcStyle>
        <a:tcBdr/>
        <a:fill>
          <a:solidFill>
            <a:schemeClr val="dk1">
              <a:lumMod val="10001"/>
              <a:lumOff val="89999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/>
        <a:fill>
          <a:solidFill>
            <a:schemeClr val="dk1">
              <a:lumMod val="20002"/>
              <a:lumOff val="79998"/>
            </a:schemeClr>
          </a:solidFill>
        </a:fill>
      </a:tcStyle>
    </a:lastCol>
    <a:firstCol>
      <a:tcTxStyle b="on">
        <a:fontRef idx="none">
          <a:schemeClr val="dk1"/>
        </a:fontRef>
      </a:tcTxStyle>
      <a:tcStyle>
        <a:tcBdr/>
        <a:fill>
          <a:solidFill>
            <a:schemeClr val="dk1">
              <a:lumMod val="20002"/>
              <a:lumOff val="79998"/>
            </a:schemeClr>
          </a:solidFill>
        </a:fill>
      </a:tcStyle>
    </a:firstCol>
    <a:lastRow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dk1"/>
              </a:solidFill>
              <a:prstDash val="solid"/>
            </a:ln>
          </a:top>
          <a:bottom>
            <a:ln w="12700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chemeClr val="dk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dk1"/>
              </a:solidFill>
              <a:prstDash val="solid"/>
            </a:ln>
          </a:top>
          <a:bottom>
            <a:ln w="9525" cmpd="sng">
              <a:solidFill>
                <a:schemeClr val="dk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7" autoAdjust="0"/>
    <p:restoredTop sz="82581" autoAdjust="0"/>
  </p:normalViewPr>
  <p:slideViewPr>
    <p:cSldViewPr snapToGrid="0">
      <p:cViewPr varScale="1">
        <p:scale>
          <a:sx n="69" d="100"/>
          <a:sy n="69" d="100"/>
        </p:scale>
        <p:origin x="100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7" Type="http://schemas.openxmlformats.org/officeDocument/2006/relationships/tags" Target="tags/tag7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CD091D-657E-43DD-8C26-DFCE5A196F4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4598A-E48E-41FB-89E7-DFCE3B71CBB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7713"/>
            <a:ext cx="6654800" cy="3743325"/>
          </a:xfrm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D5B272CD-D416-4742-96E0-E58BCAA92DE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7713"/>
            <a:ext cx="6654800" cy="3743325"/>
          </a:xfrm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>
            <a:miter lim="800000"/>
          </a:ln>
        </p:spPr>
        <p:txBody>
          <a:bodyPr/>
          <a:lstStyle/>
          <a:p>
            <a:fld id="{D5B272CD-D416-4742-96E0-E58BCAA92DE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hyperlink" Target="https://www.ime.tsinghua.edu.cn/index.htm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hyperlink" Target="https://www.ime.tsinghua.edu.cn/index.htm" TargetMode="Externa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hyperlink" Target="https://www.ime.tsinghua.edu.cn/index.htm" TargetMode="Externa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hyperlink" Target="https://www.ime.tsinghua.edu.cn/index.htm" TargetMode="Externa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51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071664" y="6300000"/>
            <a:ext cx="6048672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555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04672" y="6300000"/>
            <a:ext cx="2540000" cy="4572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defRPr kumimoji="0" sz="1400" b="1">
                <a:solidFill>
                  <a:schemeClr val="bg2"/>
                </a:solidFill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4547" name="Rectangle 35"/>
          <p:cNvSpPr>
            <a:spLocks noChangeArrowheads="1"/>
          </p:cNvSpPr>
          <p:nvPr userDrawn="1"/>
        </p:nvSpPr>
        <p:spPr bwMode="auto">
          <a:xfrm flipV="1">
            <a:off x="0" y="1036638"/>
            <a:ext cx="12192000" cy="69850"/>
          </a:xfrm>
          <a:prstGeom prst="rect">
            <a:avLst/>
          </a:prstGeom>
          <a:gradFill rotWithShape="1">
            <a:gsLst>
              <a:gs pos="0">
                <a:srgbClr val="660066"/>
              </a:gs>
              <a:gs pos="100000">
                <a:srgbClr val="660066">
                  <a:gamma/>
                  <a:tint val="47451"/>
                  <a:invGamma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 sz="1800"/>
          </a:p>
        </p:txBody>
      </p:sp>
      <p:pic>
        <p:nvPicPr>
          <p:cNvPr id="1026" name="Picture 2" descr="https://www.ime.tsinghua.edu.cn/pic/dz_enlogo.png">
            <a:hlinkClick r:id="rId2" tooltip="集成电路学院"/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9000"/>
                    </a14:imgEffect>
                    <a14:imgEffect>
                      <a14:saturation sat="0"/>
                    </a14:imgEffect>
                    <a14:imgEffect>
                      <a14:sharpenSoften amoun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" y="260648"/>
            <a:ext cx="343852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47" name="Rectangle 35"/>
          <p:cNvSpPr>
            <a:spLocks noChangeArrowheads="1"/>
          </p:cNvSpPr>
          <p:nvPr userDrawn="1"/>
        </p:nvSpPr>
        <p:spPr bwMode="auto">
          <a:xfrm flipV="1">
            <a:off x="0" y="1036638"/>
            <a:ext cx="12192000" cy="69850"/>
          </a:xfrm>
          <a:prstGeom prst="rect">
            <a:avLst/>
          </a:prstGeom>
          <a:gradFill rotWithShape="1">
            <a:gsLst>
              <a:gs pos="0">
                <a:srgbClr val="660066"/>
              </a:gs>
              <a:gs pos="100000">
                <a:srgbClr val="660066">
                  <a:gamma/>
                  <a:tint val="47451"/>
                  <a:invGamma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 sz="1800"/>
          </a:p>
        </p:txBody>
      </p:sp>
      <p:pic>
        <p:nvPicPr>
          <p:cNvPr id="1026" name="Picture 2" descr="https://www.ime.tsinghua.edu.cn/pic/dz_enlogo.png">
            <a:hlinkClick r:id="rId2" tooltip="集成电路学院"/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9000"/>
                    </a14:imgEffect>
                    <a14:imgEffect>
                      <a14:saturation sat="0"/>
                    </a14:imgEffect>
                    <a14:imgEffect>
                      <a14:sharpenSoften amoun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" y="260648"/>
            <a:ext cx="343852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 userDrawn="1"/>
        </p:nvSpPr>
        <p:spPr bwMode="auto">
          <a:xfrm>
            <a:off x="0" y="6289575"/>
            <a:ext cx="12192000" cy="307777"/>
          </a:xfrm>
          <a:prstGeom prst="rect">
            <a:avLst/>
          </a:prstGeom>
          <a:solidFill>
            <a:srgbClr val="8F458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1" lang="en-US" altLang="zh-CN" sz="1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kumimoji="1" lang="zh-CN" altLang="en-US" sz="1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黑体" panose="02010609060101010101" pitchFamily="49" charset="-122"/>
                <a:ea typeface="黑体" panose="02010609060101010101" pitchFamily="49" charset="-122"/>
              </a:rPr>
              <a:t>杨启泽                                                                                                       清华大学集成电路学院</a:t>
            </a:r>
            <a:endParaRPr kumimoji="1" lang="zh-CN" altLang="en-US" sz="1400" b="1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矩形 7"/>
          <p:cNvSpPr/>
          <p:nvPr userDrawn="1"/>
        </p:nvSpPr>
        <p:spPr bwMode="auto">
          <a:xfrm>
            <a:off x="0" y="6570751"/>
            <a:ext cx="12192000" cy="307777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ctr" anchorCtr="0" compatLnSpc="1">
            <a:sp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1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    </a:t>
            </a:r>
            <a:r>
              <a: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面向晶圆级映射的多层次通信模型研究                                                                                                                                </a:t>
            </a:r>
            <a:r>
              <a:rPr lang="en-US" altLang="zh-CN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‹#›</a:t>
            </a:r>
            <a:endParaRPr kumimoji="1" lang="zh-CN" altLang="en-US" sz="1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51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071664" y="6300000"/>
            <a:ext cx="6048672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555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04672" y="6300000"/>
            <a:ext cx="2540000" cy="4572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defRPr kumimoji="0" sz="1400" b="1">
                <a:solidFill>
                  <a:schemeClr val="bg2"/>
                </a:solidFill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4547" name="Rectangle 35"/>
          <p:cNvSpPr>
            <a:spLocks noChangeArrowheads="1"/>
          </p:cNvSpPr>
          <p:nvPr userDrawn="1"/>
        </p:nvSpPr>
        <p:spPr bwMode="auto">
          <a:xfrm flipV="1">
            <a:off x="0" y="1036638"/>
            <a:ext cx="12192000" cy="69850"/>
          </a:xfrm>
          <a:prstGeom prst="rect">
            <a:avLst/>
          </a:prstGeom>
          <a:gradFill rotWithShape="1">
            <a:gsLst>
              <a:gs pos="0">
                <a:srgbClr val="660066"/>
              </a:gs>
              <a:gs pos="100000">
                <a:srgbClr val="660066">
                  <a:gamma/>
                  <a:tint val="47451"/>
                  <a:invGamma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 sz="1800"/>
          </a:p>
        </p:txBody>
      </p:sp>
      <p:pic>
        <p:nvPicPr>
          <p:cNvPr id="1026" name="Picture 2" descr="https://www.ime.tsinghua.edu.cn/pic/dz_enlogo.png">
            <a:hlinkClick r:id="rId2" tooltip="集成电路学院"/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9000"/>
                    </a14:imgEffect>
                    <a14:imgEffect>
                      <a14:saturation sat="0"/>
                    </a14:imgEffect>
                    <a14:imgEffect>
                      <a14:sharpenSoften amoun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" y="260648"/>
            <a:ext cx="343852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圆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0361" y="188640"/>
            <a:ext cx="10972800" cy="778098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35360" y="1192065"/>
            <a:ext cx="11684000" cy="5107936"/>
          </a:xfrm>
        </p:spPr>
        <p:txBody>
          <a:bodyPr>
            <a:normAutofit/>
          </a:bodyPr>
          <a:lstStyle>
            <a:lvl1pPr marL="342900" indent="-342900">
              <a:buClr>
                <a:srgbClr val="000000"/>
              </a:buClr>
              <a:buSzPct val="100000"/>
              <a:buFont typeface="Wingdings" panose="05000000000000000000" pitchFamily="2" charset="2"/>
              <a:buChar char="l"/>
              <a:defRPr sz="2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indent="-457200">
              <a:buClr>
                <a:srgbClr val="000000"/>
              </a:buClr>
              <a:buFont typeface="+mj-lt"/>
              <a:buAutoNum type="arabicPeriod"/>
              <a:defRPr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 typeface="Wingdings" panose="05000000000000000000" charset="0"/>
              <a:buNone/>
              <a:defRPr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Wingdings" panose="05000000000000000000" charset="0"/>
              <a:buChar char=""/>
              <a:defRPr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buFont typeface="Wingdings" panose="05000000000000000000" charset="0"/>
              <a:buChar char=""/>
              <a:defRPr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 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80376" y="6300000"/>
            <a:ext cx="2540000" cy="4572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defRPr kumimoji="0" sz="1600" b="1">
                <a:solidFill>
                  <a:schemeClr val="bg2"/>
                </a:solidFill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方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40361" y="188640"/>
            <a:ext cx="10972800" cy="778098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335360" y="1192065"/>
            <a:ext cx="11684000" cy="5107936"/>
          </a:xfrm>
        </p:spPr>
        <p:txBody>
          <a:bodyPr>
            <a:normAutofit/>
          </a:bodyPr>
          <a:lstStyle>
            <a:lvl1pPr marL="342900" indent="-342900">
              <a:buClr>
                <a:srgbClr val="000000"/>
              </a:buClr>
              <a:buSzPct val="100000"/>
              <a:buFont typeface="Wingdings" panose="05000000000000000000" pitchFamily="2" charset="2"/>
              <a:buChar char="n"/>
              <a:defRPr sz="2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914400" indent="-457200">
              <a:buClr>
                <a:srgbClr val="000000"/>
              </a:buClr>
              <a:buFont typeface="Wingdings" panose="05000000000000000000" pitchFamily="2" charset="2"/>
              <a:buChar char="l"/>
              <a:defRPr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 typeface="Wingdings" panose="05000000000000000000" charset="0"/>
              <a:buNone/>
              <a:defRPr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Wingdings" panose="05000000000000000000" charset="0"/>
              <a:buChar char=""/>
              <a:defRPr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buFont typeface="Wingdings" panose="05000000000000000000" charset="0"/>
              <a:buChar char=""/>
              <a:defRPr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 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80376" y="6300000"/>
            <a:ext cx="2540000" cy="4572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defRPr kumimoji="0" sz="1600" b="1">
                <a:solidFill>
                  <a:schemeClr val="bg2"/>
                </a:solidFill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箭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>
            <a:spLocks noGrp="1"/>
          </p:cNvSpPr>
          <p:nvPr>
            <p:ph type="title"/>
          </p:nvPr>
        </p:nvSpPr>
        <p:spPr>
          <a:xfrm>
            <a:off x="240361" y="188640"/>
            <a:ext cx="10972800" cy="778098"/>
          </a:xfrm>
          <a:prstGeom prst="rect">
            <a:avLst/>
          </a:prstGeom>
        </p:spPr>
        <p:txBody>
          <a:bodyPr anchor="ctr"/>
          <a:lstStyle>
            <a:lvl1pPr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2"/>
          <p:cNvSpPr>
            <a:spLocks noGrp="1"/>
          </p:cNvSpPr>
          <p:nvPr>
            <p:ph idx="1" hasCustomPrompt="1"/>
          </p:nvPr>
        </p:nvSpPr>
        <p:spPr>
          <a:xfrm>
            <a:off x="335360" y="1192065"/>
            <a:ext cx="11684000" cy="5107936"/>
          </a:xfrm>
        </p:spPr>
        <p:txBody>
          <a:bodyPr>
            <a:normAutofit/>
          </a:bodyPr>
          <a:lstStyle>
            <a:lvl1pPr marL="342900" indent="-342900"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defRPr sz="2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800100" indent="-342900">
              <a:buClr>
                <a:srgbClr val="000000"/>
              </a:buClr>
              <a:buFont typeface="Wingdings" panose="05000000000000000000" pitchFamily="2" charset="2"/>
              <a:buChar char="p"/>
              <a:defRPr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914400" indent="0">
              <a:buFont typeface="Wingdings" panose="05000000000000000000" charset="0"/>
              <a:buNone/>
              <a:defRPr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buFont typeface="Wingdings" panose="05000000000000000000" charset="0"/>
              <a:buChar char=""/>
              <a:defRPr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buFont typeface="Wingdings" panose="05000000000000000000" charset="0"/>
              <a:buChar char=""/>
              <a:defRPr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 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552384" y="6300001"/>
            <a:ext cx="2540000" cy="4572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defRPr kumimoji="0" sz="1600" b="1">
                <a:solidFill>
                  <a:schemeClr val="bg2"/>
                </a:solidFill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51" name="Rectangle 15"/>
          <p:cNvSpPr>
            <a:spLocks noGrp="1" noChangeArrowheads="1"/>
          </p:cNvSpPr>
          <p:nvPr>
            <p:ph type="ftr" sz="quarter" idx="3"/>
          </p:nvPr>
        </p:nvSpPr>
        <p:spPr>
          <a:xfrm>
            <a:off x="3071664" y="6300000"/>
            <a:ext cx="6048672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555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604672" y="6300000"/>
            <a:ext cx="2540000" cy="457200"/>
          </a:xfrm>
          <a:prstGeom prst="rect">
            <a:avLst/>
          </a:prstGeom>
          <a:noFill/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defRPr kumimoji="0" sz="1400" b="1">
                <a:solidFill>
                  <a:schemeClr val="bg2"/>
                </a:solidFill>
                <a:latin typeface="+mn-lt"/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64547" name="Rectangle 35"/>
          <p:cNvSpPr>
            <a:spLocks noChangeArrowheads="1"/>
          </p:cNvSpPr>
          <p:nvPr userDrawn="1"/>
        </p:nvSpPr>
        <p:spPr bwMode="auto">
          <a:xfrm flipV="1">
            <a:off x="0" y="1036638"/>
            <a:ext cx="12192000" cy="69850"/>
          </a:xfrm>
          <a:prstGeom prst="rect">
            <a:avLst/>
          </a:prstGeom>
          <a:gradFill rotWithShape="1">
            <a:gsLst>
              <a:gs pos="0">
                <a:srgbClr val="660066"/>
              </a:gs>
              <a:gs pos="100000">
                <a:srgbClr val="660066">
                  <a:gamma/>
                  <a:tint val="47451"/>
                  <a:invGamma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 sz="1800"/>
          </a:p>
        </p:txBody>
      </p:sp>
      <p:pic>
        <p:nvPicPr>
          <p:cNvPr id="1026" name="Picture 2" descr="https://www.ime.tsinghua.edu.cn/pic/dz_enlogo.png">
            <a:hlinkClick r:id="rId2" tooltip="集成电路学院"/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9000"/>
                    </a14:imgEffect>
                    <a14:imgEffect>
                      <a14:saturation sat="0"/>
                    </a14:imgEffect>
                    <a14:imgEffect>
                      <a14:sharpenSoften amount="-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44" y="260648"/>
            <a:ext cx="3438525" cy="60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0.xml"/><Relationship Id="rId14" Type="http://schemas.openxmlformats.org/officeDocument/2006/relationships/theme" Target="../theme/theme3.xml"/><Relationship Id="rId13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8.xml"/><Relationship Id="rId1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22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143001"/>
            <a:ext cx="11684000" cy="53054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  <p:sp>
        <p:nvSpPr>
          <p:cNvPr id="64547" name="Rectangle 35"/>
          <p:cNvSpPr>
            <a:spLocks noChangeArrowheads="1"/>
          </p:cNvSpPr>
          <p:nvPr/>
        </p:nvSpPr>
        <p:spPr bwMode="auto">
          <a:xfrm flipV="1">
            <a:off x="0" y="1036638"/>
            <a:ext cx="12192000" cy="69850"/>
          </a:xfrm>
          <a:prstGeom prst="rect">
            <a:avLst/>
          </a:prstGeom>
          <a:gradFill rotWithShape="1">
            <a:gsLst>
              <a:gs pos="0">
                <a:srgbClr val="660066"/>
              </a:gs>
              <a:gs pos="100000">
                <a:srgbClr val="660066">
                  <a:gamma/>
                  <a:tint val="47451"/>
                  <a:invGamma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zh-CN" altLang="en-US" sz="1800"/>
          </a:p>
        </p:txBody>
      </p:sp>
      <p:sp>
        <p:nvSpPr>
          <p:cNvPr id="64549" name="Text Box 37"/>
          <p:cNvSpPr txBox="1">
            <a:spLocks noChangeArrowheads="1"/>
          </p:cNvSpPr>
          <p:nvPr/>
        </p:nvSpPr>
        <p:spPr bwMode="auto">
          <a:xfrm>
            <a:off x="334433" y="260351"/>
            <a:ext cx="8544984" cy="70167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b">
            <a:spAutoFit/>
          </a:bodyPr>
          <a:lstStyle/>
          <a:p>
            <a:pPr algn="l" eaLnBrk="1" hangingPunct="1">
              <a:spcBef>
                <a:spcPct val="0"/>
              </a:spcBef>
            </a:pPr>
            <a:endParaRPr lang="zh-CN" altLang="en-US" sz="4000">
              <a:solidFill>
                <a:schemeClr val="bg1"/>
              </a:solidFill>
              <a:latin typeface="Tahoma" panose="020B0604030504040204" pitchFamily="34" charset="0"/>
              <a:ea typeface="黑体" panose="02010609060101010101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>
          <a:solidFill>
            <a:schemeClr val="accent2"/>
          </a:solidFill>
          <a:latin typeface="Tahoma" panose="020B0604030504040204" pitchFamily="34" charset="0"/>
          <a:ea typeface="黑体" panose="02010609060101010101" pitchFamily="49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>
          <a:solidFill>
            <a:schemeClr val="accent2"/>
          </a:solidFill>
          <a:latin typeface="Tahoma" panose="020B0604030504040204" pitchFamily="34" charset="0"/>
          <a:ea typeface="黑体" panose="02010609060101010101" pitchFamily="49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>
          <a:solidFill>
            <a:schemeClr val="accent2"/>
          </a:solidFill>
          <a:latin typeface="Tahoma" panose="020B0604030504040204" pitchFamily="34" charset="0"/>
          <a:ea typeface="黑体" panose="02010609060101010101" pitchFamily="49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>
          <a:solidFill>
            <a:schemeClr val="accent2"/>
          </a:solidFill>
          <a:latin typeface="Tahoma" panose="020B060403050404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>
          <a:solidFill>
            <a:schemeClr val="accent2"/>
          </a:solidFill>
          <a:latin typeface="Tahoma" panose="020B0604030504040204" pitchFamily="34" charset="0"/>
          <a:ea typeface="黑体" panose="02010609060101010101" pitchFamily="49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>
          <a:solidFill>
            <a:schemeClr val="accent2"/>
          </a:solidFill>
          <a:latin typeface="Tahoma" panose="020B0604030504040204" pitchFamily="34" charset="0"/>
          <a:ea typeface="黑体" panose="02010609060101010101" pitchFamily="49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>
          <a:solidFill>
            <a:schemeClr val="accent2"/>
          </a:solidFill>
          <a:latin typeface="Tahoma" panose="020B0604030504040204" pitchFamily="34" charset="0"/>
          <a:ea typeface="黑体" panose="02010609060101010101" pitchFamily="49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>
          <a:solidFill>
            <a:schemeClr val="accent2"/>
          </a:solidFill>
          <a:latin typeface="Tahoma" panose="020B060403050404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rgbClr val="990099"/>
        </a:buClr>
        <a:buSzPct val="70000"/>
        <a:buFont typeface="Wingdings" panose="05000000000000000000" pitchFamily="2" charset="2"/>
        <a:buChar char="n"/>
        <a:defRPr kumimoji="1" sz="28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rgbClr val="3333CC"/>
        </a:buClr>
        <a:buSzPct val="80000"/>
        <a:buFont typeface="Wingdings" panose="05000000000000000000" pitchFamily="2" charset="2"/>
        <a:buChar char="Ø"/>
        <a:defRPr kumimoji="1" sz="24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1143000" indent="-228600" algn="l" rtl="0" eaLnBrk="1" fontAlgn="base" hangingPunct="1">
        <a:lnSpc>
          <a:spcPct val="150000"/>
        </a:lnSpc>
        <a:spcBef>
          <a:spcPct val="20000"/>
        </a:spcBef>
        <a:spcAft>
          <a:spcPct val="0"/>
        </a:spcAft>
        <a:buClr>
          <a:srgbClr val="990099"/>
        </a:buClr>
        <a:buSzPct val="85000"/>
        <a:buFont typeface="Wingdings" panose="05000000000000000000" pitchFamily="2" charset="2"/>
        <a:buChar char="ü"/>
        <a:defRPr kumimoji="1" sz="2000" b="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1600" b="1">
          <a:solidFill>
            <a:schemeClr val="folHlink"/>
          </a:solidFill>
          <a:latin typeface="+mn-lt"/>
          <a:ea typeface="+mn-ea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defRPr kumimoji="1" sz="1600" b="1">
          <a:solidFill>
            <a:schemeClr val="folHlink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defRPr kumimoji="1" sz="1600" b="1">
          <a:solidFill>
            <a:schemeClr val="folHlink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defRPr kumimoji="1" sz="1600" b="1">
          <a:solidFill>
            <a:schemeClr val="folHlink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defRPr kumimoji="1" sz="1600" b="1">
          <a:solidFill>
            <a:schemeClr val="folHlink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defRPr kumimoji="1" sz="1600" b="1">
          <a:solidFill>
            <a:schemeClr val="folHlink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970F96-886F-4B33-9FCB-FB562595274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6A297-C2DD-40D9-94FD-F423F087154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0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tags" Target="../tags/tag3.xml"/><Relationship Id="rId2" Type="http://schemas.openxmlformats.org/officeDocument/2006/relationships/image" Target="../media/image6.png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9.png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10.png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tags" Target="../tags/tag6.xml"/><Relationship Id="rId1" Type="http://schemas.openxmlformats.org/officeDocument/2006/relationships/image" Target="../media/image4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43.png"/><Relationship Id="rId1" Type="http://schemas.openxmlformats.org/officeDocument/2006/relationships/image" Target="../media/image4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image" Target="../media/image46.png"/><Relationship Id="rId1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0.xml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5719" y="1090614"/>
            <a:ext cx="12120562" cy="4968875"/>
          </a:xfrm>
          <a:prstGeom prst="rect">
            <a:avLst/>
          </a:prstGeom>
        </p:spPr>
        <p:txBody>
          <a:bodyPr/>
          <a:lstStyle/>
          <a:p>
            <a:pPr algn="ctr" latinLnBrk="0">
              <a:lnSpc>
                <a:spcPct val="120000"/>
              </a:lnSpc>
            </a:pPr>
            <a:r>
              <a:rPr lang="zh-CN" altLang="en-US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集成电路设计工程</a:t>
            </a:r>
            <a:br>
              <a:rPr lang="en-US" altLang="zh-CN" sz="4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</a:br>
            <a:r>
              <a:rPr lang="en-US" altLang="zh-CN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SRAM</a:t>
            </a:r>
            <a:r>
              <a:rPr lang="zh-CN" altLang="en-US" sz="3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设计汇报</a:t>
            </a:r>
            <a:br>
              <a:rPr lang="en-US" altLang="zh-CN" sz="6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</a:b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·x</a:t>
            </a:r>
            <a:br>
              <a:rPr lang="en-US" altLang="zh-CN" sz="65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</a:b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陈天乐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 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王从一</a:t>
            </a:r>
            <a:br>
              <a:rPr lang="en-US" altLang="zh-CN" sz="5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</a:b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2025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年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12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月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30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日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汇报内容目录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1/11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内容占位符 2"/>
          <p:cNvSpPr>
            <a:spLocks noGrp="1"/>
          </p:cNvSpPr>
          <p:nvPr>
            <p:ph idx="1"/>
          </p:nvPr>
        </p:nvSpPr>
        <p:spPr>
          <a:xfrm>
            <a:off x="254000" y="1104672"/>
            <a:ext cx="11684000" cy="5107936"/>
          </a:xfrm>
        </p:spPr>
        <p:txBody>
          <a:bodyPr>
            <a:normAutofit fontScale="90000"/>
          </a:bodyPr>
          <a:lstStyle/>
          <a:p>
            <a:pPr marL="514350" indent="-51435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模块电路设计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版图绘制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模块功能前、后仿结果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>
              <a:lnSpc>
                <a:spcPct val="200000"/>
              </a:lnSpc>
              <a:buFont typeface="+mj-ea"/>
              <a:buAutoNum type="circleNumDbPlain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SRAM cell SNM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仿真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>
              <a:lnSpc>
                <a:spcPct val="200000"/>
              </a:lnSpc>
              <a:buFont typeface="+mj-ea"/>
              <a:buAutoNum type="circleNumDbPlain"/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SRAM 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顶层模块仿真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工作反思与总结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>
              <a:lnSpc>
                <a:spcPct val="200000"/>
              </a:lnSpc>
              <a:buFont typeface="+mj-ea"/>
              <a:buAutoNum type="circleNumDbPlain"/>
            </a:pP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具体分工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514350" indent="-514350">
              <a:lnSpc>
                <a:spcPct val="200000"/>
              </a:lnSpc>
              <a:buFont typeface="+mj-ea"/>
              <a:buAutoNum type="circleNumDbPlain"/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模块电路设计：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cell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2/28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7108825" y="1397000"/>
          <a:ext cx="4649470" cy="2385060"/>
        </p:xfrm>
        <a:graphic>
          <a:graphicData uri="http://schemas.openxmlformats.org/drawingml/2006/table">
            <a:tbl>
              <a:tblPr firstRow="1">
                <a:tableStyleId>{F7A3E880-A757-46B1-AF1E-ADCF06DEE401}</a:tableStyleId>
              </a:tblPr>
              <a:tblGrid>
                <a:gridCol w="2324735"/>
                <a:gridCol w="2324735"/>
              </a:tblGrid>
              <a:tr h="39751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6T SRAM </a:t>
                      </a:r>
                      <a:r>
                        <a:rPr lang="en-US" altLang="zh-CN" b="1"/>
                        <a:t>cell</a:t>
                      </a:r>
                      <a:endParaRPr lang="en-US" altLang="zh-CN" b="1"/>
                    </a:p>
                  </a:txBody>
                  <a:tcPr anchor="ctr" anchorCtr="0">
                    <a:noFill/>
                  </a:tcPr>
                </a:tc>
                <a:tc hMerge="1"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晶体管类型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尺寸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PMOS</a:t>
                      </a:r>
                      <a:r>
                        <a:rPr lang="zh-CN" altLang="en-US" b="1"/>
                        <a:t>（上拉网络）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60</a:t>
                      </a:r>
                      <a:r>
                        <a:rPr lang="en-US" altLang="zh-CN" b="1"/>
                        <a:t>n/300n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NMOS</a:t>
                      </a:r>
                      <a:r>
                        <a:rPr lang="zh-CN" altLang="en-US" b="1"/>
                        <a:t>（下拉</a:t>
                      </a:r>
                      <a:r>
                        <a:rPr lang="zh-CN" altLang="en-US" b="1"/>
                        <a:t>网络）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60n/450n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NMOS</a:t>
                      </a:r>
                      <a:r>
                        <a:rPr lang="zh-CN" altLang="en-US" b="1"/>
                        <a:t>（传输</a:t>
                      </a:r>
                      <a:r>
                        <a:rPr lang="zh-CN" altLang="en-US" b="1"/>
                        <a:t>管）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60n/300n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PMOS </a:t>
                      </a:r>
                      <a:r>
                        <a:rPr lang="zh-CN" altLang="en-US" b="1"/>
                        <a:t>（</a:t>
                      </a:r>
                      <a:r>
                        <a:rPr lang="en-US" altLang="zh-CN" b="1"/>
                        <a:t>DUMMY</a:t>
                      </a:r>
                      <a:r>
                        <a:rPr lang="zh-CN" altLang="en-US" b="1"/>
                        <a:t>管）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60n/300n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rcRect l="8202" t="22816" r="11114" b="12496"/>
          <a:stretch>
            <a:fillRect/>
          </a:stretch>
        </p:blipFill>
        <p:spPr>
          <a:xfrm>
            <a:off x="210185" y="1397000"/>
            <a:ext cx="6633210" cy="426339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680" y="4042410"/>
            <a:ext cx="2139950" cy="146558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7865" y="4042410"/>
            <a:ext cx="2279015" cy="14655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模块电路设计：三八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3/28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7108825" y="1809115"/>
          <a:ext cx="4649470" cy="1619885"/>
        </p:xfrm>
        <a:graphic>
          <a:graphicData uri="http://schemas.openxmlformats.org/drawingml/2006/table">
            <a:tbl>
              <a:tblPr firstRow="1">
                <a:tableStyleId>{F7A3E880-A757-46B1-AF1E-ADCF06DEE401}</a:tableStyleId>
              </a:tblPr>
              <a:tblGrid>
                <a:gridCol w="2324735"/>
                <a:gridCol w="2324735"/>
              </a:tblGrid>
              <a:tr h="42735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非门</a:t>
                      </a:r>
                      <a:endParaRPr lang="zh-CN" altLang="en-US" b="1"/>
                    </a:p>
                  </a:txBody>
                  <a:tcPr anchor="ctr" anchorCtr="0">
                    <a:noFill/>
                  </a:tcPr>
                </a:tc>
                <a:tc hMerge="1"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晶体管类型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尺寸（</a:t>
                      </a:r>
                      <a:r>
                        <a:rPr lang="en-US" altLang="zh-CN" b="1"/>
                        <a:t>W/L</a:t>
                      </a:r>
                      <a:r>
                        <a:rPr lang="zh-CN" altLang="en-US" b="1"/>
                        <a:t>）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PMOS</a:t>
                      </a:r>
                      <a:r>
                        <a:rPr lang="zh-CN" altLang="en-US" b="1"/>
                        <a:t>（上拉网络）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800n/60n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NMOS</a:t>
                      </a:r>
                      <a:r>
                        <a:rPr lang="zh-CN" altLang="en-US" b="1"/>
                        <a:t>（下拉</a:t>
                      </a:r>
                      <a:r>
                        <a:rPr lang="zh-CN" altLang="en-US" b="1"/>
                        <a:t>网络）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400n/60n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40" y="1629410"/>
            <a:ext cx="3644265" cy="4473575"/>
          </a:xfrm>
          <a:prstGeom prst="rect">
            <a:avLst/>
          </a:prstGeom>
        </p:spPr>
      </p:pic>
      <p:graphicFrame>
        <p:nvGraphicFramePr>
          <p:cNvPr id="11" name="表格 10"/>
          <p:cNvGraphicFramePr/>
          <p:nvPr>
            <p:custDataLst>
              <p:tags r:id="rId3"/>
            </p:custDataLst>
          </p:nvPr>
        </p:nvGraphicFramePr>
        <p:xfrm>
          <a:off x="7108825" y="4161790"/>
          <a:ext cx="4649470" cy="2405380"/>
        </p:xfrm>
        <a:graphic>
          <a:graphicData uri="http://schemas.openxmlformats.org/drawingml/2006/table">
            <a:tbl>
              <a:tblPr firstRow="1">
                <a:tableStyleId>{F7A3E880-A757-46B1-AF1E-ADCF06DEE401}</a:tableStyleId>
              </a:tblPr>
              <a:tblGrid>
                <a:gridCol w="2324735"/>
                <a:gridCol w="2324735"/>
              </a:tblGrid>
              <a:tr h="41783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四</a:t>
                      </a:r>
                      <a:r>
                        <a:rPr lang="zh-CN" altLang="en-US" b="1"/>
                        <a:t>输入与</a:t>
                      </a:r>
                      <a:r>
                        <a:rPr lang="zh-CN" altLang="en-US" b="1"/>
                        <a:t>非门</a:t>
                      </a:r>
                      <a:endParaRPr lang="zh-CN" altLang="en-US" b="1"/>
                    </a:p>
                  </a:txBody>
                  <a:tcPr anchor="ctr" anchorCtr="0">
                    <a:noFill/>
                  </a:tcPr>
                </a:tc>
                <a:tc hMerge="1"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晶体管类型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尺寸（</a:t>
                      </a:r>
                      <a:r>
                        <a:rPr lang="en-US" altLang="zh-CN" b="1"/>
                        <a:t>W/L</a:t>
                      </a:r>
                      <a:r>
                        <a:rPr lang="zh-CN" altLang="en-US" b="1"/>
                        <a:t>）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PMOS</a:t>
                      </a:r>
                      <a:r>
                        <a:rPr lang="zh-CN" altLang="en-US" b="1"/>
                        <a:t>（上拉网络）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200n/60n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NMOS</a:t>
                      </a:r>
                      <a:r>
                        <a:rPr lang="zh-CN" altLang="en-US" b="1"/>
                        <a:t>（下拉</a:t>
                      </a:r>
                      <a:r>
                        <a:rPr lang="zh-CN" altLang="en-US" b="1"/>
                        <a:t>网络）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400n/60n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2410" y="1629410"/>
            <a:ext cx="2872740" cy="218059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2410" y="3831590"/>
            <a:ext cx="2873375" cy="2270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模块电路设计：电压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模灵敏放大器（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VMSA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4/28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7108825" y="1517015"/>
          <a:ext cx="4649470" cy="2812415"/>
        </p:xfrm>
        <a:graphic>
          <a:graphicData uri="http://schemas.openxmlformats.org/drawingml/2006/table">
            <a:tbl>
              <a:tblPr firstRow="1">
                <a:tableStyleId>{F7A3E880-A757-46B1-AF1E-ADCF06DEE401}</a:tableStyleId>
              </a:tblPr>
              <a:tblGrid>
                <a:gridCol w="2324735"/>
                <a:gridCol w="2324735"/>
              </a:tblGrid>
              <a:tr h="42735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VMSA</a:t>
                      </a:r>
                      <a:endParaRPr lang="en-US" altLang="zh-CN" b="1"/>
                    </a:p>
                  </a:txBody>
                  <a:tcPr anchor="ctr" anchorCtr="0">
                    <a:noFill/>
                  </a:tcPr>
                </a:tc>
                <a:tc hMerge="1"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晶体管类型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尺寸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PMOS</a:t>
                      </a:r>
                      <a:r>
                        <a:rPr lang="zh-CN" altLang="en-US" b="1"/>
                        <a:t>（上拉网络）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60</a:t>
                      </a:r>
                      <a:r>
                        <a:rPr lang="en-US" altLang="zh-CN" b="1"/>
                        <a:t>n/800n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NMOS</a:t>
                      </a:r>
                      <a:r>
                        <a:rPr lang="zh-CN" altLang="en-US" b="1"/>
                        <a:t>（下拉</a:t>
                      </a:r>
                      <a:r>
                        <a:rPr lang="zh-CN" altLang="en-US" b="1"/>
                        <a:t>网络）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60n/400n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NMOS</a:t>
                      </a:r>
                      <a:r>
                        <a:rPr lang="zh-CN" altLang="en-US" b="1"/>
                        <a:t>（放电</a:t>
                      </a:r>
                      <a:r>
                        <a:rPr lang="zh-CN" altLang="en-US" b="1"/>
                        <a:t>管）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60n/400n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NMOS</a:t>
                      </a:r>
                      <a:r>
                        <a:rPr lang="zh-CN" altLang="en-US" b="1"/>
                        <a:t>（尾电流</a:t>
                      </a:r>
                      <a:r>
                        <a:rPr lang="zh-CN" altLang="en-US" b="1"/>
                        <a:t>管）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60n/400n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NMOS</a:t>
                      </a:r>
                      <a:r>
                        <a:rPr lang="zh-CN" altLang="en-US" b="1"/>
                        <a:t>（</a:t>
                      </a:r>
                      <a:r>
                        <a:rPr lang="en-US" altLang="zh-CN" b="1"/>
                        <a:t>DUMMY</a:t>
                      </a:r>
                      <a:r>
                        <a:rPr lang="zh-CN" altLang="en-US" b="1"/>
                        <a:t>管）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60n/400n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rcRect l="21971" t="16842" r="15472" b="13171"/>
          <a:stretch>
            <a:fillRect/>
          </a:stretch>
        </p:blipFill>
        <p:spPr>
          <a:xfrm>
            <a:off x="161290" y="1517015"/>
            <a:ext cx="6760210" cy="4356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模块电路设计：传输门（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TG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5/28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9" name="表格 8"/>
          <p:cNvGraphicFramePr/>
          <p:nvPr>
            <p:custDataLst>
              <p:tags r:id="rId1"/>
            </p:custDataLst>
          </p:nvPr>
        </p:nvGraphicFramePr>
        <p:xfrm>
          <a:off x="6826250" y="2305050"/>
          <a:ext cx="4649470" cy="2812415"/>
        </p:xfrm>
        <a:graphic>
          <a:graphicData uri="http://schemas.openxmlformats.org/drawingml/2006/table">
            <a:tbl>
              <a:tblPr firstRow="1">
                <a:tableStyleId>{F7A3E880-A757-46B1-AF1E-ADCF06DEE401}</a:tableStyleId>
              </a:tblPr>
              <a:tblGrid>
                <a:gridCol w="2324735"/>
                <a:gridCol w="2324735"/>
              </a:tblGrid>
              <a:tr h="42735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传输门（</a:t>
                      </a:r>
                      <a:r>
                        <a:rPr lang="en-US" altLang="zh-CN" b="1"/>
                        <a:t>TG</a:t>
                      </a:r>
                      <a:r>
                        <a:rPr lang="zh-CN" altLang="en-US" b="1"/>
                        <a:t>）</a:t>
                      </a:r>
                      <a:endParaRPr lang="zh-CN" altLang="en-US" b="1"/>
                    </a:p>
                  </a:txBody>
                  <a:tcPr anchor="ctr" anchorCtr="0">
                    <a:noFill/>
                  </a:tcPr>
                </a:tc>
                <a:tc hMerge="1"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晶体管类型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尺寸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PMOS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60</a:t>
                      </a:r>
                      <a:r>
                        <a:rPr lang="en-US" altLang="zh-CN" b="1"/>
                        <a:t>n/1500n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NMOS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 b="1">
                          <a:sym typeface="+mn-ea"/>
                        </a:rPr>
                        <a:t>60n/600n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855" y="1232535"/>
            <a:ext cx="4460240" cy="45840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240780" y="4436745"/>
            <a:ext cx="5819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我们将其用在了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Input Buffer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和列选择器的设计中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模块电路设计：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Buffer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6/28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065" y="1105535"/>
            <a:ext cx="4483100" cy="46462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模块电路设计：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8x8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7/28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710" y="1299210"/>
            <a:ext cx="5278120" cy="42589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模块电路设计：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TOP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8/28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5245" y="1320800"/>
            <a:ext cx="7001510" cy="43465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版图绘制：反相器（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INV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9/28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39844" t="15759" r="29740" b="16278"/>
          <a:stretch>
            <a:fillRect/>
          </a:stretch>
        </p:blipFill>
        <p:spPr>
          <a:xfrm>
            <a:off x="311150" y="942975"/>
            <a:ext cx="3682365" cy="51955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4740" r="4219" b="4796"/>
          <a:stretch>
            <a:fillRect/>
          </a:stretch>
        </p:blipFill>
        <p:spPr>
          <a:xfrm>
            <a:off x="4997450" y="942340"/>
            <a:ext cx="4079875" cy="256286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705850" y="22828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DRC Clean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rcRect l="5487" t="366" r="4621" b="3627"/>
          <a:stretch>
            <a:fillRect/>
          </a:stretch>
        </p:blipFill>
        <p:spPr>
          <a:xfrm>
            <a:off x="4997450" y="3832225"/>
            <a:ext cx="4079240" cy="24269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8705850" y="4683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LVS Clean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版图绘制：二输入与非门（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NAND2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10/28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05850" y="22828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DRC Clean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05850" y="4683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LVS Clean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31831" t="16699" r="23276" b="16314"/>
          <a:stretch>
            <a:fillRect/>
          </a:stretch>
        </p:blipFill>
        <p:spPr>
          <a:xfrm>
            <a:off x="184785" y="1511300"/>
            <a:ext cx="5600700" cy="42672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0" y="1502410"/>
            <a:ext cx="3459480" cy="19462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9200" y="3872865"/>
            <a:ext cx="3459480" cy="19062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版图绘制：传输门（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TG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12/28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05850" y="22828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DRC Clean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05850" y="4683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LVS Clean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rcRect l="40057" t="18694" r="31089" b="21093"/>
          <a:stretch>
            <a:fillRect/>
          </a:stretch>
        </p:blipFill>
        <p:spPr>
          <a:xfrm>
            <a:off x="514985" y="1281430"/>
            <a:ext cx="4026535" cy="472694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9100" y="1280795"/>
            <a:ext cx="3798570" cy="225488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100" y="3746500"/>
            <a:ext cx="3798570" cy="22618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版图绘制：四输入与门（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AND4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13/28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05850" y="22828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DRC Clean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05850" y="4683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LVS Clean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22453" t="17861" r="16818" b="19611"/>
          <a:stretch>
            <a:fillRect/>
          </a:stretch>
        </p:blipFill>
        <p:spPr>
          <a:xfrm>
            <a:off x="95885" y="1566545"/>
            <a:ext cx="6655435" cy="41579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700" y="1666240"/>
            <a:ext cx="2846070" cy="16014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250" y="3994785"/>
            <a:ext cx="2890520" cy="162623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版图绘制：三八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14/28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05850" y="22828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DRC Clean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05850" y="48183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LVS Clean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40161" t="17954" r="30984" b="19981"/>
          <a:stretch>
            <a:fillRect/>
          </a:stretch>
        </p:blipFill>
        <p:spPr>
          <a:xfrm>
            <a:off x="413385" y="1159510"/>
            <a:ext cx="4616450" cy="49707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500" y="1159510"/>
            <a:ext cx="4241800" cy="250063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1500" y="3877310"/>
            <a:ext cx="4241165" cy="22510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版图绘制：控制信号发生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电路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15/28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05850" y="21558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DRC Clean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05850" y="48183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LVS Clean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39328" t="17861" r="28594" b="19981"/>
          <a:stretch>
            <a:fillRect/>
          </a:stretch>
        </p:blipFill>
        <p:spPr>
          <a:xfrm>
            <a:off x="311785" y="1141730"/>
            <a:ext cx="4185920" cy="51200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141095"/>
            <a:ext cx="4714240" cy="239839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738245"/>
            <a:ext cx="4713605" cy="252349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版图绘制：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VMSA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16/28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705850" y="21558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DRC Clean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705850" y="48183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LVS Clean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6175" y="1220470"/>
            <a:ext cx="3195955" cy="494157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0200" y="1208405"/>
            <a:ext cx="4229100" cy="237934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3773170"/>
            <a:ext cx="4246245" cy="238887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版图绘制：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6T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17/28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845550" y="21558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DRC Clean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5550" y="4683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LVS Clean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45" y="1597025"/>
            <a:ext cx="6499860" cy="40963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00" y="1600835"/>
            <a:ext cx="3175635" cy="178625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0700" y="3906520"/>
            <a:ext cx="3176270" cy="17868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版图绘制：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8x8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ARRAY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18/28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845550" y="21558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DRC Clean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5550" y="46831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</a:rPr>
              <a:t>LVS Clean</a:t>
            </a:r>
            <a:endParaRPr lang="en-US" altLang="zh-CN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rcRect l="35943" t="18167" r="27448" b="20472"/>
          <a:stretch>
            <a:fillRect/>
          </a:stretch>
        </p:blipFill>
        <p:spPr>
          <a:xfrm>
            <a:off x="153035" y="1209040"/>
            <a:ext cx="5165725" cy="48710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700" y="1154430"/>
            <a:ext cx="3969385" cy="223266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4700" y="3823970"/>
            <a:ext cx="4010025" cy="225615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版图绘制：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 TOP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（布线未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走完）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19/28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76375" y="1193165"/>
            <a:ext cx="5179060" cy="4791075"/>
          </a:xfrm>
          <a:prstGeom prst="rect">
            <a:avLst/>
          </a:prstGeom>
        </p:spPr>
      </p:pic>
      <p:graphicFrame>
        <p:nvGraphicFramePr>
          <p:cNvPr id="14" name="表格 13"/>
          <p:cNvGraphicFramePr/>
          <p:nvPr>
            <p:custDataLst>
              <p:tags r:id="rId2"/>
            </p:custDataLst>
          </p:nvPr>
        </p:nvGraphicFramePr>
        <p:xfrm>
          <a:off x="6826250" y="2778760"/>
          <a:ext cx="4649470" cy="2812415"/>
        </p:xfrm>
        <a:graphic>
          <a:graphicData uri="http://schemas.openxmlformats.org/drawingml/2006/table">
            <a:tbl>
              <a:tblPr firstRow="1">
                <a:tableStyleId>{F7A3E880-A757-46B1-AF1E-ADCF06DEE401}</a:tableStyleId>
              </a:tblPr>
              <a:tblGrid>
                <a:gridCol w="1549823"/>
                <a:gridCol w="1549824"/>
                <a:gridCol w="1549823"/>
              </a:tblGrid>
              <a:tr h="427355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面积</a:t>
                      </a:r>
                      <a:endParaRPr lang="zh-CN" altLang="en-US" b="1"/>
                    </a:p>
                  </a:txBody>
                  <a:tcPr anchor="ctr" anchorCtr="0">
                    <a:noFill/>
                  </a:tcPr>
                </a:tc>
                <a:tc hMerge="1">
                  <a:tcPr anchor="ctr" anchorCtr="0">
                    <a:solidFill>
                      <a:schemeClr val="bg2"/>
                    </a:solidFill>
                  </a:tcPr>
                </a:tc>
                <a:tc hMerge="1">
                  <a:tcPr anchor="ctr" anchorCtr="0">
                    <a:noFill/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长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宽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b="1"/>
                        <a:t>总计</a:t>
                      </a:r>
                      <a:endParaRPr lang="zh-CN" altLang="en-US" b="1"/>
                    </a:p>
                  </a:txBody>
                  <a:tcPr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  <a:tr h="39751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87.96</a:t>
                      </a:r>
                      <a:r>
                        <a:rPr lang="en-US" altLang="zh-CN" b="1"/>
                        <a:t>um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72.83</a:t>
                      </a:r>
                      <a:r>
                        <a:rPr lang="en-US" altLang="zh-CN" b="1"/>
                        <a:t>um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bg2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1"/>
                        <a:t>6406um</a:t>
                      </a:r>
                      <a:r>
                        <a:rPr lang="en-US" altLang="zh-CN" b="1"/>
                        <a:t>²</a:t>
                      </a:r>
                      <a:endParaRPr lang="en-US" altLang="zh-CN" b="1"/>
                    </a:p>
                  </a:txBody>
                  <a:tcPr anchor="ctr" anchorCtr="0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模块前、后仿功能验证：三八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译码器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20/28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92150" y="117792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前仿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910705" y="11772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</a:rPr>
              <a:t>后仿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2" descr="d7d494ab2d5080f1a89efdbf1cb1017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8950" y="1851660"/>
            <a:ext cx="5080635" cy="4190365"/>
          </a:xfrm>
          <a:prstGeom prst="rect">
            <a:avLst/>
          </a:prstGeom>
        </p:spPr>
      </p:pic>
      <p:pic>
        <p:nvPicPr>
          <p:cNvPr id="14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8845" y="1833245"/>
            <a:ext cx="5887720" cy="42157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模块前、后仿功能验证：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VMSA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21/28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4350" y="1219200"/>
            <a:ext cx="8623300" cy="485076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模块前、后仿功能验证：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Input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Buffer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22/28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695" y="1706245"/>
            <a:ext cx="6037580" cy="40563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295" y="1706245"/>
            <a:ext cx="4815205" cy="40570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4.SRAM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cell SNM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23/28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5450" y="3621405"/>
            <a:ext cx="3556635" cy="25908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845" y="1106805"/>
            <a:ext cx="3556635" cy="228663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475" y="1052830"/>
            <a:ext cx="3641725" cy="234061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1475" y="3582035"/>
            <a:ext cx="3641725" cy="262064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3925" y="1141095"/>
            <a:ext cx="7804150" cy="5006975"/>
          </a:xfrm>
          <a:prstGeom prst="rect">
            <a:avLst/>
          </a:prstGeom>
        </p:spPr>
      </p:pic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5.SRAM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顶层模块前仿功能验证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24/28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562350" y="4224020"/>
            <a:ext cx="46069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写：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1   1   0   0   0   1    0    1</a:t>
            </a:r>
            <a:endParaRPr lang="en-US" altLang="zh-CN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5.SRAM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顶层模块前仿功能验证</a:t>
            </a:r>
            <a:endParaRPr lang="en-US" altLang="zh-CN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25/28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8930" y="1263015"/>
            <a:ext cx="8994140" cy="467677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工作设计总结与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反思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26/28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86732" y="936364"/>
            <a:ext cx="11684000" cy="5107936"/>
          </a:xfrm>
        </p:spPr>
        <p:txBody>
          <a:bodyPr>
            <a:normAutofit lnSpcReduction="10000"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电路设计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设计电路前应该对单元模块有个清晰的定性分析，而不能光靠跑仿真扫描参数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在进行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testbench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搭建时应该对各种情况进行验证，保证模块的鲁棒性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版图设计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在绘制前应该预先想好每个模块的金属走线、线宽以及引出的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pin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角，方便每个模块对接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最好做几步关键走线就做一次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DRC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，以免出现布线后因为修正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DRC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而产生的牵连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200000"/>
              </a:lnSpc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5"/>
          <p:cNvSpPr>
            <a:spLocks noGrp="1"/>
          </p:cNvSpPr>
          <p:nvPr>
            <p:ph type="title"/>
          </p:nvPr>
        </p:nvSpPr>
        <p:spPr>
          <a:xfrm>
            <a:off x="0" y="299756"/>
            <a:ext cx="12192000" cy="642353"/>
          </a:xfrm>
          <a:solidFill>
            <a:srgbClr val="7030A0"/>
          </a:solidFill>
        </p:spPr>
        <p:txBody>
          <a:bodyPr>
            <a:normAutofit fontScale="90000"/>
          </a:bodyPr>
          <a:lstStyle/>
          <a:p>
            <a:r>
              <a:rPr lang="en-US" altLang="zh-CN" dirty="0">
                <a:solidFill>
                  <a:schemeClr val="bg1"/>
                </a:solidFill>
                <a:ea typeface="微软雅黑" panose="020B0503020204020204" pitchFamily="34" charset="-122"/>
              </a:rPr>
              <a:t>  </a:t>
            </a:r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8.</a:t>
            </a:r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具体分工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3694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</a:t>
            </a:r>
            <a:endParaRPr lang="zh-HK" altLang="en-US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6347690"/>
            <a:ext cx="12192000" cy="281709"/>
          </a:xfrm>
          <a:prstGeom prst="rect">
            <a:avLst/>
          </a:prstGeom>
          <a:solidFill>
            <a:srgbClr val="7030A0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陈天乐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王从一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							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清华大学集成电路学院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0" y="6617855"/>
            <a:ext cx="12192000" cy="281709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127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bg1"/>
                </a:solidFill>
                <a:ea typeface="微软雅黑" panose="020B0503020204020204" pitchFamily="34" charset="-122"/>
              </a:rPr>
              <a:t>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SRAM</a:t>
            </a: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大作业设计汇报                                                                                                              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27/28</a:t>
            </a:r>
            <a:endParaRPr lang="zh-HK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内容占位符 2"/>
          <p:cNvSpPr>
            <a:spLocks noGrp="1"/>
          </p:cNvSpPr>
          <p:nvPr>
            <p:ph idx="1"/>
          </p:nvPr>
        </p:nvSpPr>
        <p:spPr>
          <a:xfrm>
            <a:off x="86732" y="936364"/>
            <a:ext cx="11684000" cy="5107936"/>
          </a:xfrm>
        </p:spPr>
        <p:txBody>
          <a:bodyPr>
            <a:normAutofit fontScale="90000" lnSpcReduction="20000"/>
          </a:bodyPr>
          <a:lstStyle/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陈天乐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部分模块后仿、前仿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版图绘制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制作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王从一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模块后仿、前仿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SRAM cell SNM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测量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p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报告撰写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1" indent="0">
              <a:lnSpc>
                <a:spcPct val="200000"/>
              </a:lnSpc>
              <a:buNone/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1401445" y="48113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35719" y="1335940"/>
            <a:ext cx="12120562" cy="4968875"/>
          </a:xfrm>
          <a:prstGeom prst="rect">
            <a:avLst/>
          </a:prstGeom>
        </p:spPr>
        <p:txBody>
          <a:bodyPr/>
          <a:lstStyle/>
          <a:p>
            <a:pPr algn="ctr" latinLnBrk="0">
              <a:lnSpc>
                <a:spcPct val="120000"/>
              </a:lnSpc>
            </a:pP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谢谢大家！</a:t>
            </a:r>
            <a:br>
              <a:rPr lang="en-US" altLang="zh-CN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</a:br>
            <a:r>
              <a:rPr lang="zh-CN" altLang="en-US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请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同学、老师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cs typeface="Arial Unicode MS" panose="020B0604020202020204" pitchFamily="34" charset="-122"/>
              </a:rPr>
              <a:t>们批评指正</a:t>
            </a:r>
            <a:endParaRPr lang="zh-CN" altLang="en-US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 Unicode MS" panose="020B0604020202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TABLE_ENDDRAG_ORIGIN_RECT" val="366*156"/>
  <p:tag name="TABLE_ENDDRAG_RECT" val="473*298*366*156"/>
</p:tagLst>
</file>

<file path=ppt/tags/tag2.xml><?xml version="1.0" encoding="utf-8"?>
<p:tagLst xmlns:p="http://schemas.openxmlformats.org/presentationml/2006/main">
  <p:tag name="TABLE_ENDDRAG_ORIGIN_RECT" val="366*156"/>
  <p:tag name="TABLE_ENDDRAG_RECT" val="473*298*366*156"/>
</p:tagLst>
</file>

<file path=ppt/tags/tag3.xml><?xml version="1.0" encoding="utf-8"?>
<p:tagLst xmlns:p="http://schemas.openxmlformats.org/presentationml/2006/main">
  <p:tag name="TABLE_ENDDRAG_ORIGIN_RECT" val="366*156"/>
  <p:tag name="TABLE_ENDDRAG_RECT" val="473*298*366*156"/>
</p:tagLst>
</file>

<file path=ppt/tags/tag4.xml><?xml version="1.0" encoding="utf-8"?>
<p:tagLst xmlns:p="http://schemas.openxmlformats.org/presentationml/2006/main">
  <p:tag name="TABLE_ENDDRAG_ORIGIN_RECT" val="366*156"/>
  <p:tag name="TABLE_ENDDRAG_RECT" val="473*298*366*156"/>
</p:tagLst>
</file>

<file path=ppt/tags/tag5.xml><?xml version="1.0" encoding="utf-8"?>
<p:tagLst xmlns:p="http://schemas.openxmlformats.org/presentationml/2006/main">
  <p:tag name="TABLE_ENDDRAG_ORIGIN_RECT" val="366*156"/>
  <p:tag name="TABLE_ENDDRAG_RECT" val="473*298*366*156"/>
</p:tagLst>
</file>

<file path=ppt/tags/tag6.xml><?xml version="1.0" encoding="utf-8"?>
<p:tagLst xmlns:p="http://schemas.openxmlformats.org/presentationml/2006/main">
  <p:tag name="TABLE_ENDDRAG_ORIGIN_RECT" val="366*156"/>
  <p:tag name="TABLE_ENDDRAG_RECT" val="473*298*366*156"/>
</p:tagLst>
</file>

<file path=ppt/tags/tag7.xml><?xml version="1.0" encoding="utf-8"?>
<p:tagLst xmlns:p="http://schemas.openxmlformats.org/presentationml/2006/main">
  <p:tag name="resource_record_key" val="{&quot;29&quot;:[50000199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u">
  <a:themeElements>
    <a:clrScheme name="自定义 1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7030A0"/>
      </a:hlink>
      <a:folHlink>
        <a:srgbClr val="3333CC"/>
      </a:folHlink>
    </a:clrScheme>
    <a:fontScheme name="跋涉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en-US" sz="20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en-US" sz="2000" b="0" i="0" u="none" strike="noStrike" cap="none" normalizeH="0" baseline="0" smtClean="0">
            <a:ln>
              <a:noFill/>
            </a:ln>
            <a:solidFill>
              <a:srgbClr val="0000FF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MEMS design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EMS design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MS design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MS design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EMS design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MS design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EMS design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6673</Words>
  <Application>WPS 演示</Application>
  <PresentationFormat>宽屏</PresentationFormat>
  <Paragraphs>401</Paragraphs>
  <Slides>28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48" baseType="lpstr">
      <vt:lpstr>Arial</vt:lpstr>
      <vt:lpstr>宋体</vt:lpstr>
      <vt:lpstr>Wingdings</vt:lpstr>
      <vt:lpstr>Times New Roman</vt:lpstr>
      <vt:lpstr>Tahoma</vt:lpstr>
      <vt:lpstr>黑体</vt:lpstr>
      <vt:lpstr>微软雅黑</vt:lpstr>
      <vt:lpstr>Arial Unicode MS</vt:lpstr>
      <vt:lpstr>Wingdings</vt:lpstr>
      <vt:lpstr>等线</vt:lpstr>
      <vt:lpstr>Arial Unicode MS</vt:lpstr>
      <vt:lpstr>等线 Light</vt:lpstr>
      <vt:lpstr>Franklin Gothic Book</vt:lpstr>
      <vt:lpstr>华文楷体</vt:lpstr>
      <vt:lpstr>Calibri</vt:lpstr>
      <vt:lpstr>Wonder Arial</vt:lpstr>
      <vt:lpstr>Comic Book</vt:lpstr>
      <vt:lpstr>Office 主题​​</vt:lpstr>
      <vt:lpstr>thu</vt:lpstr>
      <vt:lpstr>1_Office 主题​​</vt:lpstr>
      <vt:lpstr>集成电路设计工程 SRAM设计汇报 ·x 陈天乐 王从一 2025年12月30日</vt:lpstr>
      <vt:lpstr>  汇报内容目录</vt:lpstr>
      <vt:lpstr>  1.模块电路设计：SRAM cell</vt:lpstr>
      <vt:lpstr>  1.模块电路设计：三八译码器</vt:lpstr>
      <vt:lpstr>  1.模块电路设计：电压模灵敏放大器（VMSA）</vt:lpstr>
      <vt:lpstr>  1.模块电路设计：传输门（TG）</vt:lpstr>
      <vt:lpstr>  1.模块电路设计：Input Buffer</vt:lpstr>
      <vt:lpstr>  1.模块电路设计：SRAM 8x8 ARRAY</vt:lpstr>
      <vt:lpstr>  1.模块电路设计：SRAM TOP</vt:lpstr>
      <vt:lpstr>  2.版图绘制：反相器（INV）</vt:lpstr>
      <vt:lpstr>  2.版图绘制：二输入与非门（NAND2）</vt:lpstr>
      <vt:lpstr>  2.版图绘制：传输门（TG）</vt:lpstr>
      <vt:lpstr>  2.版图绘制：四输入与门（AND4）</vt:lpstr>
      <vt:lpstr>  2.版图绘制：三八译码器</vt:lpstr>
      <vt:lpstr>  2.版图绘制：控制信号发生电路</vt:lpstr>
      <vt:lpstr>  2.版图绘制：VMSA</vt:lpstr>
      <vt:lpstr>  2.版图绘制：6T SRAM</vt:lpstr>
      <vt:lpstr>  2.版图绘制：SRAM 8x8 ARRAY</vt:lpstr>
      <vt:lpstr>  2.版图绘制：SRAM TOP（布线未走完）</vt:lpstr>
      <vt:lpstr>  3.模块前、后仿功能验证：三八译码器</vt:lpstr>
      <vt:lpstr>  3.模块前、后仿功能验证：VMSA</vt:lpstr>
      <vt:lpstr>  3.模块前、后仿功能验证：Input Buffer</vt:lpstr>
      <vt:lpstr>  4.SRAM cell SNM</vt:lpstr>
      <vt:lpstr>  5.SRAM顶层模块前仿功能验证</vt:lpstr>
      <vt:lpstr>  5.SRAM顶层模块前仿功能验证</vt:lpstr>
      <vt:lpstr>  7.工作设计总结与反思</vt:lpstr>
      <vt:lpstr>  8.具体分工</vt:lpstr>
      <vt:lpstr>谢谢大家！ 请同学、老师们批评指正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Public copy</dc:creator>
  <cp:lastModifiedBy>Public copy</cp:lastModifiedBy>
  <cp:revision>297</cp:revision>
  <dcterms:created xsi:type="dcterms:W3CDTF">2023-04-07T02:05:00Z</dcterms:created>
  <dcterms:modified xsi:type="dcterms:W3CDTF">2026-01-15T08:39:33Z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8BAF7C60F038456EA9DC8058D1915787_12</vt:lpwstr>
  </property>
</Properties>
</file>